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  <p:sldMasterId id="2147483676" r:id="rId2"/>
  </p:sldMasterIdLst>
  <p:notesMasterIdLst>
    <p:notesMasterId r:id="rId42"/>
  </p:notesMasterIdLst>
  <p:sldIdLst>
    <p:sldId id="256" r:id="rId3"/>
    <p:sldId id="294" r:id="rId4"/>
    <p:sldId id="301" r:id="rId5"/>
    <p:sldId id="257" r:id="rId6"/>
    <p:sldId id="258" r:id="rId7"/>
    <p:sldId id="259" r:id="rId8"/>
    <p:sldId id="260" r:id="rId9"/>
    <p:sldId id="295" r:id="rId10"/>
    <p:sldId id="262" r:id="rId11"/>
    <p:sldId id="261" r:id="rId12"/>
    <p:sldId id="264" r:id="rId13"/>
    <p:sldId id="265" r:id="rId14"/>
    <p:sldId id="263" r:id="rId15"/>
    <p:sldId id="302" r:id="rId16"/>
    <p:sldId id="290" r:id="rId17"/>
    <p:sldId id="303" r:id="rId18"/>
    <p:sldId id="268" r:id="rId19"/>
    <p:sldId id="269" r:id="rId20"/>
    <p:sldId id="272" r:id="rId21"/>
    <p:sldId id="298" r:id="rId22"/>
    <p:sldId id="304" r:id="rId23"/>
    <p:sldId id="274" r:id="rId24"/>
    <p:sldId id="300" r:id="rId25"/>
    <p:sldId id="293" r:id="rId26"/>
    <p:sldId id="273" r:id="rId27"/>
    <p:sldId id="299" r:id="rId28"/>
    <p:sldId id="306" r:id="rId29"/>
    <p:sldId id="275" r:id="rId30"/>
    <p:sldId id="281" r:id="rId31"/>
    <p:sldId id="282" r:id="rId32"/>
    <p:sldId id="284" r:id="rId33"/>
    <p:sldId id="271" r:id="rId34"/>
    <p:sldId id="270" r:id="rId35"/>
    <p:sldId id="283" r:id="rId36"/>
    <p:sldId id="285" r:id="rId37"/>
    <p:sldId id="286" r:id="rId38"/>
    <p:sldId id="287" r:id="rId39"/>
    <p:sldId id="288" r:id="rId40"/>
    <p:sldId id="289" r:id="rId41"/>
  </p:sldIdLst>
  <p:sldSz cx="9144000" cy="5143500" type="screen16x9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84"/>
    <p:restoredTop sz="79018"/>
  </p:normalViewPr>
  <p:slideViewPr>
    <p:cSldViewPr snapToGrid="0" snapToObjects="1">
      <p:cViewPr varScale="1">
        <p:scale>
          <a:sx n="143" d="100"/>
          <a:sy n="143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3" d="100"/>
        <a:sy n="10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279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</a:t>
            </a:r>
          </a:p>
          <a:p>
            <a:endParaRPr lang="en-US" dirty="0"/>
          </a:p>
          <a:p>
            <a:r>
              <a:rPr lang="en-US" dirty="0"/>
              <a:t>A little but about this session</a:t>
            </a:r>
          </a:p>
          <a:p>
            <a:r>
              <a:rPr lang="en-US" dirty="0"/>
              <a:t>1 – Intro to Vibe coding – my background and </a:t>
            </a:r>
            <a:r>
              <a:rPr lang="en-US" dirty="0" err="1"/>
              <a:t>Flyercopilot</a:t>
            </a:r>
            <a:r>
              <a:rPr lang="en-US" dirty="0"/>
              <a:t> as a case study on how and how not to vibe code</a:t>
            </a:r>
          </a:p>
          <a:p>
            <a:r>
              <a:rPr lang="en-US" dirty="0"/>
              <a:t>2 – My next big idea – a few words about Event apps, dissatisfaction</a:t>
            </a:r>
          </a:p>
          <a:p>
            <a:r>
              <a:rPr lang="en-US" dirty="0"/>
              <a:t>3 – Part 1 – planning – laying out the structure and architecture for a complex application</a:t>
            </a:r>
          </a:p>
          <a:p>
            <a:r>
              <a:rPr lang="en-US" dirty="0"/>
              <a:t>4 – A group exercise – First Principle – an app has to solve someone’s problem – let’s ideate what problems we can solve using LEGO</a:t>
            </a:r>
          </a:p>
          <a:p>
            <a:r>
              <a:rPr lang="en-US" dirty="0"/>
              <a:t>5 – Turning thoughts into Code – a guide to prompting and how to get something built</a:t>
            </a:r>
          </a:p>
          <a:p>
            <a:r>
              <a:rPr lang="en-US" dirty="0"/>
              <a:t>6 – Group Exercise – prompting the next piece of the Jigsaw</a:t>
            </a:r>
          </a:p>
          <a:p>
            <a:r>
              <a:rPr lang="en-US" dirty="0"/>
              <a:t>7 – Turning our ideas into a Roadmap</a:t>
            </a:r>
          </a:p>
          <a:p>
            <a:r>
              <a:rPr lang="en-US" dirty="0"/>
              <a:t>8 – Turning roadmap into reality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Rich</a:t>
            </a:r>
          </a:p>
          <a:p>
            <a:r>
              <a:rPr lang="en-US" dirty="0"/>
              <a:t>Chris</a:t>
            </a:r>
          </a:p>
          <a:p>
            <a:r>
              <a:rPr lang="en-US" dirty="0"/>
              <a:t>Bobby Jo?</a:t>
            </a:r>
          </a:p>
          <a:p>
            <a:r>
              <a:rPr lang="en-US" dirty="0"/>
              <a:t>Me</a:t>
            </a:r>
          </a:p>
        </p:txBody>
      </p:sp>
    </p:spTree>
    <p:extLst>
      <p:ext uri="{BB962C8B-B14F-4D97-AF65-F5344CB8AC3E}">
        <p14:creationId xmlns:p14="http://schemas.microsoft.com/office/powerpoint/2010/main" val="1338304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</a:t>
            </a:r>
            <a:r>
              <a:rPr lang="en-US" dirty="0" err="1"/>
              <a:t>Flyercopilot</a:t>
            </a:r>
            <a:endParaRPr lang="en-US" dirty="0"/>
          </a:p>
          <a:p>
            <a:endParaRPr lang="en-US" dirty="0"/>
          </a:p>
          <a:p>
            <a:r>
              <a:rPr lang="en-US" dirty="0"/>
              <a:t>Started in November 2024 with a phone call to Hobo</a:t>
            </a:r>
          </a:p>
          <a:p>
            <a:r>
              <a:rPr lang="en-US" dirty="0"/>
              <a:t>We connected to an API – in 15 minutes we solved a problem it took me 1 week to solve with no-code</a:t>
            </a:r>
          </a:p>
          <a:p>
            <a:r>
              <a:rPr lang="en-US" dirty="0"/>
              <a:t>In a day I had a wire frame prototype</a:t>
            </a:r>
          </a:p>
          <a:p>
            <a:r>
              <a:rPr lang="en-US" dirty="0"/>
              <a:t>In a week a had a working prototype and share my idea with Chris in the pub</a:t>
            </a:r>
          </a:p>
          <a:p>
            <a:r>
              <a:rPr lang="en-US" dirty="0"/>
              <a:t>LEARNING 1 – ‘What problem are you trying to solve – You are boiling the ocean – start by Concentrating on one or two things’</a:t>
            </a:r>
          </a:p>
          <a:p>
            <a:r>
              <a:rPr lang="en-US" dirty="0"/>
              <a:t>So I defined an MVP</a:t>
            </a:r>
          </a:p>
          <a:p>
            <a:r>
              <a:rPr lang="en-US" dirty="0"/>
              <a:t>I had the MVP ‘working’ in a week</a:t>
            </a:r>
          </a:p>
          <a:p>
            <a:r>
              <a:rPr lang="en-US" dirty="0"/>
              <a:t>I think it was still too big – and I was making architectural mistakes – some of this was ‘learning on the job’, some was trying to think too big all the time</a:t>
            </a:r>
          </a:p>
          <a:p>
            <a:r>
              <a:rPr lang="en-US" dirty="0"/>
              <a:t>By February it was good enough for Beta – I’d wasted some time building unnecessary things – I also got distracted by ‘experiments’ and the desire to be perfect.  </a:t>
            </a:r>
          </a:p>
          <a:p>
            <a:r>
              <a:rPr lang="en-US" dirty="0"/>
              <a:t>In April I had my first paying subscribers (since then I have only lost about 5%)</a:t>
            </a:r>
          </a:p>
          <a:p>
            <a:r>
              <a:rPr lang="en-US" dirty="0"/>
              <a:t>In May I decided it needed a rewrite.</a:t>
            </a:r>
          </a:p>
          <a:p>
            <a:r>
              <a:rPr lang="en-US" dirty="0"/>
              <a:t>We took the good stuff (mainly the data model) and I got a UI expert to rewrite the front end – I was now thinking hard about architecture and making it ‘Enterprise Ready’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– the Essence of Vibe Coding</a:t>
            </a:r>
          </a:p>
          <a:p>
            <a:r>
              <a:rPr lang="en-US" dirty="0"/>
              <a:t>I’d started in November 2024 – it was only ‘invented’ in Feb 2025!!</a:t>
            </a:r>
          </a:p>
          <a:p>
            <a:endParaRPr lang="en-US" dirty="0"/>
          </a:p>
          <a:p>
            <a:r>
              <a:rPr lang="en-US" dirty="0"/>
              <a:t>There were two paths I took – and I think anyone in a similar position will follow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sroughly</a:t>
            </a:r>
            <a:endParaRPr lang="en-US" dirty="0"/>
          </a:p>
          <a:p>
            <a:r>
              <a:rPr lang="en-US" dirty="0"/>
              <a:t>1 – Developing code – from Newbie -&gt; kid with a new toy -&gt; Master Vibe Coder</a:t>
            </a:r>
          </a:p>
          <a:p>
            <a:r>
              <a:rPr lang="en-US" dirty="0"/>
              <a:t>2 – App Founder – different skill set – from Big Idea – to Reality – to being a Founder (business model, company direction), Product Manager (App </a:t>
            </a:r>
            <a:r>
              <a:rPr lang="en-US" dirty="0" err="1"/>
              <a:t>Definintion</a:t>
            </a:r>
            <a:r>
              <a:rPr lang="en-US" dirty="0"/>
              <a:t>) and Software Engineer (architecture and build)</a:t>
            </a:r>
          </a:p>
          <a:p>
            <a:endParaRPr lang="en-US" dirty="0"/>
          </a:p>
          <a:p>
            <a:r>
              <a:rPr lang="en-US" dirty="0"/>
              <a:t>The interesting thing is – Vibe Coding or not, I was pretty much following the same thing a traditional team and startup would follow and face.</a:t>
            </a:r>
          </a:p>
          <a:p>
            <a:endParaRPr lang="en-US" dirty="0"/>
          </a:p>
          <a:p>
            <a:r>
              <a:rPr lang="en-US" dirty="0"/>
              <a:t>First Principals – Architectural </a:t>
            </a:r>
            <a:r>
              <a:rPr lang="en-US" dirty="0" err="1"/>
              <a:t>Rigour</a:t>
            </a:r>
            <a:r>
              <a:rPr lang="en-US" dirty="0"/>
              <a:t> – Code Control.    AI added in a ‘Kill the guesswork’ nuance – do NOT rely on AI to fill gaps in your knowledge – it can help, it can inform but UNDER NO CIRCUMSTANCES let it make an ungoverned decision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did I learn about Vibe Coding itself….</a:t>
            </a:r>
          </a:p>
          <a:p>
            <a:endParaRPr lang="en-US" dirty="0"/>
          </a:p>
          <a:p>
            <a:r>
              <a:rPr lang="en-US" dirty="0"/>
              <a:t>Reality vs. Hype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loop – you go around this again and again.  You may also be circling one big loop (a major feature for example)  and that will be made out of a number of smaller loops (UI design, DB change,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Richard to Act as an MC and play back what we learned so far</a:t>
            </a:r>
          </a:p>
          <a:p>
            <a:endParaRPr lang="en-US" dirty="0"/>
          </a:p>
          <a:p>
            <a:r>
              <a:rPr lang="en-US" dirty="0"/>
              <a:t>Then</a:t>
            </a:r>
          </a:p>
          <a:p>
            <a:endParaRPr lang="en-US" dirty="0"/>
          </a:p>
          <a:p>
            <a:r>
              <a:rPr lang="en-US" dirty="0"/>
              <a:t>‘So Matt – what’s your next big idea…..’</a:t>
            </a:r>
          </a:p>
        </p:txBody>
      </p:sp>
    </p:spTree>
    <p:extLst>
      <p:ext uri="{BB962C8B-B14F-4D97-AF65-F5344CB8AC3E}">
        <p14:creationId xmlns:p14="http://schemas.microsoft.com/office/powerpoint/2010/main" val="2407717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THINK THIS COULD BE A CONVERSATIONAL PIECE BETWEEN RICH AND I</a:t>
            </a:r>
          </a:p>
          <a:p>
            <a:endParaRPr lang="en-US" dirty="0"/>
          </a:p>
          <a:p>
            <a:r>
              <a:rPr lang="en-US" dirty="0"/>
              <a:t>Well we are at SXSW – one of the biggest complex conferences in the world – it also has a diverse, and possibly uniquely inquisitive and creative audience.</a:t>
            </a:r>
          </a:p>
          <a:p>
            <a:endParaRPr lang="en-US" dirty="0"/>
          </a:p>
          <a:p>
            <a:r>
              <a:rPr lang="en-US" dirty="0"/>
              <a:t>But the App doesn’t live up to expectations</a:t>
            </a:r>
          </a:p>
          <a:p>
            <a:endParaRPr lang="en-US" dirty="0"/>
          </a:p>
          <a:p>
            <a:r>
              <a:rPr lang="en-US" dirty="0"/>
              <a:t>And this is far from unique to SXSW – in our time at </a:t>
            </a:r>
            <a:r>
              <a:rPr lang="en-US" dirty="0" err="1"/>
              <a:t>Vmware</a:t>
            </a:r>
            <a:r>
              <a:rPr lang="en-US" dirty="0"/>
              <a:t>, we had </a:t>
            </a:r>
            <a:r>
              <a:rPr lang="en-US" dirty="0" err="1"/>
              <a:t>Vmware</a:t>
            </a:r>
            <a:r>
              <a:rPr lang="en-US" dirty="0"/>
              <a:t> World – it used the same platform – this talks to something I talked about before at SXSW</a:t>
            </a:r>
          </a:p>
          <a:p>
            <a:endParaRPr lang="en-US" dirty="0"/>
          </a:p>
          <a:p>
            <a:r>
              <a:rPr lang="en-US" dirty="0"/>
              <a:t>APPS SHOULD BE WRITTEN WITH THE USER IN MIND, NOT THE PURCHASER!!!</a:t>
            </a:r>
          </a:p>
          <a:p>
            <a:r>
              <a:rPr lang="en-US" dirty="0"/>
              <a:t>(Examples – Workday and Concur)</a:t>
            </a:r>
          </a:p>
          <a:p>
            <a:endParaRPr lang="en-US" dirty="0"/>
          </a:p>
          <a:p>
            <a:r>
              <a:rPr lang="en-US" dirty="0"/>
              <a:t>There are some other platforms and ideas out there – but nothing has really solved all the problems in one place – that is my idea – a User Centric solution that solves all the problems for Events</a:t>
            </a:r>
          </a:p>
          <a:p>
            <a:r>
              <a:rPr lang="en-US" dirty="0"/>
              <a:t>Conferences – Music Festivals - User Groups - Just a Single Gig – and many other use cases….</a:t>
            </a:r>
          </a:p>
          <a:p>
            <a:endParaRPr lang="en-US" dirty="0"/>
          </a:p>
          <a:p>
            <a:r>
              <a:rPr lang="en-US" dirty="0"/>
              <a:t>I also have in mind the core capability should be Open Source – monetization will come from hosting or providing for scaled events.   But I’m still thinking about everything!!</a:t>
            </a:r>
          </a:p>
          <a:p>
            <a:endParaRPr lang="en-US" dirty="0"/>
          </a:p>
          <a:p>
            <a:r>
              <a:rPr lang="en-US" dirty="0"/>
              <a:t>RICH – WAIT A SECOND – YOU ARE FALLING INTO THE SAME TRAPS AGAIN – THIS TOO BIG – WHAT PROBLEMS ARE YOU REALLY TRYING TO SOLVE</a:t>
            </a:r>
          </a:p>
          <a:p>
            <a:endParaRPr lang="en-US" dirty="0"/>
          </a:p>
          <a:p>
            <a:r>
              <a:rPr lang="en-US" dirty="0"/>
              <a:t>Correct – but I learned from my mistakes and today we are going to do a couple of things to help Event Builder 360 be more successful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I am overwhelmed but I can resolve this through these three Tenets</a:t>
            </a:r>
          </a:p>
          <a:p>
            <a:endParaRPr lang="en-US" dirty="0"/>
          </a:p>
          <a:p>
            <a:r>
              <a:rPr lang="en-US" dirty="0"/>
              <a:t>RICH – OK – LETS BUILD EVENT BUILDER 360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RICH – OK – WHAT’S THE PLAN!!!????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Well this is where I am at….</a:t>
            </a:r>
          </a:p>
          <a:p>
            <a:endParaRPr lang="en-US" dirty="0"/>
          </a:p>
          <a:p>
            <a:r>
              <a:rPr lang="en-US" dirty="0"/>
              <a:t>Big Idea – I’ve nailed it!</a:t>
            </a:r>
          </a:p>
          <a:p>
            <a:r>
              <a:rPr lang="en-US" dirty="0"/>
              <a:t>Problem Definition – hold that thought</a:t>
            </a:r>
          </a:p>
          <a:p>
            <a:r>
              <a:rPr lang="en-US" dirty="0"/>
              <a:t>Technical </a:t>
            </a:r>
            <a:r>
              <a:rPr lang="en-US" dirty="0" err="1"/>
              <a:t>Planing</a:t>
            </a:r>
            <a:r>
              <a:rPr lang="en-US" dirty="0"/>
              <a:t> – work in progress – let me show you what is done so far…..</a:t>
            </a:r>
          </a:p>
          <a:p>
            <a:r>
              <a:rPr lang="en-US" dirty="0"/>
              <a:t>Code Framework – Complete for today’s exercises – let me show you….</a:t>
            </a:r>
          </a:p>
          <a:p>
            <a:r>
              <a:rPr lang="en-US" dirty="0"/>
              <a:t>Modular Coding – well that all comes after everything else is complete</a:t>
            </a:r>
          </a:p>
          <a:p>
            <a:endParaRPr lang="en-US" dirty="0"/>
          </a:p>
          <a:p>
            <a:r>
              <a:rPr lang="en-US" dirty="0"/>
              <a:t>RICH – OK PROBLEM DEFINITION – WHAT PROBLEMS DO YOU THINK NEED TO BE SOLVED</a:t>
            </a:r>
          </a:p>
          <a:p>
            <a:endParaRPr lang="en-US" dirty="0"/>
          </a:p>
          <a:p>
            <a:r>
              <a:rPr lang="en-US" dirty="0"/>
              <a:t>ME – I DON’T KNOW – BUT WOULDN’T IT BE USEFUL IF WE COULD GET A BUNCH OF CONFERENCE ATTENDEES IN A ROOM AND ASK THEM….</a:t>
            </a:r>
          </a:p>
          <a:p>
            <a:endParaRPr lang="en-US" dirty="0"/>
          </a:p>
          <a:p>
            <a:r>
              <a:rPr lang="en-US" dirty="0"/>
              <a:t>RICH – Intro to LSP – AND THAT IS WHAT WE ARE GOING TO DO NOW…..</a:t>
            </a:r>
          </a:p>
          <a:p>
            <a:r>
              <a:rPr lang="en-US" dirty="0"/>
              <a:t>WE HAVE YOU IN GROUPS AND WE’RE GOING TO GET EACH GROUP TO THINK ABOUT A PROBLEM AREA – BUT FIRST WE NEED TO TRAIN YOU UP ON LEGO!!!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training</a:t>
            </a:r>
          </a:p>
          <a:p>
            <a:r>
              <a:rPr lang="en-US" dirty="0"/>
              <a:t>Start with a Stand Up Sit Down – who’s used LEGO before</a:t>
            </a:r>
          </a:p>
          <a:p>
            <a:r>
              <a:rPr lang="en-US" dirty="0"/>
              <a:t>Build A Model</a:t>
            </a:r>
          </a:p>
          <a:p>
            <a:r>
              <a:rPr lang="en-US" dirty="0"/>
              <a:t>Chris Chooses the winner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 get into the actual Exercise</a:t>
            </a:r>
          </a:p>
          <a:p>
            <a:endParaRPr lang="en-US" dirty="0"/>
          </a:p>
          <a:p>
            <a:r>
              <a:rPr lang="en-US" dirty="0"/>
              <a:t>RICH TO ORCHESTRATE THIS</a:t>
            </a:r>
          </a:p>
          <a:p>
            <a:r>
              <a:rPr lang="en-US" dirty="0"/>
              <a:t>MATTHEW TO GIVE HIS POV ON THE TOPICS</a:t>
            </a:r>
          </a:p>
          <a:p>
            <a:r>
              <a:rPr lang="en-US" dirty="0"/>
              <a:t>CHRIS TO SCRIBE THE IDEAS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 get into the actual Exercise</a:t>
            </a:r>
          </a:p>
          <a:p>
            <a:endParaRPr lang="en-US" dirty="0"/>
          </a:p>
          <a:p>
            <a:r>
              <a:rPr lang="en-US" dirty="0"/>
              <a:t>RICH TO ORCHESTRATE THIS</a:t>
            </a:r>
          </a:p>
          <a:p>
            <a:r>
              <a:rPr lang="en-US" dirty="0"/>
              <a:t>CHRIS TO SCRIBE THE IDEAS</a:t>
            </a:r>
          </a:p>
          <a:p>
            <a:r>
              <a:rPr lang="en-US" dirty="0"/>
              <a:t>MAX 25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 get into the actual Exercise</a:t>
            </a:r>
          </a:p>
          <a:p>
            <a:endParaRPr lang="en-US" dirty="0"/>
          </a:p>
          <a:p>
            <a:r>
              <a:rPr lang="en-US" dirty="0"/>
              <a:t>RICH TO ORCHESTRATE THIS</a:t>
            </a:r>
          </a:p>
          <a:p>
            <a:r>
              <a:rPr lang="en-US" dirty="0"/>
              <a:t>CHRIS TO SCRIBE THE IDEAS</a:t>
            </a:r>
          </a:p>
          <a:p>
            <a:r>
              <a:rPr lang="en-US" dirty="0"/>
              <a:t>MAX 25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773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RICH – OK – WELL WE HAVE WORKED OUT WHAT PROBLEMS WE WANT TO SOLVE WITH OUR (FREE!!) FOCUS GROUP – THE NEXT THING YOU SAID WAS TO AVOID BEING OVERWHELMED WE NEED TO BUILD MODULAR…..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 – and to show you ‘Build Modular’ let’s just start Vibe Coding Event Builder 360.</a:t>
            </a:r>
          </a:p>
          <a:p>
            <a:endParaRPr lang="en-US" dirty="0"/>
          </a:p>
          <a:p>
            <a:r>
              <a:rPr lang="en-US" dirty="0"/>
              <a:t>At the moment it’s just an idea – for the purposes of this workshop, I’ve built some of the scaffolding but the App is blank and there is no real data</a:t>
            </a:r>
          </a:p>
          <a:p>
            <a:endParaRPr lang="en-US" dirty="0"/>
          </a:p>
          <a:p>
            <a:r>
              <a:rPr lang="en-US" dirty="0"/>
              <a:t>SHOW SIMULATOR WITH CURRENT 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MATTHEW TO TALK THROUGH THIS LIVE BUILD OF THE FIRST BIT OF FUNCTIONALITIES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Richard to Act as an MC and play back what we learned so far</a:t>
            </a:r>
          </a:p>
          <a:p>
            <a:endParaRPr lang="en-US" dirty="0"/>
          </a:p>
          <a:p>
            <a:r>
              <a:rPr lang="en-US" dirty="0"/>
              <a:t>Then</a:t>
            </a:r>
          </a:p>
          <a:p>
            <a:endParaRPr lang="en-US" dirty="0"/>
          </a:p>
          <a:p>
            <a:r>
              <a:rPr lang="en-US" dirty="0"/>
              <a:t>‘So Matt – what’s your next big idea…..’</a:t>
            </a:r>
          </a:p>
        </p:txBody>
      </p:sp>
    </p:spTree>
    <p:extLst>
      <p:ext uri="{BB962C8B-B14F-4D97-AF65-F5344CB8AC3E}">
        <p14:creationId xmlns:p14="http://schemas.microsoft.com/office/powerpoint/2010/main" val="20718873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loop – you go around this again and again.  You may also be circling one big loop (a major feature for example)  and that will be made out of a number of smaller loops (UI design, DB change,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161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RICH – OK – WELL WE HAVE WORKED OUT WHAT PROBLEMS WE WANT TO SOLVE WITH OUR (FREE!!) FOCUS GROUP – THE NEXT THING YOU SAID WAS TO AVOID BEING OVERWHELMED WE NEED TO BUILD MODULAR…..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303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CHRIS TO UPDATE THIS SLIDE IN REAL TIME</a:t>
            </a:r>
          </a:p>
          <a:p>
            <a:endParaRPr lang="en-US" dirty="0"/>
          </a:p>
          <a:p>
            <a:r>
              <a:rPr lang="en-US" dirty="0"/>
              <a:t>MATTHEW WILL TALK TRHOUGH THE ARCHITECTURAL APPROACH TO THESE REFERENCEING THE 6 STEP MODEL AND VIBE PROGRAMMING ITERATION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358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for a group exercise – DEPENDING ON TIME WE MAY VIBE THE NEXT THINGS WE CAN DO – OR WE MAY PICK SOMETHING FROM THE ROADMAP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Richard to Act as an MC and play back what we learned so far</a:t>
            </a:r>
          </a:p>
          <a:p>
            <a:endParaRPr lang="en-US" dirty="0"/>
          </a:p>
          <a:p>
            <a:r>
              <a:rPr lang="en-US" dirty="0"/>
              <a:t>Then</a:t>
            </a:r>
          </a:p>
          <a:p>
            <a:endParaRPr lang="en-US" dirty="0"/>
          </a:p>
          <a:p>
            <a:r>
              <a:rPr lang="en-US" dirty="0"/>
              <a:t>‘So Matt – what’s your next big idea…..’</a:t>
            </a:r>
          </a:p>
        </p:txBody>
      </p:sp>
    </p:spTree>
    <p:extLst>
      <p:ext uri="{BB962C8B-B14F-4D97-AF65-F5344CB8AC3E}">
        <p14:creationId xmlns:p14="http://schemas.microsoft.com/office/powerpoint/2010/main" val="23524479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01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641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17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399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032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71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3735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8516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4112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40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1797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2814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411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56402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9730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4467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9349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121510-5597-F8D9-ABD1-CCF07CA84E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62800" y="0"/>
            <a:ext cx="19812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49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29FC-A7B6-C54F-178B-5ADA7F3E1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16EA9-850C-68C9-CFA0-AAF1DAA0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5677F-AC8E-A7F4-89B2-EAA23F1E4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C533-FC80-1A42-AD0B-0FDF96FA205D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211C3-0B92-7223-C0A2-91AEDCE7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4368D-2373-FE26-8E62-5ADE0AD0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FE88-DBFF-AF46-9F67-D109E0E35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66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2CBFE-1CC8-A4A6-2A50-27EB180CA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738F4-187D-B9EF-569C-D969CD25C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F2A98-CC58-E1A4-AFF4-E1A8F33F5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C533-FC80-1A42-AD0B-0FDF96FA205D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BF836-048A-C4A8-4807-2E029555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492D7-52B2-F9D5-086A-B573AC67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FE88-DBFF-AF46-9F67-D109E0E35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44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2A0B-9239-45BC-D2C6-1305009F9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650CF-3010-D69B-0384-D7EB5B693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39E89-6D34-B385-F5DB-98845E9D2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C533-FC80-1A42-AD0B-0FDF96FA205D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33611-5FE7-3A65-9593-1971BF1C2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C2749-13BF-361D-1689-05E4AAA2F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FE88-DBFF-AF46-9F67-D109E0E35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59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1DDC-953E-DAD1-7FB1-8A853A90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35F9F-5E67-5366-C878-A7BB3A61FC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1EE59-9A24-EBA9-6813-D9FD819E8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A56C6-9A91-4D31-DF09-32B4B66ED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C533-FC80-1A42-AD0B-0FDF96FA205D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A94BB-59A1-68FC-2639-BD5EA1E5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645ED-823E-3C8E-2D75-8DF44FF7D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FE88-DBFF-AF46-9F67-D109E0E35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05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1396E-54C8-A1DB-BB89-A8AFCE4C6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8C4D5-BBFB-CA79-9D6A-BBABF121F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C7606-5EA6-7B3E-FD1B-B410A260A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03A66-C76E-D261-4AEF-BAA2CD539B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773B1-BB1F-AA4F-95D2-B055E4056D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0A5BD-522E-42FC-1135-FD39FF8A5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C533-FC80-1A42-AD0B-0FDF96FA205D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86A9E8-5C83-16A5-FCED-950859ED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D0CE1-0578-3C7B-5264-13BBF0F57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FE88-DBFF-AF46-9F67-D109E0E35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037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C7A9-ED76-5517-E362-230EB6CE9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D2437-4D1A-D5D5-6507-93D725905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C533-FC80-1A42-AD0B-0FDF96FA205D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547D91-E479-5EF4-1A8C-6B06B8C8F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EF637-C340-6EDE-1260-8F3DAA2F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FE88-DBFF-AF46-9F67-D109E0E35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245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C31EF-73E5-A16B-A6B1-B2773B97B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C533-FC80-1A42-AD0B-0FDF96FA205D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0C025-9F95-A675-6D5C-EFFDE0D6C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3755F-49E6-2D59-433B-D7A434CA7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FE88-DBFF-AF46-9F67-D109E0E35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118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7E83-112B-F47B-F3C6-9BB59FC3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FCA86-6F21-7797-2499-E61EDBCE2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1638A-903F-FBC1-8028-9BAC868F1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301D0-1CCC-A2E0-9F21-EBE5C595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C533-FC80-1A42-AD0B-0FDF96FA205D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C09A7-9C19-9602-66E8-428611BD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0A15F-FD4B-F1F2-03E0-ECACA8F1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FE88-DBFF-AF46-9F67-D109E0E35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370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B369-9984-D38C-F04F-476E25838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BACAE-F745-C74C-2E5B-5E458C0BA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88B45-C675-FCCF-444D-E7DAF1E7B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21755-AE23-FD5C-3CC5-70004501B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C533-FC80-1A42-AD0B-0FDF96FA205D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2934F-E465-428E-676A-BD9A82BF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E6502-675D-1D5A-6F61-F03B9D11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FE88-DBFF-AF46-9F67-D109E0E35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862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552A-C9BB-2DB0-3C60-8D51F65F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83100-BE23-BF02-D003-B676207F7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3987F-2A0F-2487-602B-92C5ABD2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C533-FC80-1A42-AD0B-0FDF96FA205D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E23E2-9276-EBBE-C11B-7AAEF84D5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5AF60-3462-083D-506A-6FF9713F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FE88-DBFF-AF46-9F67-D109E0E35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229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0E2463-FDA1-8606-F58B-031711BF2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43C7B-59CB-9331-661B-2790D2116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09E2B-D67D-1796-7BDC-5A34ADD27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C533-FC80-1A42-AD0B-0FDF96FA205D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70327-2734-B620-49AA-EEB77DCA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ABB85-8BB0-D4AE-CF3B-1726AD57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FE88-DBFF-AF46-9F67-D109E0E35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93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75EDA8-1F70-5B88-D783-34AC7154E39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162800" y="0"/>
            <a:ext cx="19812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194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A4AB11-9780-2970-601B-FCE4DDC87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C7015-7A1A-C973-9BB3-758B61FE1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B5B0F-C17C-3E14-2547-A2BB2C5DD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AC533-FC80-1A42-AD0B-0FDF96FA205D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AC145-4FB7-B1E9-96E1-939ED072F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948BA-44E5-DA87-6452-B8105A653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6FE88-DBFF-AF46-9F67-D109E0E35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jpeg"/><Relationship Id="rId4" Type="http://schemas.openxmlformats.org/officeDocument/2006/relationships/image" Target="../media/image9.png"/><Relationship Id="rId9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26" Type="http://schemas.openxmlformats.org/officeDocument/2006/relationships/image" Target="../media/image75.png"/><Relationship Id="rId21" Type="http://schemas.openxmlformats.org/officeDocument/2006/relationships/image" Target="../media/image70.png"/><Relationship Id="rId34" Type="http://schemas.openxmlformats.org/officeDocument/2006/relationships/image" Target="../media/image83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33" Type="http://schemas.openxmlformats.org/officeDocument/2006/relationships/image" Target="../media/image8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73.png"/><Relationship Id="rId32" Type="http://schemas.openxmlformats.org/officeDocument/2006/relationships/image" Target="../media/image81.png"/><Relationship Id="rId37" Type="http://schemas.openxmlformats.org/officeDocument/2006/relationships/image" Target="../media/image86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28" Type="http://schemas.openxmlformats.org/officeDocument/2006/relationships/image" Target="../media/image77.png"/><Relationship Id="rId36" Type="http://schemas.openxmlformats.org/officeDocument/2006/relationships/image" Target="../media/image85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31" Type="http://schemas.openxmlformats.org/officeDocument/2006/relationships/image" Target="../media/image80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Relationship Id="rId27" Type="http://schemas.openxmlformats.org/officeDocument/2006/relationships/image" Target="../media/image76.png"/><Relationship Id="rId30" Type="http://schemas.openxmlformats.org/officeDocument/2006/relationships/image" Target="../media/image79.png"/><Relationship Id="rId35" Type="http://schemas.openxmlformats.org/officeDocument/2006/relationships/image" Target="../media/image84.png"/><Relationship Id="rId8" Type="http://schemas.openxmlformats.org/officeDocument/2006/relationships/image" Target="../media/image57.png"/><Relationship Id="rId3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3" Type="http://schemas.openxmlformats.org/officeDocument/2006/relationships/image" Target="../media/image121.png"/><Relationship Id="rId7" Type="http://schemas.openxmlformats.org/officeDocument/2006/relationships/image" Target="../media/image125.jpe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4.jpe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0" Type="http://schemas.openxmlformats.org/officeDocument/2006/relationships/image" Target="../media/image141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67.png"/><Relationship Id="rId3" Type="http://schemas.openxmlformats.org/officeDocument/2006/relationships/image" Target="../media/image158.png"/><Relationship Id="rId7" Type="http://schemas.openxmlformats.org/officeDocument/2006/relationships/image" Target="../media/image154.png"/><Relationship Id="rId12" Type="http://schemas.openxmlformats.org/officeDocument/2006/relationships/image" Target="../media/image16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1.png"/><Relationship Id="rId11" Type="http://schemas.openxmlformats.org/officeDocument/2006/relationships/image" Target="../media/image165.png"/><Relationship Id="rId5" Type="http://schemas.openxmlformats.org/officeDocument/2006/relationships/image" Target="../media/image160.png"/><Relationship Id="rId10" Type="http://schemas.openxmlformats.org/officeDocument/2006/relationships/image" Target="../media/image164.png"/><Relationship Id="rId4" Type="http://schemas.openxmlformats.org/officeDocument/2006/relationships/image" Target="../media/image159.png"/><Relationship Id="rId9" Type="http://schemas.openxmlformats.org/officeDocument/2006/relationships/image" Target="../media/image163.png"/><Relationship Id="rId14" Type="http://schemas.openxmlformats.org/officeDocument/2006/relationships/image" Target="../media/image16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69.png"/><Relationship Id="rId7" Type="http://schemas.openxmlformats.org/officeDocument/2006/relationships/image" Target="../media/image17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4" Type="http://schemas.openxmlformats.org/officeDocument/2006/relationships/image" Target="../media/image170.png"/><Relationship Id="rId9" Type="http://schemas.openxmlformats.org/officeDocument/2006/relationships/image" Target="../media/image17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3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12" Type="http://schemas.openxmlformats.org/officeDocument/2006/relationships/image" Target="../media/image192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19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6.png"/><Relationship Id="rId11" Type="http://schemas.openxmlformats.org/officeDocument/2006/relationships/image" Target="../media/image191.png"/><Relationship Id="rId5" Type="http://schemas.openxmlformats.org/officeDocument/2006/relationships/image" Target="../media/image185.png"/><Relationship Id="rId15" Type="http://schemas.openxmlformats.org/officeDocument/2006/relationships/image" Target="../media/image195.png"/><Relationship Id="rId10" Type="http://schemas.openxmlformats.org/officeDocument/2006/relationships/image" Target="../media/image190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Relationship Id="rId14" Type="http://schemas.openxmlformats.org/officeDocument/2006/relationships/image" Target="../media/image19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197.png"/><Relationship Id="rId7" Type="http://schemas.openxmlformats.org/officeDocument/2006/relationships/image" Target="../media/image20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198.png"/><Relationship Id="rId9" Type="http://schemas.openxmlformats.org/officeDocument/2006/relationships/image" Target="../media/image20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3" Type="http://schemas.openxmlformats.org/officeDocument/2006/relationships/image" Target="../media/image204.png"/><Relationship Id="rId7" Type="http://schemas.openxmlformats.org/officeDocument/2006/relationships/image" Target="../media/image20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7.png"/><Relationship Id="rId5" Type="http://schemas.openxmlformats.org/officeDocument/2006/relationships/image" Target="../media/image206.png"/><Relationship Id="rId4" Type="http://schemas.openxmlformats.org/officeDocument/2006/relationships/image" Target="../media/image20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3" Type="http://schemas.openxmlformats.org/officeDocument/2006/relationships/image" Target="../media/image210.png"/><Relationship Id="rId7" Type="http://schemas.openxmlformats.org/officeDocument/2006/relationships/image" Target="../media/image2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3.png"/><Relationship Id="rId5" Type="http://schemas.openxmlformats.org/officeDocument/2006/relationships/image" Target="../media/image212.png"/><Relationship Id="rId4" Type="http://schemas.openxmlformats.org/officeDocument/2006/relationships/image" Target="../media/image21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24.png"/><Relationship Id="rId3" Type="http://schemas.openxmlformats.org/officeDocument/2006/relationships/image" Target="../media/image183.png"/><Relationship Id="rId7" Type="http://schemas.openxmlformats.org/officeDocument/2006/relationships/image" Target="../media/image219.png"/><Relationship Id="rId12" Type="http://schemas.openxmlformats.org/officeDocument/2006/relationships/image" Target="../media/image223.png"/><Relationship Id="rId17" Type="http://schemas.openxmlformats.org/officeDocument/2006/relationships/image" Target="../media/image228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2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8.png"/><Relationship Id="rId11" Type="http://schemas.openxmlformats.org/officeDocument/2006/relationships/image" Target="../media/image222.png"/><Relationship Id="rId5" Type="http://schemas.openxmlformats.org/officeDocument/2006/relationships/image" Target="../media/image217.png"/><Relationship Id="rId15" Type="http://schemas.openxmlformats.org/officeDocument/2006/relationships/image" Target="../media/image226.png"/><Relationship Id="rId10" Type="http://schemas.openxmlformats.org/officeDocument/2006/relationships/image" Target="../media/image221.png"/><Relationship Id="rId4" Type="http://schemas.openxmlformats.org/officeDocument/2006/relationships/image" Target="../media/image216.png"/><Relationship Id="rId9" Type="http://schemas.openxmlformats.org/officeDocument/2006/relationships/image" Target="../media/image122.png"/><Relationship Id="rId14" Type="http://schemas.openxmlformats.org/officeDocument/2006/relationships/image" Target="../media/image2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000647" y="1143229"/>
            <a:ext cx="2857729" cy="2857729"/>
          </a:xfrm>
          <a:prstGeom prst="ellipse">
            <a:avLst/>
          </a:prstGeom>
          <a:noFill/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" name="Shape 3"/>
          <p:cNvSpPr/>
          <p:nvPr/>
        </p:nvSpPr>
        <p:spPr>
          <a:xfrm>
            <a:off x="8422310" y="2564892"/>
            <a:ext cx="2000479" cy="2000479"/>
          </a:xfrm>
          <a:prstGeom prst="ellipse">
            <a:avLst/>
          </a:prstGeom>
          <a:noFill/>
          <a:ln w="12700">
            <a:solidFill>
              <a:srgbClr val="7B61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" name="Text 4"/>
          <p:cNvSpPr txBox="1"/>
          <p:nvPr/>
        </p:nvSpPr>
        <p:spPr>
          <a:xfrm>
            <a:off x="571271" y="1462811"/>
            <a:ext cx="5843702" cy="1793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950" b="1" kern="0" spc="-99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Vibe Coding:</a:t>
            </a:r>
            <a:endParaRPr lang="en-US" sz="4950" dirty="0"/>
          </a:p>
          <a:p>
            <a:r>
              <a:rPr lang="en-US" sz="4950" b="1" kern="0" spc="-99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Idea to MVP</a:t>
            </a:r>
            <a:endParaRPr lang="en-US" sz="4950" dirty="0"/>
          </a:p>
          <a:p>
            <a:r>
              <a:rPr lang="en-US" sz="4950" b="1" kern="0" spc="-99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at Warp Speed </a:t>
            </a:r>
            <a:endParaRPr lang="en-US" sz="4950" dirty="0"/>
          </a:p>
        </p:txBody>
      </p:sp>
      <p:sp>
        <p:nvSpPr>
          <p:cNvPr id="7" name="Shape 5"/>
          <p:cNvSpPr/>
          <p:nvPr/>
        </p:nvSpPr>
        <p:spPr>
          <a:xfrm>
            <a:off x="571272" y="3540100"/>
            <a:ext cx="28804" cy="6432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8" name="Text 6"/>
          <p:cNvSpPr txBox="1"/>
          <p:nvPr/>
        </p:nvSpPr>
        <p:spPr>
          <a:xfrm>
            <a:off x="828446" y="3540100"/>
            <a:ext cx="5544008" cy="64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not a talk. You’re going to </a:t>
            </a: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</a:t>
            </a: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</a:t>
            </a: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1271" y="1276960"/>
            <a:ext cx="2057400" cy="1440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0" name="Text 8"/>
          <p:cNvSpPr txBox="1"/>
          <p:nvPr/>
        </p:nvSpPr>
        <p:spPr>
          <a:xfrm>
            <a:off x="571271" y="847650"/>
            <a:ext cx="216918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b="1" kern="0" spc="203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WORKSHOP SESSION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168325" y="4482731"/>
            <a:ext cx="1743304" cy="371704"/>
          </a:xfrm>
          <a:prstGeom prst="roundRect">
            <a:avLst>
              <a:gd name="adj" fmla="val 184502"/>
            </a:avLst>
          </a:prstGeom>
          <a:solidFill>
            <a:srgbClr val="050505"/>
          </a:solidFill>
          <a:ln w="25400">
            <a:solidFill>
              <a:srgbClr val="00FF94"/>
            </a:solidFill>
            <a:prstDash val="solid"/>
          </a:ln>
          <a:effectLst>
            <a:outerShdw blurRad="139700" dist="12700" dir="16200000" algn="bl" rotWithShape="0">
              <a:srgbClr val="00FF94">
                <a:alpha val="30000"/>
              </a:srgbClr>
            </a:outerShdw>
          </a:effectLst>
        </p:spPr>
        <p:txBody>
          <a:bodyPr/>
          <a:lstStyle/>
          <a:p>
            <a:endParaRPr lang="en-US" sz="1013"/>
          </a:p>
        </p:txBody>
      </p:sp>
      <p:sp>
        <p:nvSpPr>
          <p:cNvPr id="12" name="Text 10"/>
          <p:cNvSpPr txBox="1"/>
          <p:nvPr/>
        </p:nvSpPr>
        <p:spPr>
          <a:xfrm>
            <a:off x="7482421" y="4600461"/>
            <a:ext cx="1429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4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SXSW 2026 WORKSHOP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>
            <a:extLst>
              <a:ext uri="{FF2B5EF4-FFF2-40B4-BE49-F238E27FC236}">
                <a16:creationId xmlns:a16="http://schemas.microsoft.com/office/drawing/2014/main" id="{69BA4B58-E9F5-FBB2-FD56-5C86ABFE770E}"/>
              </a:ext>
            </a:extLst>
          </p:cNvPr>
          <p:cNvSpPr txBox="1"/>
          <p:nvPr/>
        </p:nvSpPr>
        <p:spPr>
          <a:xfrm>
            <a:off x="1127909" y="1671638"/>
            <a:ext cx="6567000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75" b="1" kern="0" spc="-31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</a:rPr>
              <a:t>INTRODUCTIONS</a:t>
            </a:r>
            <a:endParaRPr lang="en-US" sz="7875" dirty="0"/>
          </a:p>
        </p:txBody>
      </p:sp>
    </p:spTree>
    <p:extLst>
      <p:ext uri="{BB962C8B-B14F-4D97-AF65-F5344CB8AC3E}">
        <p14:creationId xmlns:p14="http://schemas.microsoft.com/office/powerpoint/2010/main" val="133566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8715147" y="142647"/>
            <a:ext cx="285979" cy="285979"/>
          </a:xfrm>
          <a:prstGeom prst="rect">
            <a:avLst/>
          </a:prstGeom>
          <a:noFill/>
          <a:ln w="254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142647" y="4714875"/>
            <a:ext cx="285979" cy="285979"/>
          </a:xfrm>
          <a:prstGeom prst="rect">
            <a:avLst/>
          </a:prstGeom>
          <a:noFill/>
          <a:ln w="254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4572229" y="1061619"/>
            <a:ext cx="428625" cy="28804"/>
          </a:xfrm>
          <a:prstGeom prst="roundRect">
            <a:avLst>
              <a:gd name="adj" fmla="val 2380940"/>
            </a:avLst>
          </a:prstGeom>
          <a:solidFill>
            <a:srgbClr val="00FF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386105" y="285979"/>
            <a:ext cx="8372933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kern="0" spc="158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TEAM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357302" y="507492"/>
            <a:ext cx="8429854" cy="443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150" b="1" kern="0" spc="-63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We Are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2073851" y="1519047"/>
            <a:ext cx="2281904" cy="3338474"/>
          </a:xfrm>
          <a:prstGeom prst="roundRect">
            <a:avLst>
              <a:gd name="adj" fmla="val 300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73798" y="1811884"/>
            <a:ext cx="1285875" cy="1285875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88021" y="2226107"/>
            <a:ext cx="457429" cy="45742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11644" y="3269209"/>
            <a:ext cx="1016356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kern="0" spc="-1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Matthew</a:t>
            </a:r>
          </a:p>
          <a:p>
            <a:pPr algn="ctr"/>
            <a:r>
              <a:rPr lang="en-US" sz="1575" b="1" kern="0" spc="-1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</a:rPr>
              <a:t>Steiner</a:t>
            </a:r>
            <a:endParaRPr lang="en-US" sz="1575" dirty="0"/>
          </a:p>
        </p:txBody>
      </p:sp>
      <p:sp>
        <p:nvSpPr>
          <p:cNvPr id="15" name="Text 11"/>
          <p:cNvSpPr txBox="1"/>
          <p:nvPr/>
        </p:nvSpPr>
        <p:spPr>
          <a:xfrm>
            <a:off x="2573797" y="3797275"/>
            <a:ext cx="1285875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kern="0" spc="45" dirty="0" err="1">
                <a:solidFill>
                  <a:srgbClr val="00FF94"/>
                </a:solidFill>
                <a:latin typeface="Inter" pitchFamily="34" charset="0"/>
                <a:ea typeface="Inter" pitchFamily="34" charset="-122"/>
              </a:rPr>
              <a:t>Flyercopilot</a:t>
            </a:r>
            <a:r>
              <a:rPr lang="en-US" sz="1400" b="1" kern="0" spc="45" dirty="0">
                <a:solidFill>
                  <a:srgbClr val="00FF94"/>
                </a:solidFill>
                <a:latin typeface="Inter" pitchFamily="34" charset="0"/>
                <a:ea typeface="Inter" pitchFamily="34" charset="-122"/>
              </a:rPr>
              <a:t> Founder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177061" y="4303396"/>
            <a:ext cx="2079346" cy="2454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Hat</a:t>
            </a:r>
          </a:p>
          <a:p>
            <a:pPr algn="ctr"/>
            <a:r>
              <a:rPr lang="en-US" sz="14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</a:rPr>
              <a:t>Business Value Consultant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788248" y="1519047"/>
            <a:ext cx="2281902" cy="3280866"/>
          </a:xfrm>
          <a:prstGeom prst="roundRect">
            <a:avLst>
              <a:gd name="adj" fmla="val 300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88195" y="1811884"/>
            <a:ext cx="1285875" cy="1285875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02418" y="2226107"/>
            <a:ext cx="457429" cy="45742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26040" y="3269209"/>
            <a:ext cx="1016356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kern="0" spc="-1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Richard Bennett</a:t>
            </a:r>
            <a:endParaRPr lang="en-US" sz="1575" dirty="0"/>
          </a:p>
        </p:txBody>
      </p:sp>
      <p:sp>
        <p:nvSpPr>
          <p:cNvPr id="22" name="Text 16"/>
          <p:cNvSpPr txBox="1"/>
          <p:nvPr/>
        </p:nvSpPr>
        <p:spPr>
          <a:xfrm>
            <a:off x="5060734" y="3819503"/>
            <a:ext cx="1644386" cy="216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kern="0" spc="45" dirty="0">
                <a:solidFill>
                  <a:srgbClr val="7B61FF"/>
                </a:solidFill>
                <a:latin typeface="Inter" pitchFamily="34" charset="0"/>
                <a:ea typeface="Inter" pitchFamily="34" charset="-122"/>
              </a:rPr>
              <a:t>Maven Advisory CEO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136633" y="3911804"/>
            <a:ext cx="1593113" cy="685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4" name="Text 18"/>
          <p:cNvSpPr txBox="1"/>
          <p:nvPr/>
        </p:nvSpPr>
        <p:spPr>
          <a:xfrm>
            <a:off x="5105771" y="4315053"/>
            <a:ext cx="1650721" cy="1933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 err="1">
                <a:solidFill>
                  <a:srgbClr val="AAAAAA"/>
                </a:solidFill>
                <a:latin typeface="Inter" pitchFamily="34" charset="0"/>
                <a:ea typeface="Inter" pitchFamily="34" charset="-122"/>
              </a:rPr>
              <a:t>Hashicorp</a:t>
            </a:r>
            <a:r>
              <a:rPr lang="en-US" sz="14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</a:rPr>
              <a:t> </a:t>
            </a:r>
          </a:p>
          <a:p>
            <a:pPr algn="ctr"/>
            <a:r>
              <a:rPr lang="en-US" sz="14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</a:rPr>
              <a:t>EMEA CTO</a:t>
            </a:r>
            <a:endParaRPr lang="en-US" sz="1400" dirty="0"/>
          </a:p>
        </p:txBody>
      </p:sp>
      <p:pic>
        <p:nvPicPr>
          <p:cNvPr id="1026" name="Picture 2" descr="Richard Bennett">
            <a:extLst>
              <a:ext uri="{FF2B5EF4-FFF2-40B4-BE49-F238E27FC236}">
                <a16:creationId xmlns:a16="http://schemas.microsoft.com/office/drawing/2014/main" id="{0B976C69-249F-9A2C-7B95-F96BE7ED6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18712" y="1835509"/>
            <a:ext cx="1224838" cy="122483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tthew Steiner">
            <a:extLst>
              <a:ext uri="{FF2B5EF4-FFF2-40B4-BE49-F238E27FC236}">
                <a16:creationId xmlns:a16="http://schemas.microsoft.com/office/drawing/2014/main" id="{FA56DA4D-58DA-3040-F9C5-691D541DC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527" y="1833110"/>
            <a:ext cx="1208413" cy="120841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rcRect l="1849" r="1849"/>
          <a:stretch/>
        </p:blipFill>
        <p:spPr>
          <a:xfrm rot="120000">
            <a:off x="5584666" y="1251980"/>
            <a:ext cx="3950208" cy="2443505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571272" y="571272"/>
            <a:ext cx="380070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kern="0" spc="203" dirty="0">
                <a:solidFill>
                  <a:srgbClr val="7B6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Context</a:t>
            </a:r>
            <a:endParaRPr lang="en-US" sz="975" dirty="0"/>
          </a:p>
        </p:txBody>
      </p:sp>
      <p:sp>
        <p:nvSpPr>
          <p:cNvPr id="13" name="Shape 4"/>
          <p:cNvSpPr/>
          <p:nvPr/>
        </p:nvSpPr>
        <p:spPr>
          <a:xfrm>
            <a:off x="571272" y="571271"/>
            <a:ext cx="285979" cy="14402"/>
          </a:xfrm>
          <a:prstGeom prst="rect">
            <a:avLst/>
          </a:prstGeom>
          <a:solidFill>
            <a:srgbClr val="7B61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4" name="Text 5"/>
          <p:cNvSpPr txBox="1"/>
          <p:nvPr/>
        </p:nvSpPr>
        <p:spPr>
          <a:xfrm>
            <a:off x="571271" y="907313"/>
            <a:ext cx="384390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50" b="1" kern="0" spc="-12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 Built </a:t>
            </a:r>
            <a:r>
              <a:rPr lang="en-US" sz="4050" b="1" kern="0" spc="-122" dirty="0" err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Flyercopilot</a:t>
            </a:r>
            <a:r>
              <a:rPr lang="en-US" sz="4050" b="1" kern="0" spc="-12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endParaRPr lang="en-US" sz="4050" dirty="0"/>
          </a:p>
          <a:p>
            <a:r>
              <a:rPr lang="en-US" sz="4050" b="1" kern="0" spc="-122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Alone.</a:t>
            </a:r>
            <a:endParaRPr lang="en-US" sz="4050" dirty="0"/>
          </a:p>
        </p:txBody>
      </p:sp>
      <p:sp>
        <p:nvSpPr>
          <p:cNvPr id="15" name="Text 6"/>
          <p:cNvSpPr txBox="1"/>
          <p:nvPr/>
        </p:nvSpPr>
        <p:spPr>
          <a:xfrm>
            <a:off x="907313" y="2293315"/>
            <a:ext cx="3134106" cy="264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system. </a:t>
            </a: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solo.</a:t>
            </a:r>
            <a:endParaRPr lang="en-US" sz="1575" dirty="0"/>
          </a:p>
        </p:txBody>
      </p:sp>
      <p:sp>
        <p:nvSpPr>
          <p:cNvPr id="16" name="Text 7"/>
          <p:cNvSpPr txBox="1"/>
          <p:nvPr/>
        </p:nvSpPr>
        <p:spPr>
          <a:xfrm>
            <a:off x="864108" y="2767203"/>
            <a:ext cx="2219249" cy="264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Felt </a:t>
            </a: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overwhelming.</a:t>
            </a:r>
            <a:endParaRPr lang="en-US" sz="1575" dirty="0"/>
          </a:p>
        </p:txBody>
      </p:sp>
      <p:sp>
        <p:nvSpPr>
          <p:cNvPr id="17" name="Text 8"/>
          <p:cNvSpPr txBox="1"/>
          <p:nvPr/>
        </p:nvSpPr>
        <p:spPr>
          <a:xfrm>
            <a:off x="907314" y="3241777"/>
            <a:ext cx="3454375" cy="52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Worked because of </a:t>
            </a: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thinking.</a:t>
            </a:r>
            <a:endParaRPr lang="en-US" sz="1575" dirty="0"/>
          </a:p>
        </p:txBody>
      </p:sp>
      <p:sp>
        <p:nvSpPr>
          <p:cNvPr id="18" name="Shape 9"/>
          <p:cNvSpPr/>
          <p:nvPr/>
        </p:nvSpPr>
        <p:spPr>
          <a:xfrm>
            <a:off x="571272" y="4214926"/>
            <a:ext cx="3714979" cy="357302"/>
          </a:xfrm>
          <a:prstGeom prst="roundRect">
            <a:avLst>
              <a:gd name="adj" fmla="val 1919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9" name="Text 10"/>
          <p:cNvSpPr/>
          <p:nvPr/>
        </p:nvSpPr>
        <p:spPr>
          <a:xfrm>
            <a:off x="864109" y="4214926"/>
            <a:ext cx="3479063" cy="3573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1450" tIns="85725" rIns="171450" bIns="85725" rtlCol="0" anchor="ctr"/>
          <a:lstStyle/>
          <a:p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Credibility Checkpoint </a:t>
            </a:r>
            <a:endParaRPr lang="en-US" sz="9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0266" y="4336314"/>
            <a:ext cx="114529" cy="114529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571271" y="2335835"/>
            <a:ext cx="192710" cy="171450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571271" y="2810408"/>
            <a:ext cx="150191" cy="171450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571271" y="3284982"/>
            <a:ext cx="192710" cy="1714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BB4E6F-E82E-2D81-237C-A7CB0F7D7E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331358">
            <a:off x="4853451" y="1982792"/>
            <a:ext cx="4284586" cy="222916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9"/>
          <a:srcRect l="117" r="117"/>
          <a:stretch/>
        </p:blipFill>
        <p:spPr>
          <a:xfrm>
            <a:off x="4791920" y="790237"/>
            <a:ext cx="3643655" cy="218633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10"/>
          <a:srcRect t="3986" b="3986"/>
          <a:stretch/>
        </p:blipFill>
        <p:spPr>
          <a:xfrm rot="21420000">
            <a:off x="4576166" y="1465082"/>
            <a:ext cx="1750162" cy="3472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28626" y="1008126"/>
            <a:ext cx="8286521" cy="685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28626" y="285979"/>
            <a:ext cx="2872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80" dirty="0">
                <a:solidFill>
                  <a:srgbClr val="7B6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Evolution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28625" y="514351"/>
            <a:ext cx="3388538" cy="386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kern="0" spc="-4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Newbie to Launch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988987" y="650138"/>
            <a:ext cx="1728902" cy="250317"/>
          </a:xfrm>
          <a:prstGeom prst="roundRect">
            <a:avLst>
              <a:gd name="adj" fmla="val 62622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8" name="Text 6"/>
          <p:cNvSpPr txBox="1"/>
          <p:nvPr/>
        </p:nvSpPr>
        <p:spPr>
          <a:xfrm>
            <a:off x="7242048" y="650138"/>
            <a:ext cx="1533449" cy="250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5725" tIns="47625" rIns="85725" bIns="47625" rtlCol="0" anchor="ctr"/>
          <a:lstStyle/>
          <a:p>
            <a:r>
              <a:rPr lang="en-US" sz="75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Timeframe: A Few Months </a:t>
            </a:r>
            <a:endParaRPr lang="en-US" sz="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82257" y="726948"/>
            <a:ext cx="100127" cy="10012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8626" y="1193292"/>
            <a:ext cx="8286521" cy="414224"/>
          </a:xfrm>
          <a:prstGeom prst="roundRect">
            <a:avLst>
              <a:gd name="adj" fmla="val 45672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428625" y="1193292"/>
            <a:ext cx="28804" cy="414224"/>
          </a:xfrm>
          <a:prstGeom prst="roundRect">
            <a:avLst>
              <a:gd name="adj" fmla="val 656811"/>
            </a:avLst>
          </a:prstGeom>
          <a:solidFill>
            <a:srgbClr val="00FF94"/>
          </a:solidFill>
          <a:ln w="12700">
            <a:solidFill>
              <a:srgbClr val="00FF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2" name="Text 9"/>
          <p:cNvSpPr txBox="1"/>
          <p:nvPr/>
        </p:nvSpPr>
        <p:spPr>
          <a:xfrm>
            <a:off x="600075" y="1324966"/>
            <a:ext cx="771525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 PATH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457325" y="1400404"/>
            <a:ext cx="7115175" cy="1440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8626" y="1714500"/>
            <a:ext cx="8286521" cy="414224"/>
          </a:xfrm>
          <a:prstGeom prst="roundRect">
            <a:avLst>
              <a:gd name="adj" fmla="val 45672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US" sz="1100"/>
          </a:p>
        </p:txBody>
      </p:sp>
      <p:sp>
        <p:nvSpPr>
          <p:cNvPr id="15" name="Shape 11"/>
          <p:cNvSpPr/>
          <p:nvPr/>
        </p:nvSpPr>
        <p:spPr>
          <a:xfrm>
            <a:off x="428625" y="1714500"/>
            <a:ext cx="28804" cy="414224"/>
          </a:xfrm>
          <a:prstGeom prst="roundRect">
            <a:avLst>
              <a:gd name="adj" fmla="val 656811"/>
            </a:avLst>
          </a:prstGeom>
          <a:solidFill>
            <a:srgbClr val="FF5E5E"/>
          </a:solidFill>
          <a:ln w="12700">
            <a:solidFill>
              <a:srgbClr val="FF5E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6" name="Text 12"/>
          <p:cNvSpPr txBox="1"/>
          <p:nvPr/>
        </p:nvSpPr>
        <p:spPr>
          <a:xfrm>
            <a:off x="600075" y="1846859"/>
            <a:ext cx="772897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5E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FOUNDER PATH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457325" y="1921612"/>
            <a:ext cx="7115175" cy="14402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43430" y="1264616"/>
            <a:ext cx="85725" cy="8572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68425" y="1407262"/>
            <a:ext cx="63779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Newbie</a:t>
            </a:r>
            <a:endParaRPr lang="en-US" sz="9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72050" y="1264616"/>
            <a:ext cx="85725" cy="8572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660596" y="1407262"/>
            <a:ext cx="751662" cy="5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Competent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01355" y="1264616"/>
            <a:ext cx="85725" cy="8572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633639" y="1407262"/>
            <a:ext cx="935432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0F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Vibe Coder</a:t>
            </a:r>
            <a:endParaRPr lang="en-US" sz="9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843430" y="1785824"/>
            <a:ext cx="85725" cy="8572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620546" y="1929156"/>
            <a:ext cx="532867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 Idea</a:t>
            </a:r>
            <a:endParaRPr lang="en-US" sz="9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928949" y="1785824"/>
            <a:ext cx="85725" cy="8572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3766414" y="1929156"/>
            <a:ext cx="416966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Fail</a:t>
            </a:r>
            <a:endParaRPr lang="en-US" sz="9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15152" y="1785824"/>
            <a:ext cx="85725" cy="8572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5659222" y="1929156"/>
            <a:ext cx="798957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 / SE Mindset</a:t>
            </a:r>
            <a:endParaRPr lang="en-US" sz="9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01355" y="1785824"/>
            <a:ext cx="85725" cy="85725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7677531" y="1929156"/>
            <a:ext cx="936117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 Launch</a:t>
            </a:r>
            <a:endParaRPr lang="en-US" sz="900" dirty="0"/>
          </a:p>
        </p:txBody>
      </p:sp>
      <p:sp>
        <p:nvSpPr>
          <p:cNvPr id="32" name="Shape 20"/>
          <p:cNvSpPr/>
          <p:nvPr/>
        </p:nvSpPr>
        <p:spPr>
          <a:xfrm>
            <a:off x="428626" y="2343379"/>
            <a:ext cx="4072280" cy="692658"/>
          </a:xfrm>
          <a:prstGeom prst="roundRect">
            <a:avLst>
              <a:gd name="adj" fmla="val 16332"/>
            </a:avLst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3" name="Text 21"/>
          <p:cNvSpPr txBox="1"/>
          <p:nvPr/>
        </p:nvSpPr>
        <p:spPr>
          <a:xfrm>
            <a:off x="543154" y="2457222"/>
            <a:ext cx="235916" cy="464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dirty="0"/>
          </a:p>
        </p:txBody>
      </p:sp>
      <p:sp>
        <p:nvSpPr>
          <p:cNvPr id="34" name="Text 22"/>
          <p:cNvSpPr txBox="1"/>
          <p:nvPr/>
        </p:nvSpPr>
        <p:spPr>
          <a:xfrm>
            <a:off x="838734" y="2457221"/>
            <a:ext cx="36367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Principles Matter</a:t>
            </a:r>
            <a:endParaRPr lang="en-US" sz="1100" dirty="0"/>
          </a:p>
        </p:txBody>
      </p:sp>
      <p:sp>
        <p:nvSpPr>
          <p:cNvPr id="35" name="Text 23"/>
          <p:cNvSpPr txBox="1"/>
          <p:nvPr/>
        </p:nvSpPr>
        <p:spPr>
          <a:xfrm>
            <a:off x="838733" y="2657475"/>
            <a:ext cx="3607994" cy="264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Problem → Architecture → Roadmap (Idea &gt; Prototype &gt; MVP &gt; Features).</a:t>
            </a:r>
            <a:endParaRPr lang="en-US" sz="1000" dirty="0"/>
          </a:p>
        </p:txBody>
      </p:sp>
      <p:sp>
        <p:nvSpPr>
          <p:cNvPr id="36" name="Shape 24"/>
          <p:cNvSpPr/>
          <p:nvPr/>
        </p:nvSpPr>
        <p:spPr>
          <a:xfrm>
            <a:off x="428626" y="3138907"/>
            <a:ext cx="4072280" cy="564413"/>
          </a:xfrm>
          <a:prstGeom prst="roundRect">
            <a:avLst>
              <a:gd name="adj" fmla="val 24609"/>
            </a:avLst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7" name="Text 25"/>
          <p:cNvSpPr txBox="1"/>
          <p:nvPr/>
        </p:nvSpPr>
        <p:spPr>
          <a:xfrm>
            <a:off x="543154" y="3253436"/>
            <a:ext cx="257175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dirty="0"/>
          </a:p>
        </p:txBody>
      </p:sp>
      <p:sp>
        <p:nvSpPr>
          <p:cNvPr id="38" name="Text 26"/>
          <p:cNvSpPr txBox="1"/>
          <p:nvPr/>
        </p:nvSpPr>
        <p:spPr>
          <a:xfrm>
            <a:off x="862736" y="3253436"/>
            <a:ext cx="24579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the Code</a:t>
            </a:r>
            <a:endParaRPr lang="en-US" sz="1100" dirty="0"/>
          </a:p>
        </p:txBody>
      </p:sp>
      <p:sp>
        <p:nvSpPr>
          <p:cNvPr id="39" name="Text 27"/>
          <p:cNvSpPr txBox="1"/>
          <p:nvPr/>
        </p:nvSpPr>
        <p:spPr>
          <a:xfrm>
            <a:off x="862737" y="3453004"/>
            <a:ext cx="2813837" cy="1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exactly what AI is building. Don't fly blind.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4643552" y="2343379"/>
            <a:ext cx="4072280" cy="564413"/>
          </a:xfrm>
          <a:prstGeom prst="roundRect">
            <a:avLst>
              <a:gd name="adj" fmla="val 24609"/>
            </a:avLst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1" name="Text 29"/>
          <p:cNvSpPr txBox="1"/>
          <p:nvPr/>
        </p:nvSpPr>
        <p:spPr>
          <a:xfrm>
            <a:off x="4758080" y="2457221"/>
            <a:ext cx="264719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dirty="0"/>
          </a:p>
        </p:txBody>
      </p:sp>
      <p:sp>
        <p:nvSpPr>
          <p:cNvPr id="42" name="Text 30"/>
          <p:cNvSpPr txBox="1"/>
          <p:nvPr/>
        </p:nvSpPr>
        <p:spPr>
          <a:xfrm>
            <a:off x="5080406" y="2457221"/>
            <a:ext cx="2750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Rigour &gt; Speed</a:t>
            </a:r>
            <a:endParaRPr lang="en-US" sz="1100" dirty="0"/>
          </a:p>
        </p:txBody>
      </p:sp>
      <p:sp>
        <p:nvSpPr>
          <p:cNvPr id="43" name="Text 31"/>
          <p:cNvSpPr txBox="1"/>
          <p:nvPr/>
        </p:nvSpPr>
        <p:spPr>
          <a:xfrm>
            <a:off x="5080406" y="2657476"/>
            <a:ext cx="3150566" cy="1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doesn't cut corners if it knows the full mission. Be explicit.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4643552" y="3009291"/>
            <a:ext cx="4072280" cy="564413"/>
          </a:xfrm>
          <a:prstGeom prst="roundRect">
            <a:avLst>
              <a:gd name="adj" fmla="val 24609"/>
            </a:avLst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5" name="Text 33"/>
          <p:cNvSpPr txBox="1"/>
          <p:nvPr/>
        </p:nvSpPr>
        <p:spPr>
          <a:xfrm>
            <a:off x="4758080" y="3123134"/>
            <a:ext cx="264719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dirty="0"/>
          </a:p>
        </p:txBody>
      </p:sp>
      <p:sp>
        <p:nvSpPr>
          <p:cNvPr id="46" name="Text 34"/>
          <p:cNvSpPr txBox="1"/>
          <p:nvPr/>
        </p:nvSpPr>
        <p:spPr>
          <a:xfrm>
            <a:off x="5085207" y="3123134"/>
            <a:ext cx="29009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Kill the Guesswork</a:t>
            </a:r>
            <a:endParaRPr lang="en-US" sz="1100" dirty="0"/>
          </a:p>
        </p:txBody>
      </p:sp>
      <p:sp>
        <p:nvSpPr>
          <p:cNvPr id="47" name="Text 35"/>
          <p:cNvSpPr txBox="1"/>
          <p:nvPr/>
        </p:nvSpPr>
        <p:spPr>
          <a:xfrm>
            <a:off x="5085207" y="3323387"/>
            <a:ext cx="3322701" cy="1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r>
              <a:rPr lang="en-US" sz="1000" dirty="0">
                <a:solidFill>
                  <a:srgbClr val="7B6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.cursorrules</a:t>
            </a:r>
            <a:r>
              <a:rPr lang="en-US" sz="10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force questions. "Ask me before you guess."</a:t>
            </a:r>
            <a:endParaRPr lang="en-US" sz="10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7"/>
          <a:srcRect t="-26" b="-26"/>
          <a:stretch/>
        </p:blipFill>
        <p:spPr>
          <a:xfrm>
            <a:off x="428626" y="4400779"/>
            <a:ext cx="8286521" cy="457429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964235" y="4522166"/>
            <a:ext cx="5172304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You are </a:t>
            </a:r>
            <a:r>
              <a:rPr lang="en-US" sz="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Manager</a:t>
            </a:r>
            <a:r>
              <a:rPr lang="en-US" sz="112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+ </a:t>
            </a:r>
            <a:r>
              <a:rPr lang="en-US" sz="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 Engineer</a:t>
            </a:r>
            <a:r>
              <a:rPr lang="en-US" sz="1125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//</a:t>
            </a:r>
            <a:r>
              <a:rPr lang="en-US" sz="112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AI is the </a:t>
            </a:r>
            <a:r>
              <a:rPr lang="en-US" sz="900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Developer</a:t>
            </a:r>
            <a:endParaRPr lang="en-US" sz="1125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8"/>
          <a:srcRect l="-50" r="-50"/>
          <a:stretch/>
        </p:blipFill>
        <p:spPr>
          <a:xfrm>
            <a:off x="614477" y="4514622"/>
            <a:ext cx="171450" cy="228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386105" y="285979"/>
            <a:ext cx="8372933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kern="0" spc="158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PHASE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357302" y="507492"/>
            <a:ext cx="842985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700" b="1" kern="0" spc="-5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Vibe Coding Actually Is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8626" y="1307135"/>
            <a:ext cx="4000271" cy="3807562"/>
          </a:xfrm>
          <a:prstGeom prst="roundRect">
            <a:avLst>
              <a:gd name="adj" fmla="val 1019"/>
            </a:avLst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7" name="Shape 5"/>
          <p:cNvSpPr/>
          <p:nvPr/>
        </p:nvSpPr>
        <p:spPr>
          <a:xfrm>
            <a:off x="428626" y="1307135"/>
            <a:ext cx="4000271" cy="28804"/>
          </a:xfrm>
          <a:prstGeom prst="roundRect">
            <a:avLst>
              <a:gd name="adj" fmla="val 138780"/>
            </a:avLst>
          </a:prstGeom>
          <a:solidFill>
            <a:srgbClr val="00FF94"/>
          </a:solidFill>
          <a:ln w="12700">
            <a:solidFill>
              <a:srgbClr val="00FF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8" name="Shape 6"/>
          <p:cNvSpPr/>
          <p:nvPr/>
        </p:nvSpPr>
        <p:spPr>
          <a:xfrm>
            <a:off x="650139" y="2143125"/>
            <a:ext cx="3557930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Text 7"/>
          <p:cNvSpPr txBox="1"/>
          <p:nvPr/>
        </p:nvSpPr>
        <p:spPr>
          <a:xfrm>
            <a:off x="650138" y="1549908"/>
            <a:ext cx="3936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25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</a:t>
            </a:r>
            <a:endParaRPr lang="en-US" sz="2325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79012" y="1661008"/>
            <a:ext cx="228371" cy="22837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0139" y="2435962"/>
            <a:ext cx="3557930" cy="628879"/>
          </a:xfrm>
          <a:prstGeom prst="roundRect">
            <a:avLst>
              <a:gd name="adj" fmla="val 2974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2" name="Shape 9"/>
          <p:cNvSpPr/>
          <p:nvPr/>
        </p:nvSpPr>
        <p:spPr>
          <a:xfrm>
            <a:off x="792785" y="2578608"/>
            <a:ext cx="342900" cy="342900"/>
          </a:xfrm>
          <a:prstGeom prst="roundRect">
            <a:avLst>
              <a:gd name="adj" fmla="val 66667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900456" y="2678735"/>
            <a:ext cx="128930" cy="14264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79017" y="2621813"/>
            <a:ext cx="26574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Intent </a:t>
            </a:r>
            <a:r>
              <a:rPr lang="en-US" sz="975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Structure </a:t>
            </a:r>
            <a:r>
              <a:rPr lang="en-US" sz="975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Code 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650139" y="3236291"/>
            <a:ext cx="3557930" cy="742721"/>
          </a:xfrm>
          <a:prstGeom prst="roundRect">
            <a:avLst>
              <a:gd name="adj" fmla="val 2130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6" name="Shape 12"/>
          <p:cNvSpPr/>
          <p:nvPr/>
        </p:nvSpPr>
        <p:spPr>
          <a:xfrm>
            <a:off x="792785" y="3435858"/>
            <a:ext cx="342900" cy="342900"/>
          </a:xfrm>
          <a:prstGeom prst="roundRect">
            <a:avLst>
              <a:gd name="adj" fmla="val 66667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881939" y="3535985"/>
            <a:ext cx="164592" cy="14264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79017" y="3378937"/>
            <a:ext cx="12721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</a:t>
            </a:r>
            <a:endParaRPr lang="en-US" dirty="0"/>
          </a:p>
        </p:txBody>
      </p:sp>
      <p:sp>
        <p:nvSpPr>
          <p:cNvPr id="19" name="Text 14"/>
          <p:cNvSpPr txBox="1"/>
          <p:nvPr/>
        </p:nvSpPr>
        <p:spPr>
          <a:xfrm>
            <a:off x="1279018" y="3664916"/>
            <a:ext cx="1445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Small, testable blocks.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50139" y="4150462"/>
            <a:ext cx="3557930" cy="742721"/>
          </a:xfrm>
          <a:prstGeom prst="roundRect">
            <a:avLst>
              <a:gd name="adj" fmla="val 2130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1" name="Shape 16"/>
          <p:cNvSpPr/>
          <p:nvPr/>
        </p:nvSpPr>
        <p:spPr>
          <a:xfrm>
            <a:off x="792785" y="4350716"/>
            <a:ext cx="342900" cy="342900"/>
          </a:xfrm>
          <a:prstGeom prst="roundRect">
            <a:avLst>
              <a:gd name="adj" fmla="val 66667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881939" y="4450843"/>
            <a:ext cx="164592" cy="14264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79017" y="4293108"/>
            <a:ext cx="21774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Anchored Context</a:t>
            </a:r>
            <a:endParaRPr lang="en-US" dirty="0"/>
          </a:p>
        </p:txBody>
      </p:sp>
      <p:sp>
        <p:nvSpPr>
          <p:cNvPr id="24" name="Text 18"/>
          <p:cNvSpPr txBox="1"/>
          <p:nvPr/>
        </p:nvSpPr>
        <p:spPr>
          <a:xfrm>
            <a:off x="1279017" y="4579087"/>
            <a:ext cx="24908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Providing the "Why" before the "How".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714876" y="1307134"/>
            <a:ext cx="4000271" cy="3807563"/>
          </a:xfrm>
          <a:prstGeom prst="roundRect">
            <a:avLst>
              <a:gd name="adj" fmla="val 1019"/>
            </a:avLst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6" name="Shape 20"/>
          <p:cNvSpPr/>
          <p:nvPr/>
        </p:nvSpPr>
        <p:spPr>
          <a:xfrm>
            <a:off x="4714876" y="1307135"/>
            <a:ext cx="4000271" cy="28804"/>
          </a:xfrm>
          <a:prstGeom prst="roundRect">
            <a:avLst>
              <a:gd name="adj" fmla="val 138780"/>
            </a:avLst>
          </a:prstGeom>
          <a:solidFill>
            <a:srgbClr val="FF5E5E"/>
          </a:solidFill>
          <a:ln w="12700">
            <a:solidFill>
              <a:srgbClr val="FF5E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7" name="Shape 21"/>
          <p:cNvSpPr/>
          <p:nvPr/>
        </p:nvSpPr>
        <p:spPr>
          <a:xfrm>
            <a:off x="4936389" y="2143125"/>
            <a:ext cx="3557930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8" name="Text 22"/>
          <p:cNvSpPr txBox="1"/>
          <p:nvPr/>
        </p:nvSpPr>
        <p:spPr>
          <a:xfrm>
            <a:off x="4936388" y="1549908"/>
            <a:ext cx="118986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25" b="1" dirty="0">
                <a:solidFill>
                  <a:srgbClr val="FF5E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NOT</a:t>
            </a:r>
            <a:endParaRPr lang="en-US" sz="2325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65262" y="1661008"/>
            <a:ext cx="228371" cy="228371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936389" y="2435962"/>
            <a:ext cx="3557930" cy="742721"/>
          </a:xfrm>
          <a:prstGeom prst="roundRect">
            <a:avLst>
              <a:gd name="adj" fmla="val 2130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1" name="Shape 24"/>
          <p:cNvSpPr/>
          <p:nvPr/>
        </p:nvSpPr>
        <p:spPr>
          <a:xfrm>
            <a:off x="5079035" y="2636216"/>
            <a:ext cx="342900" cy="342900"/>
          </a:xfrm>
          <a:prstGeom prst="roundRect">
            <a:avLst>
              <a:gd name="adj" fmla="val 66667"/>
            </a:avLst>
          </a:prstGeom>
          <a:solidFill>
            <a:srgbClr val="FF5E5E">
              <a:alpha val="10000"/>
            </a:srgbClr>
          </a:solidFill>
          <a:ln w="12700">
            <a:solidFill>
              <a:srgbClr val="FF5E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5168189" y="2736343"/>
            <a:ext cx="164592" cy="14264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565267" y="2578608"/>
            <a:ext cx="14451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Magic</a:t>
            </a:r>
            <a:endParaRPr lang="en-US" dirty="0"/>
          </a:p>
        </p:txBody>
      </p:sp>
      <p:sp>
        <p:nvSpPr>
          <p:cNvPr id="34" name="Text 26"/>
          <p:cNvSpPr txBox="1"/>
          <p:nvPr/>
        </p:nvSpPr>
        <p:spPr>
          <a:xfrm>
            <a:off x="5565267" y="2864587"/>
            <a:ext cx="13606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Hoping for the best.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936389" y="3350134"/>
            <a:ext cx="3557930" cy="742721"/>
          </a:xfrm>
          <a:prstGeom prst="roundRect">
            <a:avLst>
              <a:gd name="adj" fmla="val 2130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6" name="Shape 28"/>
          <p:cNvSpPr/>
          <p:nvPr/>
        </p:nvSpPr>
        <p:spPr>
          <a:xfrm>
            <a:off x="5079035" y="3550387"/>
            <a:ext cx="342900" cy="342900"/>
          </a:xfrm>
          <a:prstGeom prst="roundRect">
            <a:avLst>
              <a:gd name="adj" fmla="val 66667"/>
            </a:avLst>
          </a:prstGeom>
          <a:solidFill>
            <a:srgbClr val="FF5E5E">
              <a:alpha val="10000"/>
            </a:srgbClr>
          </a:solidFill>
          <a:ln w="12700">
            <a:solidFill>
              <a:srgbClr val="FF5E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179162" y="3650514"/>
            <a:ext cx="142646" cy="142646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565267" y="3493466"/>
            <a:ext cx="17906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One-shot Apps</a:t>
            </a:r>
            <a:endParaRPr lang="en-US" dirty="0"/>
          </a:p>
        </p:txBody>
      </p:sp>
      <p:sp>
        <p:nvSpPr>
          <p:cNvPr id="39" name="Text 30"/>
          <p:cNvSpPr txBox="1"/>
          <p:nvPr/>
        </p:nvSpPr>
        <p:spPr>
          <a:xfrm>
            <a:off x="5565268" y="3778758"/>
            <a:ext cx="20491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entire systems at once.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4936389" y="4254105"/>
            <a:ext cx="3557930" cy="742721"/>
          </a:xfrm>
          <a:prstGeom prst="roundRect">
            <a:avLst>
              <a:gd name="adj" fmla="val 2130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1" name="Shape 32"/>
          <p:cNvSpPr/>
          <p:nvPr/>
        </p:nvSpPr>
        <p:spPr>
          <a:xfrm>
            <a:off x="5079035" y="4464558"/>
            <a:ext cx="342900" cy="342900"/>
          </a:xfrm>
          <a:prstGeom prst="roundRect">
            <a:avLst>
              <a:gd name="adj" fmla="val 66667"/>
            </a:avLst>
          </a:prstGeom>
          <a:solidFill>
            <a:srgbClr val="FF5E5E">
              <a:alpha val="10000"/>
            </a:srgbClr>
          </a:solidFill>
          <a:ln w="12700">
            <a:solidFill>
              <a:srgbClr val="FF5E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179162" y="4564685"/>
            <a:ext cx="142646" cy="142646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5565267" y="4407637"/>
            <a:ext cx="21252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Replacing Thinking</a:t>
            </a:r>
            <a:endParaRPr lang="en-US" dirty="0"/>
          </a:p>
        </p:txBody>
      </p:sp>
      <p:sp>
        <p:nvSpPr>
          <p:cNvPr id="44" name="Text 34"/>
          <p:cNvSpPr txBox="1"/>
          <p:nvPr/>
        </p:nvSpPr>
        <p:spPr>
          <a:xfrm>
            <a:off x="5565267" y="4693616"/>
            <a:ext cx="24318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is the hands, you are the head.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4357574" y="3021814"/>
            <a:ext cx="428625" cy="428625"/>
          </a:xfrm>
          <a:prstGeom prst="ellipse">
            <a:avLst/>
          </a:prstGeom>
          <a:solidFill>
            <a:srgbClr val="050505"/>
          </a:solidFill>
          <a:ln w="254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6" name="Text 36"/>
          <p:cNvSpPr txBox="1"/>
          <p:nvPr/>
        </p:nvSpPr>
        <p:spPr>
          <a:xfrm>
            <a:off x="4467987" y="3107539"/>
            <a:ext cx="2715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2975686" y="4500905"/>
            <a:ext cx="3193085" cy="357302"/>
          </a:xfrm>
          <a:prstGeom prst="roundRect">
            <a:avLst>
              <a:gd name="adj" fmla="val 1919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3154681" y="4622292"/>
            <a:ext cx="142646" cy="11452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383051" y="4500905"/>
            <a:ext cx="2665019" cy="35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“AI reflects the clarity you give it.”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28626" y="1150772"/>
            <a:ext cx="828652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Text 5"/>
          <p:cNvSpPr txBox="1"/>
          <p:nvPr/>
        </p:nvSpPr>
        <p:spPr>
          <a:xfrm>
            <a:off x="428625" y="285979"/>
            <a:ext cx="3536671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kern="0" spc="158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PROCESS</a:t>
            </a:r>
            <a:endParaRPr lang="en-US" sz="750" dirty="0"/>
          </a:p>
        </p:txBody>
      </p:sp>
      <p:sp>
        <p:nvSpPr>
          <p:cNvPr id="10" name="Text 6"/>
          <p:cNvSpPr txBox="1"/>
          <p:nvPr/>
        </p:nvSpPr>
        <p:spPr>
          <a:xfrm>
            <a:off x="428625" y="493091"/>
            <a:ext cx="42649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kern="0" spc="-5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Vibe Coding Loop</a:t>
            </a:r>
            <a:endParaRPr lang="en-US" sz="2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43696" y="785927"/>
            <a:ext cx="171450" cy="17145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ABD64972-59A8-75B2-740E-2A2EE229B89D}"/>
              </a:ext>
            </a:extLst>
          </p:cNvPr>
          <p:cNvGrpSpPr/>
          <p:nvPr/>
        </p:nvGrpSpPr>
        <p:grpSpPr>
          <a:xfrm>
            <a:off x="621334" y="2245995"/>
            <a:ext cx="7901102" cy="1682954"/>
            <a:chOff x="621334" y="2245995"/>
            <a:chExt cx="7901102" cy="1682954"/>
          </a:xfrm>
        </p:grpSpPr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5">
              <a:alphaModFix amt="30000"/>
            </a:blip>
            <a:srcRect l="-8002" r="-8002"/>
            <a:stretch/>
          </p:blipFill>
          <p:spPr>
            <a:xfrm>
              <a:off x="1257072" y="3500324"/>
              <a:ext cx="6629629" cy="428625"/>
            </a:xfrm>
            <a:prstGeom prst="rect">
              <a:avLst/>
            </a:prstGeom>
          </p:spPr>
        </p:pic>
        <p:pic>
          <p:nvPicPr>
            <p:cNvPr id="13" name="Image 4" descr="preencoded.png"/>
            <p:cNvPicPr>
              <a:picLocks noChangeAspect="1"/>
            </p:cNvPicPr>
            <p:nvPr/>
          </p:nvPicPr>
          <p:blipFill>
            <a:blip r:embed="rId6"/>
            <a:srcRect t="-402" b="-402"/>
            <a:stretch/>
          </p:blipFill>
          <p:spPr>
            <a:xfrm>
              <a:off x="793471" y="3074441"/>
              <a:ext cx="7429271" cy="14402"/>
            </a:xfrm>
            <a:prstGeom prst="rect">
              <a:avLst/>
            </a:prstGeom>
          </p:spPr>
        </p:pic>
        <p:pic>
          <p:nvPicPr>
            <p:cNvPr id="14" name="Image 5" descr="preencoded.png"/>
            <p:cNvPicPr>
              <a:picLocks noChangeAspect="1"/>
            </p:cNvPicPr>
            <p:nvPr/>
          </p:nvPicPr>
          <p:blipFill>
            <a:blip r:embed="rId7"/>
            <a:srcRect l="-1507" r="-1507"/>
            <a:stretch/>
          </p:blipFill>
          <p:spPr>
            <a:xfrm>
              <a:off x="1920240" y="3022648"/>
              <a:ext cx="64466" cy="100127"/>
            </a:xfrm>
            <a:prstGeom prst="rect">
              <a:avLst/>
            </a:prstGeom>
          </p:spPr>
        </p:pic>
        <p:pic>
          <p:nvPicPr>
            <p:cNvPr id="15" name="Image 6" descr="preencoded.png"/>
            <p:cNvPicPr>
              <a:picLocks noChangeAspect="1"/>
            </p:cNvPicPr>
            <p:nvPr/>
          </p:nvPicPr>
          <p:blipFill>
            <a:blip r:embed="rId7"/>
            <a:srcRect l="-1507" r="-1507"/>
            <a:stretch/>
          </p:blipFill>
          <p:spPr>
            <a:xfrm>
              <a:off x="3577819" y="3022648"/>
              <a:ext cx="64466" cy="100127"/>
            </a:xfrm>
            <a:prstGeom prst="rect">
              <a:avLst/>
            </a:prstGeom>
          </p:spPr>
        </p:pic>
        <p:pic>
          <p:nvPicPr>
            <p:cNvPr id="16" name="Image 7" descr="preencoded.png"/>
            <p:cNvPicPr>
              <a:picLocks noChangeAspect="1"/>
            </p:cNvPicPr>
            <p:nvPr/>
          </p:nvPicPr>
          <p:blipFill>
            <a:blip r:embed="rId7"/>
            <a:srcRect l="-1507" r="-1507"/>
            <a:stretch/>
          </p:blipFill>
          <p:spPr>
            <a:xfrm>
              <a:off x="5566639" y="3022648"/>
              <a:ext cx="64466" cy="100127"/>
            </a:xfrm>
            <a:prstGeom prst="rect">
              <a:avLst/>
            </a:prstGeom>
          </p:spPr>
        </p:pic>
        <p:pic>
          <p:nvPicPr>
            <p:cNvPr id="17" name="Image 8" descr="preencoded.png"/>
            <p:cNvPicPr>
              <a:picLocks noChangeAspect="1"/>
            </p:cNvPicPr>
            <p:nvPr/>
          </p:nvPicPr>
          <p:blipFill>
            <a:blip r:embed="rId7"/>
            <a:srcRect l="-1507" r="-1507"/>
            <a:stretch/>
          </p:blipFill>
          <p:spPr>
            <a:xfrm>
              <a:off x="7223531" y="3022648"/>
              <a:ext cx="64466" cy="100127"/>
            </a:xfrm>
            <a:prstGeom prst="rect">
              <a:avLst/>
            </a:prstGeom>
          </p:spPr>
        </p:pic>
        <p:sp>
          <p:nvSpPr>
            <p:cNvPr id="18" name="Text 7"/>
            <p:cNvSpPr txBox="1"/>
            <p:nvPr/>
          </p:nvSpPr>
          <p:spPr>
            <a:xfrm>
              <a:off x="824332" y="3138907"/>
              <a:ext cx="643280" cy="214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25" b="1" dirty="0">
                  <a:solidFill>
                    <a:srgbClr val="7B61FF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Explain</a:t>
              </a:r>
              <a:endParaRPr lang="en-US" sz="1125" dirty="0"/>
            </a:p>
          </p:txBody>
        </p:sp>
        <p:sp>
          <p:nvSpPr>
            <p:cNvPr id="19" name="Text 8"/>
            <p:cNvSpPr txBox="1"/>
            <p:nvPr/>
          </p:nvSpPr>
          <p:spPr>
            <a:xfrm>
              <a:off x="621334" y="3410484"/>
              <a:ext cx="1043102" cy="2859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50" dirty="0">
                  <a:solidFill>
                    <a:srgbClr val="88888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Speak naturally. Define the "Why".</a:t>
              </a:r>
              <a:endParaRPr lang="en-US" sz="750" dirty="0"/>
            </a:p>
          </p:txBody>
        </p:sp>
        <p:pic>
          <p:nvPicPr>
            <p:cNvPr id="20" name="Image 9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857251" y="2396186"/>
              <a:ext cx="571271" cy="571271"/>
            </a:xfrm>
            <a:prstGeom prst="rect">
              <a:avLst/>
            </a:prstGeom>
          </p:spPr>
        </p:pic>
        <p:sp>
          <p:nvSpPr>
            <p:cNvPr id="21" name="Shape 9"/>
            <p:cNvSpPr/>
            <p:nvPr/>
          </p:nvSpPr>
          <p:spPr>
            <a:xfrm>
              <a:off x="1279017" y="2374925"/>
              <a:ext cx="171450" cy="171450"/>
            </a:xfrm>
            <a:prstGeom prst="ellipse">
              <a:avLst/>
            </a:prstGeom>
            <a:solidFill>
              <a:srgbClr val="222222"/>
            </a:solidFill>
            <a:ln w="12700">
              <a:solidFill>
                <a:srgbClr val="444444"/>
              </a:solidFill>
              <a:prstDash val="solid"/>
            </a:ln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22" name="Text 10"/>
            <p:cNvSpPr/>
            <p:nvPr/>
          </p:nvSpPr>
          <p:spPr>
            <a:xfrm>
              <a:off x="1250213" y="2374925"/>
              <a:ext cx="229058" cy="1714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75" dirty="0">
                  <a:solidFill>
                    <a:srgbClr val="88888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sz="675" dirty="0"/>
            </a:p>
          </p:txBody>
        </p:sp>
        <p:pic>
          <p:nvPicPr>
            <p:cNvPr id="23" name="Image 10" descr="preencoded.png"/>
            <p:cNvPicPr>
              <a:picLocks noChangeAspect="1"/>
            </p:cNvPicPr>
            <p:nvPr/>
          </p:nvPicPr>
          <p:blipFill>
            <a:blip r:embed="rId9"/>
            <a:srcRect l="-90" r="-90"/>
            <a:stretch/>
          </p:blipFill>
          <p:spPr>
            <a:xfrm>
              <a:off x="999897" y="2567636"/>
              <a:ext cx="285979" cy="228371"/>
            </a:xfrm>
            <a:prstGeom prst="rect">
              <a:avLst/>
            </a:prstGeom>
          </p:spPr>
        </p:pic>
        <p:sp>
          <p:nvSpPr>
            <p:cNvPr id="24" name="Text 11"/>
            <p:cNvSpPr txBox="1"/>
            <p:nvPr/>
          </p:nvSpPr>
          <p:spPr>
            <a:xfrm>
              <a:off x="2654046" y="3138907"/>
              <a:ext cx="407366" cy="214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25" b="1" dirty="0">
                  <a:solidFill>
                    <a:srgbClr val="7B61FF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Plan</a:t>
              </a:r>
              <a:endParaRPr lang="en-US" sz="1125" dirty="0"/>
            </a:p>
          </p:txBody>
        </p:sp>
        <p:sp>
          <p:nvSpPr>
            <p:cNvPr id="25" name="Text 12"/>
            <p:cNvSpPr txBox="1"/>
            <p:nvPr/>
          </p:nvSpPr>
          <p:spPr>
            <a:xfrm>
              <a:off x="2335834" y="3410484"/>
              <a:ext cx="1043102" cy="2859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50" dirty="0">
                  <a:solidFill>
                    <a:srgbClr val="88888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Verify structure before code.</a:t>
              </a:r>
              <a:endParaRPr lang="en-US" sz="750" dirty="0"/>
            </a:p>
          </p:txBody>
        </p:sp>
        <p:pic>
          <p:nvPicPr>
            <p:cNvPr id="26" name="Image 11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571751" y="2396186"/>
              <a:ext cx="571271" cy="571271"/>
            </a:xfrm>
            <a:prstGeom prst="rect">
              <a:avLst/>
            </a:prstGeom>
          </p:spPr>
        </p:pic>
        <p:sp>
          <p:nvSpPr>
            <p:cNvPr id="27" name="Shape 13"/>
            <p:cNvSpPr/>
            <p:nvPr/>
          </p:nvSpPr>
          <p:spPr>
            <a:xfrm>
              <a:off x="2993517" y="2374925"/>
              <a:ext cx="171450" cy="171450"/>
            </a:xfrm>
            <a:prstGeom prst="ellipse">
              <a:avLst/>
            </a:prstGeom>
            <a:solidFill>
              <a:srgbClr val="222222"/>
            </a:solidFill>
            <a:ln w="12700">
              <a:solidFill>
                <a:srgbClr val="444444"/>
              </a:solidFill>
              <a:prstDash val="solid"/>
            </a:ln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28" name="Text 14"/>
            <p:cNvSpPr/>
            <p:nvPr/>
          </p:nvSpPr>
          <p:spPr>
            <a:xfrm>
              <a:off x="2964713" y="2374925"/>
              <a:ext cx="229058" cy="1714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75" dirty="0">
                  <a:solidFill>
                    <a:srgbClr val="88888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2</a:t>
              </a:r>
              <a:endParaRPr lang="en-US" sz="675" dirty="0"/>
            </a:p>
          </p:txBody>
        </p:sp>
        <p:pic>
          <p:nvPicPr>
            <p:cNvPr id="29" name="Image 12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2743201" y="2567636"/>
              <a:ext cx="228371" cy="228371"/>
            </a:xfrm>
            <a:prstGeom prst="rect">
              <a:avLst/>
            </a:prstGeom>
          </p:spPr>
        </p:pic>
        <p:sp>
          <p:nvSpPr>
            <p:cNvPr id="30" name="Text 15"/>
            <p:cNvSpPr txBox="1"/>
            <p:nvPr/>
          </p:nvSpPr>
          <p:spPr>
            <a:xfrm>
              <a:off x="4298594" y="3153308"/>
              <a:ext cx="551384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00FF94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Build</a:t>
              </a:r>
              <a:endParaRPr lang="en-US" dirty="0"/>
            </a:p>
          </p:txBody>
        </p:sp>
        <p:sp>
          <p:nvSpPr>
            <p:cNvPr id="31" name="Text 16"/>
            <p:cNvSpPr txBox="1"/>
            <p:nvPr/>
          </p:nvSpPr>
          <p:spPr>
            <a:xfrm>
              <a:off x="4050334" y="3467405"/>
              <a:ext cx="1043102" cy="2859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50" dirty="0">
                  <a:solidFill>
                    <a:srgbClr val="88888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Generate code blocks.</a:t>
              </a:r>
              <a:endParaRPr lang="en-US" sz="750" dirty="0"/>
            </a:p>
          </p:txBody>
        </p:sp>
        <p:pic>
          <p:nvPicPr>
            <p:cNvPr id="32" name="Image 13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4214927" y="2267255"/>
              <a:ext cx="714604" cy="714604"/>
            </a:xfrm>
            <a:prstGeom prst="rect">
              <a:avLst/>
            </a:prstGeom>
          </p:spPr>
        </p:pic>
        <p:sp>
          <p:nvSpPr>
            <p:cNvPr id="33" name="Shape 17"/>
            <p:cNvSpPr/>
            <p:nvPr/>
          </p:nvSpPr>
          <p:spPr>
            <a:xfrm>
              <a:off x="4779341" y="2245995"/>
              <a:ext cx="171450" cy="171450"/>
            </a:xfrm>
            <a:prstGeom prst="ellipse">
              <a:avLst/>
            </a:prstGeom>
            <a:solidFill>
              <a:srgbClr val="222222"/>
            </a:solidFill>
            <a:ln w="12700">
              <a:solidFill>
                <a:srgbClr val="444444"/>
              </a:solidFill>
              <a:prstDash val="solid"/>
            </a:ln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34" name="Text 18"/>
            <p:cNvSpPr/>
            <p:nvPr/>
          </p:nvSpPr>
          <p:spPr>
            <a:xfrm>
              <a:off x="4750537" y="2245995"/>
              <a:ext cx="229058" cy="1714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75" dirty="0">
                  <a:solidFill>
                    <a:srgbClr val="88888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3</a:t>
              </a:r>
              <a:endParaRPr lang="en-US" sz="675" dirty="0"/>
            </a:p>
          </p:txBody>
        </p:sp>
        <p:pic>
          <p:nvPicPr>
            <p:cNvPr id="35" name="Image 14" descr="preencoded.png"/>
            <p:cNvPicPr>
              <a:picLocks noChangeAspect="1"/>
            </p:cNvPicPr>
            <p:nvPr/>
          </p:nvPicPr>
          <p:blipFill>
            <a:blip r:embed="rId12"/>
            <a:srcRect t="-24" b="-24"/>
            <a:stretch/>
          </p:blipFill>
          <p:spPr>
            <a:xfrm>
              <a:off x="4393234" y="2481911"/>
              <a:ext cx="357302" cy="285979"/>
            </a:xfrm>
            <a:prstGeom prst="rect">
              <a:avLst/>
            </a:prstGeom>
          </p:spPr>
        </p:pic>
        <p:sp>
          <p:nvSpPr>
            <p:cNvPr id="36" name="Text 19"/>
            <p:cNvSpPr txBox="1"/>
            <p:nvPr/>
          </p:nvSpPr>
          <p:spPr>
            <a:xfrm>
              <a:off x="5952744" y="3138907"/>
              <a:ext cx="672084" cy="214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25" b="1" dirty="0">
                  <a:solidFill>
                    <a:srgbClr val="FFD700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Observe</a:t>
              </a:r>
              <a:endParaRPr lang="en-US" sz="1125" dirty="0"/>
            </a:p>
          </p:txBody>
        </p:sp>
        <p:sp>
          <p:nvSpPr>
            <p:cNvPr id="37" name="Text 20"/>
            <p:cNvSpPr txBox="1"/>
            <p:nvPr/>
          </p:nvSpPr>
          <p:spPr>
            <a:xfrm>
              <a:off x="5764834" y="3410484"/>
              <a:ext cx="1043102" cy="2859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50" dirty="0">
                  <a:solidFill>
                    <a:srgbClr val="88888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Check against reality.</a:t>
              </a:r>
              <a:endParaRPr lang="en-US" sz="750" dirty="0"/>
            </a:p>
          </p:txBody>
        </p:sp>
        <p:pic>
          <p:nvPicPr>
            <p:cNvPr id="38" name="Image 15" descr="preencoded.png"/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6000751" y="2396186"/>
              <a:ext cx="571271" cy="571271"/>
            </a:xfrm>
            <a:prstGeom prst="rect">
              <a:avLst/>
            </a:prstGeom>
          </p:spPr>
        </p:pic>
        <p:sp>
          <p:nvSpPr>
            <p:cNvPr id="39" name="Shape 21"/>
            <p:cNvSpPr/>
            <p:nvPr/>
          </p:nvSpPr>
          <p:spPr>
            <a:xfrm>
              <a:off x="6422517" y="2374925"/>
              <a:ext cx="171450" cy="171450"/>
            </a:xfrm>
            <a:prstGeom prst="ellipse">
              <a:avLst/>
            </a:prstGeom>
            <a:solidFill>
              <a:srgbClr val="222222"/>
            </a:solidFill>
            <a:ln w="12700">
              <a:solidFill>
                <a:srgbClr val="444444"/>
              </a:solidFill>
              <a:prstDash val="solid"/>
            </a:ln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40" name="Text 22"/>
            <p:cNvSpPr/>
            <p:nvPr/>
          </p:nvSpPr>
          <p:spPr>
            <a:xfrm>
              <a:off x="6393713" y="2374925"/>
              <a:ext cx="229058" cy="1714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75" dirty="0">
                  <a:solidFill>
                    <a:srgbClr val="88888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4</a:t>
              </a:r>
              <a:endParaRPr lang="en-US" sz="675" dirty="0"/>
            </a:p>
          </p:txBody>
        </p:sp>
        <p:pic>
          <p:nvPicPr>
            <p:cNvPr id="41" name="Image 16" descr="preencoded.png"/>
            <p:cNvPicPr>
              <a:picLocks noChangeAspect="1"/>
            </p:cNvPicPr>
            <p:nvPr/>
          </p:nvPicPr>
          <p:blipFill>
            <a:blip r:embed="rId14"/>
            <a:srcRect l="-50" r="-50"/>
            <a:stretch/>
          </p:blipFill>
          <p:spPr>
            <a:xfrm>
              <a:off x="6157799" y="2567636"/>
              <a:ext cx="257175" cy="228371"/>
            </a:xfrm>
            <a:prstGeom prst="rect">
              <a:avLst/>
            </a:prstGeom>
          </p:spPr>
        </p:pic>
        <p:sp>
          <p:nvSpPr>
            <p:cNvPr id="42" name="Text 23"/>
            <p:cNvSpPr txBox="1"/>
            <p:nvPr/>
          </p:nvSpPr>
          <p:spPr>
            <a:xfrm>
              <a:off x="7728967" y="3138907"/>
              <a:ext cx="550697" cy="214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25" b="1" dirty="0">
                  <a:solidFill>
                    <a:srgbClr val="FF5E5E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Refine</a:t>
              </a:r>
              <a:endParaRPr lang="en-US" sz="1125" dirty="0"/>
            </a:p>
          </p:txBody>
        </p:sp>
        <p:sp>
          <p:nvSpPr>
            <p:cNvPr id="43" name="Text 24"/>
            <p:cNvSpPr txBox="1"/>
            <p:nvPr/>
          </p:nvSpPr>
          <p:spPr>
            <a:xfrm>
              <a:off x="7479334" y="3410484"/>
              <a:ext cx="1043102" cy="2859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50" dirty="0">
                  <a:solidFill>
                    <a:srgbClr val="88888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Adjust intent and iterate.</a:t>
              </a:r>
              <a:endParaRPr lang="en-US" sz="750" dirty="0"/>
            </a:p>
          </p:txBody>
        </p:sp>
        <p:pic>
          <p:nvPicPr>
            <p:cNvPr id="44" name="Image 17" descr="preencoded.png"/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7715251" y="2396186"/>
              <a:ext cx="571271" cy="571271"/>
            </a:xfrm>
            <a:prstGeom prst="rect">
              <a:avLst/>
            </a:prstGeom>
          </p:spPr>
        </p:pic>
        <p:sp>
          <p:nvSpPr>
            <p:cNvPr id="45" name="Shape 25"/>
            <p:cNvSpPr/>
            <p:nvPr/>
          </p:nvSpPr>
          <p:spPr>
            <a:xfrm>
              <a:off x="8137017" y="2374925"/>
              <a:ext cx="171450" cy="171450"/>
            </a:xfrm>
            <a:prstGeom prst="ellipse">
              <a:avLst/>
            </a:prstGeom>
            <a:solidFill>
              <a:srgbClr val="222222"/>
            </a:solidFill>
            <a:ln w="12700">
              <a:solidFill>
                <a:srgbClr val="444444"/>
              </a:solidFill>
              <a:prstDash val="solid"/>
            </a:ln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46" name="Text 26"/>
            <p:cNvSpPr/>
            <p:nvPr/>
          </p:nvSpPr>
          <p:spPr>
            <a:xfrm>
              <a:off x="8108213" y="2374925"/>
              <a:ext cx="229058" cy="1714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75" dirty="0">
                  <a:solidFill>
                    <a:srgbClr val="88888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5</a:t>
              </a:r>
              <a:endParaRPr lang="en-US" sz="675" dirty="0"/>
            </a:p>
          </p:txBody>
        </p:sp>
        <p:pic>
          <p:nvPicPr>
            <p:cNvPr id="47" name="Image 18" descr="preencoded.png"/>
            <p:cNvPicPr>
              <a:picLocks noChangeAspect="1"/>
            </p:cNvPicPr>
            <p:nvPr/>
          </p:nvPicPr>
          <p:blipFill>
            <a:blip r:embed="rId16"/>
            <a:srcRect l="-50" r="-50"/>
            <a:stretch/>
          </p:blipFill>
          <p:spPr>
            <a:xfrm>
              <a:off x="7872299" y="2567636"/>
              <a:ext cx="257175" cy="2283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>
            <a:extLst>
              <a:ext uri="{FF2B5EF4-FFF2-40B4-BE49-F238E27FC236}">
                <a16:creationId xmlns:a16="http://schemas.microsoft.com/office/drawing/2014/main" id="{2AE910A0-E75E-69DE-4953-81D7F0FC4F1D}"/>
              </a:ext>
            </a:extLst>
          </p:cNvPr>
          <p:cNvSpPr txBox="1"/>
          <p:nvPr/>
        </p:nvSpPr>
        <p:spPr>
          <a:xfrm>
            <a:off x="1127909" y="1671638"/>
            <a:ext cx="6567000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75" b="1" kern="0" spc="-31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</a:rPr>
              <a:t>INTERMISSION!</a:t>
            </a:r>
            <a:endParaRPr lang="en-US" sz="7875" dirty="0"/>
          </a:p>
        </p:txBody>
      </p:sp>
    </p:spTree>
    <p:extLst>
      <p:ext uri="{BB962C8B-B14F-4D97-AF65-F5344CB8AC3E}">
        <p14:creationId xmlns:p14="http://schemas.microsoft.com/office/powerpoint/2010/main" val="3690444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194" r="194"/>
          <a:stretch/>
        </p:blipFill>
        <p:spPr>
          <a:xfrm>
            <a:off x="4857522" y="1451152"/>
            <a:ext cx="4000271" cy="224325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7909" r="-7909"/>
          <a:stretch/>
        </p:blipFill>
        <p:spPr>
          <a:xfrm>
            <a:off x="7334631" y="4336313"/>
            <a:ext cx="1100024" cy="23591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 rot="21480000">
            <a:off x="7334631" y="4336313"/>
            <a:ext cx="1144601" cy="235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   THE TARGET STATE</a:t>
            </a:r>
            <a:endParaRPr lang="en-US" sz="750" dirty="0"/>
          </a:p>
        </p:txBody>
      </p:sp>
      <p:sp>
        <p:nvSpPr>
          <p:cNvPr id="7" name="Text 3"/>
          <p:cNvSpPr txBox="1"/>
          <p:nvPr/>
        </p:nvSpPr>
        <p:spPr>
          <a:xfrm>
            <a:off x="571272" y="552755"/>
            <a:ext cx="3800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80" dirty="0">
                <a:solidFill>
                  <a:srgbClr val="7B6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Vision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71272" y="552754"/>
            <a:ext cx="285979" cy="14402"/>
          </a:xfrm>
          <a:prstGeom prst="rect">
            <a:avLst/>
          </a:prstGeom>
          <a:solidFill>
            <a:srgbClr val="7B61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Text 5"/>
          <p:cNvSpPr txBox="1"/>
          <p:nvPr/>
        </p:nvSpPr>
        <p:spPr>
          <a:xfrm>
            <a:off x="571271" y="867537"/>
            <a:ext cx="3843909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150" b="1" kern="0" spc="-9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 We Will Build </a:t>
            </a:r>
            <a:endParaRPr lang="en-US" sz="3150" dirty="0"/>
          </a:p>
          <a:p>
            <a:r>
              <a:rPr lang="en-US" sz="3150" b="1" kern="0" spc="-95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'Event Builder 360'</a:t>
            </a:r>
            <a:endParaRPr lang="en-US" sz="3150" dirty="0"/>
          </a:p>
        </p:txBody>
      </p:sp>
      <p:sp>
        <p:nvSpPr>
          <p:cNvPr id="10" name="Text 6"/>
          <p:cNvSpPr txBox="1"/>
          <p:nvPr/>
        </p:nvSpPr>
        <p:spPr>
          <a:xfrm>
            <a:off x="792785" y="2033398"/>
            <a:ext cx="1606829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event 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42849" y="2344751"/>
            <a:ext cx="2151355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augmentation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21588" y="2656104"/>
            <a:ext cx="1377773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Ratings &amp; notes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07187" y="2967457"/>
            <a:ext cx="878510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42848" y="3278810"/>
            <a:ext cx="1590371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Multi-event future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71272" y="3804818"/>
            <a:ext cx="3714979" cy="685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6" name="Text 12"/>
          <p:cNvSpPr txBox="1"/>
          <p:nvPr/>
        </p:nvSpPr>
        <p:spPr>
          <a:xfrm>
            <a:off x="821589" y="3954323"/>
            <a:ext cx="3550387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 dirty="0">
                <a:solidFill>
                  <a:srgbClr val="FF5E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Feels overwhelming.</a:t>
            </a:r>
            <a:endParaRPr lang="en-US" sz="1575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571271" y="4004387"/>
            <a:ext cx="178308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71272" y="4290365"/>
            <a:ext cx="3800704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That’s normal.</a:t>
            </a:r>
            <a:endParaRPr lang="en-US" sz="1575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571272" y="2071117"/>
            <a:ext cx="114529" cy="128930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571271" y="2382470"/>
            <a:ext cx="164592" cy="128930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 t="-842" b="-842"/>
          <a:stretch/>
        </p:blipFill>
        <p:spPr>
          <a:xfrm>
            <a:off x="571272" y="2693823"/>
            <a:ext cx="142646" cy="128930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1272" y="3005176"/>
            <a:ext cx="128930" cy="12893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rcRect l="-1064" r="-1064"/>
          <a:stretch/>
        </p:blipFill>
        <p:spPr>
          <a:xfrm>
            <a:off x="571271" y="3316529"/>
            <a:ext cx="164592" cy="128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286250" y="0"/>
            <a:ext cx="6858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285979" y="750266"/>
            <a:ext cx="3710864" cy="17145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50" r="-50"/>
          <a:stretch/>
        </p:blipFill>
        <p:spPr>
          <a:xfrm>
            <a:off x="2055343" y="2600554"/>
            <a:ext cx="171450" cy="22837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4159" y="3043581"/>
            <a:ext cx="750266" cy="200254"/>
          </a:xfrm>
          <a:prstGeom prst="roundRect">
            <a:avLst>
              <a:gd name="adj" fmla="val 97847"/>
            </a:avLst>
          </a:prstGeom>
          <a:solidFill>
            <a:srgbClr val="000000">
              <a:alpha val="80000"/>
            </a:srgbClr>
          </a:solidFill>
          <a:ln w="12700">
            <a:solidFill>
              <a:srgbClr val="00FF9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0" name="Text 6"/>
          <p:cNvSpPr txBox="1"/>
          <p:nvPr/>
        </p:nvSpPr>
        <p:spPr>
          <a:xfrm>
            <a:off x="364160" y="3043581"/>
            <a:ext cx="79347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28575" rIns="57150" bIns="28575" rtlCol="0" anchor="ctr"/>
          <a:lstStyle/>
          <a:p>
            <a:r>
              <a:rPr lang="en-US" sz="675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STATE</a:t>
            </a:r>
            <a:endParaRPr lang="en-US" sz="675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" b="-40"/>
          <a:stretch/>
        </p:blipFill>
        <p:spPr>
          <a:xfrm>
            <a:off x="1427150" y="3243149"/>
            <a:ext cx="428625" cy="28597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05205" y="3243149"/>
            <a:ext cx="471830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 t="-40" b="-40"/>
          <a:stretch/>
        </p:blipFill>
        <p:spPr>
          <a:xfrm>
            <a:off x="1927098" y="3243149"/>
            <a:ext cx="428625" cy="285979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905839" y="3243149"/>
            <a:ext cx="471830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t="-40" b="-40"/>
          <a:stretch/>
        </p:blipFill>
        <p:spPr>
          <a:xfrm>
            <a:off x="2427047" y="3243149"/>
            <a:ext cx="428625" cy="2859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405787" y="3243149"/>
            <a:ext cx="471830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6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 l="-24" r="-24"/>
          <a:stretch/>
        </p:blipFill>
        <p:spPr>
          <a:xfrm>
            <a:off x="435484" y="3600450"/>
            <a:ext cx="1671980" cy="285979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07365" y="3600450"/>
            <a:ext cx="1728902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Logic</a:t>
            </a:r>
            <a:endParaRPr lang="en-US" sz="6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rcRect l="-24" r="-24"/>
          <a:stretch/>
        </p:blipFill>
        <p:spPr>
          <a:xfrm>
            <a:off x="2176730" y="3600450"/>
            <a:ext cx="1671980" cy="285979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2148611" y="3600450"/>
            <a:ext cx="1728902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Model</a:t>
            </a:r>
            <a:endParaRPr lang="en-US" sz="6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7"/>
          <a:srcRect l="-11" r="-11"/>
          <a:stretch/>
        </p:blipFill>
        <p:spPr>
          <a:xfrm>
            <a:off x="435483" y="3957752"/>
            <a:ext cx="3414599" cy="285979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407366" y="3957752"/>
            <a:ext cx="3472205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</a:t>
            </a:r>
            <a:endParaRPr lang="en-US" sz="6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39" b="-39"/>
          <a:stretch/>
        </p:blipFill>
        <p:spPr>
          <a:xfrm rot="1500000">
            <a:off x="805815" y="1278332"/>
            <a:ext cx="779755" cy="368960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 l="-8" r="-8"/>
          <a:stretch/>
        </p:blipFill>
        <p:spPr>
          <a:xfrm rot="8400000">
            <a:off x="1743304" y="1418921"/>
            <a:ext cx="989609" cy="831875"/>
          </a:xfrm>
          <a:prstGeom prst="rect">
            <a:avLst/>
          </a:prstGeom>
        </p:spPr>
      </p:pic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 rot="18900000">
            <a:off x="1986763" y="1227582"/>
            <a:ext cx="762610" cy="762610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1"/>
          <a:srcRect l="-23" r="-23"/>
          <a:stretch/>
        </p:blipFill>
        <p:spPr>
          <a:xfrm rot="20700000">
            <a:off x="639166" y="1847545"/>
            <a:ext cx="1381887" cy="376505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2"/>
          <a:srcRect t="-92" b="-92"/>
          <a:stretch/>
        </p:blipFill>
        <p:spPr>
          <a:xfrm rot="6600000">
            <a:off x="3000375" y="1734389"/>
            <a:ext cx="226314" cy="606933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3"/>
          <a:srcRect t="-6" b="-6"/>
          <a:stretch/>
        </p:blipFill>
        <p:spPr>
          <a:xfrm rot="3600000">
            <a:off x="1518362" y="1698727"/>
            <a:ext cx="506120" cy="869594"/>
          </a:xfrm>
          <a:prstGeom prst="rect">
            <a:avLst/>
          </a:prstGeom>
        </p:spPr>
      </p:pic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14"/>
          <a:srcRect t="-6" b="-6"/>
          <a:stretch/>
        </p:blipFill>
        <p:spPr>
          <a:xfrm rot="20400000">
            <a:off x="1183691" y="1581455"/>
            <a:ext cx="1076706" cy="397764"/>
          </a:xfrm>
          <a:prstGeom prst="rect">
            <a:avLst/>
          </a:prstGeom>
        </p:spPr>
      </p:pic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15"/>
          <a:srcRect t="-2089" b="-2089"/>
          <a:stretch/>
        </p:blipFill>
        <p:spPr>
          <a:xfrm rot="16200000">
            <a:off x="2675992" y="1720672"/>
            <a:ext cx="6858" cy="785927"/>
          </a:xfrm>
          <a:prstGeom prst="rect">
            <a:avLst/>
          </a:prstGeom>
        </p:spPr>
      </p:pic>
      <p:pic>
        <p:nvPicPr>
          <p:cNvPr id="31" name="Image 16" descr="preencoded.png"/>
          <p:cNvPicPr>
            <a:picLocks noChangeAspect="1"/>
          </p:cNvPicPr>
          <p:nvPr/>
        </p:nvPicPr>
        <p:blipFill>
          <a:blip r:embed="rId16"/>
          <a:srcRect t="-68" b="-68"/>
          <a:stretch/>
        </p:blipFill>
        <p:spPr>
          <a:xfrm rot="4800000">
            <a:off x="1754276" y="1381887"/>
            <a:ext cx="168021" cy="915543"/>
          </a:xfrm>
          <a:prstGeom prst="rect">
            <a:avLst/>
          </a:prstGeom>
        </p:spPr>
      </p:pic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7"/>
          <a:srcRect l="-9" r="-9"/>
          <a:stretch/>
        </p:blipFill>
        <p:spPr>
          <a:xfrm rot="900000">
            <a:off x="449884" y="1385317"/>
            <a:ext cx="1519733" cy="413537"/>
          </a:xfrm>
          <a:prstGeom prst="rect">
            <a:avLst/>
          </a:prstGeom>
        </p:spPr>
      </p:pic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18"/>
          <a:srcRect t="-30" b="-30"/>
          <a:stretch/>
        </p:blipFill>
        <p:spPr>
          <a:xfrm rot="11400000">
            <a:off x="1676095" y="1580084"/>
            <a:ext cx="1197407" cy="218084"/>
          </a:xfrm>
          <a:prstGeom prst="rect">
            <a:avLst/>
          </a:prstGeom>
        </p:spPr>
      </p:pic>
      <p:pic>
        <p:nvPicPr>
          <p:cNvPr id="34" name="Image 19" descr="preencoded.png"/>
          <p:cNvPicPr>
            <a:picLocks noChangeAspect="1"/>
          </p:cNvPicPr>
          <p:nvPr/>
        </p:nvPicPr>
        <p:blipFill>
          <a:blip r:embed="rId19"/>
          <a:srcRect t="-2100" b="-2100"/>
          <a:stretch/>
        </p:blipFill>
        <p:spPr>
          <a:xfrm rot="5400000">
            <a:off x="671399" y="1705585"/>
            <a:ext cx="6858" cy="714604"/>
          </a:xfrm>
          <a:prstGeom prst="rect">
            <a:avLst/>
          </a:prstGeom>
        </p:spPr>
      </p:pic>
      <p:pic>
        <p:nvPicPr>
          <p:cNvPr id="35" name="Image 20" descr="preencoded.png"/>
          <p:cNvPicPr>
            <a:picLocks noChangeAspect="1"/>
          </p:cNvPicPr>
          <p:nvPr/>
        </p:nvPicPr>
        <p:blipFill>
          <a:blip r:embed="rId20"/>
          <a:srcRect t="-26" b="-26"/>
          <a:stretch/>
        </p:blipFill>
        <p:spPr>
          <a:xfrm rot="1800000">
            <a:off x="2048485" y="1436065"/>
            <a:ext cx="1178891" cy="685115"/>
          </a:xfrm>
          <a:prstGeom prst="rect">
            <a:avLst/>
          </a:prstGeom>
        </p:spPr>
      </p:pic>
      <p:pic>
        <p:nvPicPr>
          <p:cNvPr id="36" name="Image 21" descr="preencoded.png"/>
          <p:cNvPicPr>
            <a:picLocks noChangeAspect="1"/>
          </p:cNvPicPr>
          <p:nvPr/>
        </p:nvPicPr>
        <p:blipFill>
          <a:blip r:embed="rId21"/>
          <a:srcRect l="-29" r="-29"/>
          <a:stretch/>
        </p:blipFill>
        <p:spPr>
          <a:xfrm rot="18000000">
            <a:off x="3110788" y="1698041"/>
            <a:ext cx="292151" cy="498577"/>
          </a:xfrm>
          <a:prstGeom prst="rect">
            <a:avLst/>
          </a:prstGeom>
        </p:spPr>
      </p:pic>
      <p:pic>
        <p:nvPicPr>
          <p:cNvPr id="37" name="Image 22" descr="preencoded.png"/>
          <p:cNvPicPr>
            <a:picLocks noChangeAspect="1"/>
          </p:cNvPicPr>
          <p:nvPr/>
        </p:nvPicPr>
        <p:blipFill>
          <a:blip r:embed="rId22"/>
          <a:srcRect t="-60" b="-60"/>
          <a:stretch/>
        </p:blipFill>
        <p:spPr>
          <a:xfrm rot="21000000">
            <a:off x="654939" y="1429208"/>
            <a:ext cx="1056818" cy="193396"/>
          </a:xfrm>
          <a:prstGeom prst="rect">
            <a:avLst/>
          </a:prstGeom>
        </p:spPr>
      </p:pic>
      <p:pic>
        <p:nvPicPr>
          <p:cNvPr id="38" name="Image 23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l="-2343" r="-2343"/>
          <a:stretch/>
        </p:blipFill>
        <p:spPr>
          <a:xfrm>
            <a:off x="847648" y="1097280"/>
            <a:ext cx="157049" cy="171450"/>
          </a:xfrm>
          <a:prstGeom prst="rect">
            <a:avLst/>
          </a:prstGeom>
        </p:spPr>
      </p:pic>
      <p:pic>
        <p:nvPicPr>
          <p:cNvPr id="39" name="Image 24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t="-3510" b="-3510"/>
          <a:stretch/>
        </p:blipFill>
        <p:spPr>
          <a:xfrm>
            <a:off x="662483" y="2032712"/>
            <a:ext cx="200254" cy="171450"/>
          </a:xfrm>
          <a:prstGeom prst="rect">
            <a:avLst/>
          </a:prstGeom>
        </p:spPr>
      </p:pic>
      <p:pic>
        <p:nvPicPr>
          <p:cNvPr id="40" name="Image 25" descr="preencoded.png"/>
          <p:cNvPicPr>
            <a:picLocks noChangeAspect="1"/>
          </p:cNvPicPr>
          <p:nvPr/>
        </p:nvPicPr>
        <p:blipFill>
          <a:blip r:embed="rId25">
            <a:alphaModFix amt="90000"/>
          </a:blip>
          <a:srcRect t="-1891" b="-1891"/>
          <a:stretch/>
        </p:blipFill>
        <p:spPr>
          <a:xfrm>
            <a:off x="3435172" y="1437437"/>
            <a:ext cx="185852" cy="171450"/>
          </a:xfrm>
          <a:prstGeom prst="rect">
            <a:avLst/>
          </a:prstGeom>
        </p:spPr>
      </p:pic>
      <p:pic>
        <p:nvPicPr>
          <p:cNvPr id="41" name="Image 26" descr="preencoded.png"/>
          <p:cNvPicPr>
            <a:picLocks noChangeAspect="1"/>
          </p:cNvPicPr>
          <p:nvPr/>
        </p:nvPicPr>
        <p:blipFill>
          <a:blip r:embed="rId26">
            <a:alphaModFix amt="90000"/>
          </a:blip>
          <a:srcRect t="-3510" b="-3510"/>
          <a:stretch/>
        </p:blipFill>
        <p:spPr>
          <a:xfrm>
            <a:off x="2881046" y="1012241"/>
            <a:ext cx="200254" cy="171450"/>
          </a:xfrm>
          <a:prstGeom prst="rect">
            <a:avLst/>
          </a:prstGeom>
        </p:spPr>
      </p:pic>
      <p:pic>
        <p:nvPicPr>
          <p:cNvPr id="42" name="Image 27" descr="preencoded.png"/>
          <p:cNvPicPr>
            <a:picLocks noChangeAspect="1"/>
          </p:cNvPicPr>
          <p:nvPr/>
        </p:nvPicPr>
        <p:blipFill>
          <a:blip r:embed="rId27">
            <a:alphaModFix amt="90000"/>
          </a:blip>
          <a:srcRect/>
          <a:stretch/>
        </p:blipFill>
        <p:spPr>
          <a:xfrm>
            <a:off x="2141068" y="1607516"/>
            <a:ext cx="171450" cy="171450"/>
          </a:xfrm>
          <a:prstGeom prst="rect">
            <a:avLst/>
          </a:prstGeom>
        </p:spPr>
      </p:pic>
      <p:pic>
        <p:nvPicPr>
          <p:cNvPr id="43" name="Image 28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l="-2343" r="-2343"/>
          <a:stretch/>
        </p:blipFill>
        <p:spPr>
          <a:xfrm>
            <a:off x="3065526" y="2117065"/>
            <a:ext cx="157049" cy="171450"/>
          </a:xfrm>
          <a:prstGeom prst="rect">
            <a:avLst/>
          </a:prstGeom>
        </p:spPr>
      </p:pic>
      <p:pic>
        <p:nvPicPr>
          <p:cNvPr id="44" name="Image 29" descr="preencoded.png"/>
          <p:cNvPicPr>
            <a:picLocks noChangeAspect="1"/>
          </p:cNvPicPr>
          <p:nvPr/>
        </p:nvPicPr>
        <p:blipFill>
          <a:blip r:embed="rId28">
            <a:alphaModFix amt="90000"/>
          </a:blip>
          <a:srcRect/>
          <a:stretch/>
        </p:blipFill>
        <p:spPr>
          <a:xfrm>
            <a:off x="1771421" y="1267358"/>
            <a:ext cx="171450" cy="171450"/>
          </a:xfrm>
          <a:prstGeom prst="rect">
            <a:avLst/>
          </a:prstGeom>
        </p:spPr>
      </p:pic>
      <p:pic>
        <p:nvPicPr>
          <p:cNvPr id="45" name="Image 30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t="-3510" b="-3510"/>
          <a:stretch/>
        </p:blipFill>
        <p:spPr>
          <a:xfrm>
            <a:off x="1217295" y="1777594"/>
            <a:ext cx="200254" cy="171450"/>
          </a:xfrm>
          <a:prstGeom prst="rect">
            <a:avLst/>
          </a:prstGeom>
        </p:spPr>
      </p:pic>
      <p:pic>
        <p:nvPicPr>
          <p:cNvPr id="46" name="Image 31" descr="preencoded.png"/>
          <p:cNvPicPr>
            <a:picLocks noChangeAspect="1"/>
          </p:cNvPicPr>
          <p:nvPr/>
        </p:nvPicPr>
        <p:blipFill>
          <a:blip r:embed="rId29">
            <a:alphaModFix amt="90000"/>
          </a:blip>
          <a:srcRect/>
          <a:stretch/>
        </p:blipFill>
        <p:spPr>
          <a:xfrm>
            <a:off x="2141068" y="927202"/>
            <a:ext cx="171450" cy="171450"/>
          </a:xfrm>
          <a:prstGeom prst="rect">
            <a:avLst/>
          </a:prstGeom>
        </p:spPr>
      </p:pic>
      <p:pic>
        <p:nvPicPr>
          <p:cNvPr id="47" name="Image 32" descr="preencoded.png"/>
          <p:cNvPicPr>
            <a:picLocks noChangeAspect="1"/>
          </p:cNvPicPr>
          <p:nvPr/>
        </p:nvPicPr>
        <p:blipFill>
          <a:blip r:embed="rId30">
            <a:alphaModFix amt="90000"/>
          </a:blip>
          <a:srcRect/>
          <a:stretch/>
        </p:blipFill>
        <p:spPr>
          <a:xfrm>
            <a:off x="1771421" y="2202104"/>
            <a:ext cx="171450" cy="171450"/>
          </a:xfrm>
          <a:prstGeom prst="rect">
            <a:avLst/>
          </a:prstGeom>
        </p:spPr>
      </p:pic>
      <p:pic>
        <p:nvPicPr>
          <p:cNvPr id="48" name="Image 33" descr="preencoded.png"/>
          <p:cNvPicPr>
            <a:picLocks noChangeAspect="1"/>
          </p:cNvPicPr>
          <p:nvPr/>
        </p:nvPicPr>
        <p:blipFill>
          <a:blip r:embed="rId31">
            <a:alphaModFix amt="90000"/>
          </a:blip>
          <a:srcRect l="-5467" r="-5467"/>
          <a:stretch/>
        </p:blipFill>
        <p:spPr>
          <a:xfrm>
            <a:off x="478003" y="1352398"/>
            <a:ext cx="142646" cy="171450"/>
          </a:xfrm>
          <a:prstGeom prst="rect">
            <a:avLst/>
          </a:prstGeom>
        </p:spPr>
      </p:pic>
      <p:pic>
        <p:nvPicPr>
          <p:cNvPr id="49" name="Image 34" descr="preencoded.png"/>
          <p:cNvPicPr>
            <a:picLocks noChangeAspect="1"/>
          </p:cNvPicPr>
          <p:nvPr/>
        </p:nvPicPr>
        <p:blipFill>
          <a:blip r:embed="rId32">
            <a:alphaModFix amt="90000"/>
          </a:blip>
          <a:srcRect t="-3510" b="-3510"/>
          <a:stretch/>
        </p:blipFill>
        <p:spPr>
          <a:xfrm>
            <a:off x="3620339" y="1861947"/>
            <a:ext cx="200254" cy="171450"/>
          </a:xfrm>
          <a:prstGeom prst="rect">
            <a:avLst/>
          </a:prstGeom>
        </p:spPr>
      </p:pic>
      <p:pic>
        <p:nvPicPr>
          <p:cNvPr id="50" name="Image 35" descr="preencoded.png"/>
          <p:cNvPicPr>
            <a:picLocks noChangeAspect="1"/>
          </p:cNvPicPr>
          <p:nvPr/>
        </p:nvPicPr>
        <p:blipFill>
          <a:blip r:embed="rId33">
            <a:alphaModFix amt="90000"/>
          </a:blip>
          <a:srcRect/>
          <a:stretch/>
        </p:blipFill>
        <p:spPr>
          <a:xfrm>
            <a:off x="2881046" y="1692554"/>
            <a:ext cx="171450" cy="171450"/>
          </a:xfrm>
          <a:prstGeom prst="rect">
            <a:avLst/>
          </a:prstGeom>
        </p:spPr>
      </p:pic>
      <p:pic>
        <p:nvPicPr>
          <p:cNvPr id="51" name="Image 36" descr="preencoded.png"/>
          <p:cNvPicPr>
            <a:picLocks noChangeAspect="1"/>
          </p:cNvPicPr>
          <p:nvPr/>
        </p:nvPicPr>
        <p:blipFill>
          <a:blip r:embed="rId34">
            <a:alphaModFix amt="90000"/>
          </a:blip>
          <a:srcRect t="-1891" b="-1891"/>
          <a:stretch/>
        </p:blipFill>
        <p:spPr>
          <a:xfrm>
            <a:off x="3620338" y="1182320"/>
            <a:ext cx="185852" cy="171450"/>
          </a:xfrm>
          <a:prstGeom prst="rect">
            <a:avLst/>
          </a:prstGeom>
        </p:spPr>
      </p:pic>
      <p:pic>
        <p:nvPicPr>
          <p:cNvPr id="52" name="Image 37" descr="preencoded.png"/>
          <p:cNvPicPr>
            <a:picLocks noChangeAspect="1"/>
          </p:cNvPicPr>
          <p:nvPr/>
        </p:nvPicPr>
        <p:blipFill>
          <a:blip r:embed="rId35">
            <a:alphaModFix amt="90000"/>
          </a:blip>
          <a:srcRect l="-2343" r="-2343"/>
          <a:stretch/>
        </p:blipFill>
        <p:spPr>
          <a:xfrm>
            <a:off x="1032129" y="1522476"/>
            <a:ext cx="157049" cy="171450"/>
          </a:xfrm>
          <a:prstGeom prst="rect">
            <a:avLst/>
          </a:prstGeom>
        </p:spPr>
      </p:pic>
      <p:sp>
        <p:nvSpPr>
          <p:cNvPr id="53" name="Shape 13"/>
          <p:cNvSpPr/>
          <p:nvPr/>
        </p:nvSpPr>
        <p:spPr>
          <a:xfrm>
            <a:off x="364160" y="828447"/>
            <a:ext cx="800329" cy="200254"/>
          </a:xfrm>
          <a:prstGeom prst="roundRect">
            <a:avLst>
              <a:gd name="adj" fmla="val 97847"/>
            </a:avLst>
          </a:prstGeom>
          <a:solidFill>
            <a:srgbClr val="000000">
              <a:alpha val="80000"/>
            </a:srgbClr>
          </a:solidFill>
          <a:ln w="12700">
            <a:solidFill>
              <a:srgbClr val="FF5E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4" name="Text 14"/>
          <p:cNvSpPr txBox="1"/>
          <p:nvPr/>
        </p:nvSpPr>
        <p:spPr>
          <a:xfrm>
            <a:off x="364160" y="828447"/>
            <a:ext cx="84353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28575" rIns="57150" bIns="28575" rtlCol="0" anchor="ctr"/>
          <a:lstStyle/>
          <a:p>
            <a:r>
              <a:rPr lang="en-US" sz="675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STATE</a:t>
            </a:r>
            <a:endParaRPr lang="en-US" sz="675" dirty="0"/>
          </a:p>
        </p:txBody>
      </p:sp>
      <p:pic>
        <p:nvPicPr>
          <p:cNvPr id="55" name="Image 38" descr="preencoded.png"/>
          <p:cNvPicPr>
            <a:picLocks noChangeAspect="1"/>
          </p:cNvPicPr>
          <p:nvPr/>
        </p:nvPicPr>
        <p:blipFill>
          <a:blip r:embed="rId36"/>
          <a:srcRect l="-17" r="-17"/>
          <a:stretch/>
        </p:blipFill>
        <p:spPr>
          <a:xfrm>
            <a:off x="4861637" y="1080135"/>
            <a:ext cx="250317" cy="285979"/>
          </a:xfrm>
          <a:prstGeom prst="rect">
            <a:avLst/>
          </a:prstGeom>
        </p:spPr>
      </p:pic>
      <p:sp>
        <p:nvSpPr>
          <p:cNvPr id="56" name="Text 15"/>
          <p:cNvSpPr txBox="1"/>
          <p:nvPr/>
        </p:nvSpPr>
        <p:spPr>
          <a:xfrm>
            <a:off x="4861637" y="1508761"/>
            <a:ext cx="2857729" cy="550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5E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Overwhelm</a:t>
            </a:r>
            <a:r>
              <a:rPr lang="en-US" sz="1800" b="1" dirty="0">
                <a:solidFill>
                  <a:srgbClr val="E5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doesn't mean</a:t>
            </a:r>
            <a:endParaRPr lang="en-US" sz="1800" dirty="0"/>
          </a:p>
          <a:p>
            <a:r>
              <a:rPr lang="en-US" sz="1800" b="1" dirty="0">
                <a:solidFill>
                  <a:srgbClr val="E5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'don't build'. </a:t>
            </a:r>
            <a:endParaRPr lang="en-US" sz="1800" dirty="0"/>
          </a:p>
        </p:txBody>
      </p:sp>
      <p:sp>
        <p:nvSpPr>
          <p:cNvPr id="57" name="Shape 16"/>
          <p:cNvSpPr/>
          <p:nvPr/>
        </p:nvSpPr>
        <p:spPr>
          <a:xfrm>
            <a:off x="4861637" y="2343379"/>
            <a:ext cx="28804" cy="457429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8" name="Text 17"/>
          <p:cNvSpPr txBox="1"/>
          <p:nvPr/>
        </p:nvSpPr>
        <p:spPr>
          <a:xfrm>
            <a:off x="5033087" y="2343379"/>
            <a:ext cx="3686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 WELL</a:t>
            </a:r>
            <a:endParaRPr lang="en-US" sz="2025" dirty="0"/>
          </a:p>
        </p:txBody>
      </p:sp>
      <p:sp>
        <p:nvSpPr>
          <p:cNvPr id="59" name="Text 18"/>
          <p:cNvSpPr txBox="1"/>
          <p:nvPr/>
        </p:nvSpPr>
        <p:spPr>
          <a:xfrm>
            <a:off x="5033087" y="2657475"/>
            <a:ext cx="3629254" cy="14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• Data • Flows • Roadmap</a:t>
            </a:r>
            <a:endParaRPr lang="en-US" sz="750" dirty="0"/>
          </a:p>
        </p:txBody>
      </p:sp>
      <p:sp>
        <p:nvSpPr>
          <p:cNvPr id="60" name="Shape 19"/>
          <p:cNvSpPr/>
          <p:nvPr/>
        </p:nvSpPr>
        <p:spPr>
          <a:xfrm>
            <a:off x="4861637" y="2976372"/>
            <a:ext cx="28804" cy="457429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1" name="Text 20"/>
          <p:cNvSpPr txBox="1"/>
          <p:nvPr/>
        </p:nvSpPr>
        <p:spPr>
          <a:xfrm>
            <a:off x="5033087" y="2976372"/>
            <a:ext cx="3686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dirty="0">
                <a:solidFill>
                  <a:srgbClr val="D946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MODULAR</a:t>
            </a:r>
            <a:endParaRPr lang="en-US" sz="2025" dirty="0"/>
          </a:p>
        </p:txBody>
      </p:sp>
      <p:sp>
        <p:nvSpPr>
          <p:cNvPr id="62" name="Text 21"/>
          <p:cNvSpPr txBox="1"/>
          <p:nvPr/>
        </p:nvSpPr>
        <p:spPr>
          <a:xfrm>
            <a:off x="5033087" y="3290468"/>
            <a:ext cx="3629254" cy="14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small • Add incrementally • One block at a time</a:t>
            </a:r>
            <a:endParaRPr lang="en-US" sz="750" dirty="0"/>
          </a:p>
        </p:txBody>
      </p:sp>
      <p:sp>
        <p:nvSpPr>
          <p:cNvPr id="63" name="Shape 22"/>
          <p:cNvSpPr/>
          <p:nvPr/>
        </p:nvSpPr>
        <p:spPr>
          <a:xfrm>
            <a:off x="4861637" y="3609366"/>
            <a:ext cx="28804" cy="45742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4" name="Text 23"/>
          <p:cNvSpPr txBox="1"/>
          <p:nvPr/>
        </p:nvSpPr>
        <p:spPr>
          <a:xfrm>
            <a:off x="5033087" y="3609365"/>
            <a:ext cx="3686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KEEP PLANNING</a:t>
            </a:r>
            <a:endParaRPr lang="en-US" sz="2025" dirty="0"/>
          </a:p>
        </p:txBody>
      </p:sp>
      <p:sp>
        <p:nvSpPr>
          <p:cNvPr id="65" name="Text 24"/>
          <p:cNvSpPr txBox="1"/>
          <p:nvPr/>
        </p:nvSpPr>
        <p:spPr>
          <a:xfrm>
            <a:off x="5033087" y="3923461"/>
            <a:ext cx="3629254" cy="14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 evolve as you learn • Stay current</a:t>
            </a:r>
            <a:endParaRPr lang="en-US" sz="750" dirty="0"/>
          </a:p>
        </p:txBody>
      </p:sp>
      <p:sp>
        <p:nvSpPr>
          <p:cNvPr id="66" name="Shape 25"/>
          <p:cNvSpPr/>
          <p:nvPr/>
        </p:nvSpPr>
        <p:spPr>
          <a:xfrm>
            <a:off x="8787156" y="214655"/>
            <a:ext cx="142646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7" name="Shape 26"/>
          <p:cNvSpPr/>
          <p:nvPr/>
        </p:nvSpPr>
        <p:spPr>
          <a:xfrm>
            <a:off x="8915400" y="214656"/>
            <a:ext cx="14402" cy="14264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8" name="Shape 27"/>
          <p:cNvSpPr/>
          <p:nvPr/>
        </p:nvSpPr>
        <p:spPr>
          <a:xfrm>
            <a:off x="8787156" y="4915129"/>
            <a:ext cx="142646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9" name="Shape 28"/>
          <p:cNvSpPr/>
          <p:nvPr/>
        </p:nvSpPr>
        <p:spPr>
          <a:xfrm>
            <a:off x="8915400" y="4786199"/>
            <a:ext cx="14402" cy="14264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B8DC4C3D-5F38-13FD-59D4-ACF2CEECC40A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614405" y="4343995"/>
            <a:ext cx="3851454" cy="51352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5979" y="2964714"/>
            <a:ext cx="3714979" cy="1428521"/>
          </a:xfrm>
          <a:prstGeom prst="roundRect">
            <a:avLst>
              <a:gd name="adj" fmla="val 5761"/>
            </a:avLst>
          </a:prstGeom>
          <a:solidFill>
            <a:srgbClr val="00FF94">
              <a:alpha val="5000"/>
            </a:srgbClr>
          </a:solidFill>
          <a:ln w="12700">
            <a:solidFill>
              <a:srgbClr val="00FF9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2067" y="821588"/>
            <a:ext cx="3500324" cy="35003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5979" y="285979"/>
            <a:ext cx="714604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" name="Shape 3"/>
          <p:cNvSpPr/>
          <p:nvPr/>
        </p:nvSpPr>
        <p:spPr>
          <a:xfrm>
            <a:off x="285979" y="285979"/>
            <a:ext cx="14402" cy="7146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7" name="Shape 4"/>
          <p:cNvSpPr/>
          <p:nvPr/>
        </p:nvSpPr>
        <p:spPr>
          <a:xfrm>
            <a:off x="8143875" y="4843120"/>
            <a:ext cx="714604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8" name="Shape 5"/>
          <p:cNvSpPr/>
          <p:nvPr/>
        </p:nvSpPr>
        <p:spPr>
          <a:xfrm>
            <a:off x="8844076" y="4143604"/>
            <a:ext cx="14402" cy="7146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Text 6"/>
          <p:cNvSpPr txBox="1"/>
          <p:nvPr/>
        </p:nvSpPr>
        <p:spPr>
          <a:xfrm>
            <a:off x="2878303" y="3300756"/>
            <a:ext cx="3393338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kern="0" spc="113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• Strategy • Roadmap</a:t>
            </a:r>
            <a:endParaRPr lang="en-US" sz="1125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03" r="-103"/>
          <a:stretch/>
        </p:blipFill>
        <p:spPr>
          <a:xfrm>
            <a:off x="3701949" y="485546"/>
            <a:ext cx="1743304" cy="4430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70402" y="485546"/>
            <a:ext cx="1807769" cy="443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kern="0" spc="405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 1</a:t>
            </a:r>
            <a:endParaRPr lang="en-US" dirty="0"/>
          </a:p>
        </p:txBody>
      </p:sp>
      <p:sp>
        <p:nvSpPr>
          <p:cNvPr id="12" name="Text 8"/>
          <p:cNvSpPr txBox="1"/>
          <p:nvPr/>
        </p:nvSpPr>
        <p:spPr>
          <a:xfrm>
            <a:off x="3336418" y="1214552"/>
            <a:ext cx="2474366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75" b="1" kern="0" spc="-31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7875" dirty="0"/>
          </a:p>
          <a:p>
            <a:pPr algn="ctr"/>
            <a:r>
              <a:rPr lang="en-US" sz="7875" b="1" kern="0" spc="-31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WELL</a:t>
            </a:r>
            <a:endParaRPr lang="en-US" sz="7875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4564684" y="3943350"/>
            <a:ext cx="14402" cy="71460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35881" y="4586630"/>
            <a:ext cx="71324" cy="71324"/>
          </a:xfrm>
          <a:prstGeom prst="ellipse">
            <a:avLst/>
          </a:prstGeom>
          <a:solidFill>
            <a:srgbClr val="00FF9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00FF94">
                <a:alpha val="100000"/>
              </a:srgbClr>
            </a:outerShdw>
          </a:effectLst>
        </p:spPr>
        <p:txBody>
          <a:bodyPr/>
          <a:lstStyle/>
          <a:p>
            <a:endParaRPr lang="en-US" sz="1013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71271" y="101498"/>
            <a:ext cx="4543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8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REPORT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71272" y="101498"/>
            <a:ext cx="214655" cy="14402"/>
          </a:xfrm>
          <a:prstGeom prst="rect">
            <a:avLst/>
          </a:prstGeom>
          <a:solidFill>
            <a:srgbClr val="00FF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" name="Text 4"/>
          <p:cNvSpPr txBox="1"/>
          <p:nvPr/>
        </p:nvSpPr>
        <p:spPr>
          <a:xfrm>
            <a:off x="571272" y="415595"/>
            <a:ext cx="4586630" cy="757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kern="0" spc="-5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Planning for Event Builder 360</a:t>
            </a:r>
            <a:endParaRPr lang="en-US" sz="27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848E919-4FED-7754-F8EC-281200B71052}"/>
              </a:ext>
            </a:extLst>
          </p:cNvPr>
          <p:cNvGrpSpPr/>
          <p:nvPr/>
        </p:nvGrpSpPr>
        <p:grpSpPr>
          <a:xfrm>
            <a:off x="571271" y="1455954"/>
            <a:ext cx="4457700" cy="628879"/>
            <a:chOff x="571271" y="1455954"/>
            <a:chExt cx="4457700" cy="628879"/>
          </a:xfrm>
        </p:grpSpPr>
        <p:sp>
          <p:nvSpPr>
            <p:cNvPr id="7" name="Shape 5"/>
            <p:cNvSpPr/>
            <p:nvPr/>
          </p:nvSpPr>
          <p:spPr>
            <a:xfrm>
              <a:off x="571271" y="1455954"/>
              <a:ext cx="4457700" cy="628879"/>
            </a:xfrm>
            <a:prstGeom prst="roundRect">
              <a:avLst>
                <a:gd name="adj" fmla="val 29741"/>
              </a:avLst>
            </a:prstGeom>
            <a:solidFill>
              <a:srgbClr val="FFFFFF">
                <a:alpha val="3000"/>
              </a:srgbClr>
            </a:solidFill>
            <a:ln w="12700">
              <a:solidFill>
                <a:srgbClr val="222222"/>
              </a:solidFill>
              <a:prstDash val="solid"/>
            </a:ln>
          </p:spPr>
          <p:txBody>
            <a:bodyPr/>
            <a:lstStyle/>
            <a:p>
              <a:endParaRPr lang="en-US" sz="1013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92658" y="1591742"/>
              <a:ext cx="171450" cy="171450"/>
            </a:xfrm>
            <a:prstGeom prst="rect">
              <a:avLst/>
            </a:prstGeom>
          </p:spPr>
        </p:pic>
        <p:sp>
          <p:nvSpPr>
            <p:cNvPr id="9" name="Text 6"/>
            <p:cNvSpPr txBox="1"/>
            <p:nvPr/>
          </p:nvSpPr>
          <p:spPr>
            <a:xfrm>
              <a:off x="1007441" y="1577341"/>
              <a:ext cx="3986555" cy="214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25" b="1" dirty="0">
                  <a:solidFill>
                    <a:srgbClr val="E5E5E5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Big Idea</a:t>
              </a:r>
              <a:endParaRPr lang="en-US" sz="1125" dirty="0"/>
            </a:p>
          </p:txBody>
        </p:sp>
        <p:sp>
          <p:nvSpPr>
            <p:cNvPr id="10" name="Text 7"/>
            <p:cNvSpPr txBox="1"/>
            <p:nvPr/>
          </p:nvSpPr>
          <p:spPr>
            <a:xfrm>
              <a:off x="1007441" y="1820113"/>
              <a:ext cx="3986555" cy="143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0" dirty="0">
                  <a:solidFill>
                    <a:srgbClr val="88888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Vision defined. Scope clear.</a:t>
              </a:r>
              <a:endParaRPr lang="en-US" sz="75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38E1EBE-DCA0-87CD-1E9B-89864F44EDB3}"/>
              </a:ext>
            </a:extLst>
          </p:cNvPr>
          <p:cNvGrpSpPr/>
          <p:nvPr/>
        </p:nvGrpSpPr>
        <p:grpSpPr>
          <a:xfrm>
            <a:off x="571271" y="2195932"/>
            <a:ext cx="4457700" cy="628879"/>
            <a:chOff x="571271" y="2195932"/>
            <a:chExt cx="4457700" cy="628879"/>
          </a:xfrm>
        </p:grpSpPr>
        <p:sp>
          <p:nvSpPr>
            <p:cNvPr id="11" name="Shape 8"/>
            <p:cNvSpPr/>
            <p:nvPr/>
          </p:nvSpPr>
          <p:spPr>
            <a:xfrm>
              <a:off x="571271" y="2195932"/>
              <a:ext cx="4457700" cy="628879"/>
            </a:xfrm>
            <a:prstGeom prst="roundRect">
              <a:avLst>
                <a:gd name="adj" fmla="val 29741"/>
              </a:avLst>
            </a:prstGeom>
            <a:solidFill>
              <a:srgbClr val="FFFFFF">
                <a:alpha val="3000"/>
              </a:srgbClr>
            </a:solidFill>
            <a:ln w="12700">
              <a:solidFill>
                <a:srgbClr val="222222"/>
              </a:solidFill>
              <a:prstDash val="solid"/>
            </a:ln>
          </p:spPr>
          <p:txBody>
            <a:bodyPr/>
            <a:lstStyle/>
            <a:p>
              <a:endParaRPr lang="en-US" sz="1013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92658" y="2331720"/>
              <a:ext cx="171450" cy="171450"/>
            </a:xfrm>
            <a:prstGeom prst="rect">
              <a:avLst/>
            </a:prstGeom>
          </p:spPr>
        </p:pic>
        <p:sp>
          <p:nvSpPr>
            <p:cNvPr id="13" name="Text 9"/>
            <p:cNvSpPr txBox="1"/>
            <p:nvPr/>
          </p:nvSpPr>
          <p:spPr>
            <a:xfrm>
              <a:off x="1007441" y="2317319"/>
              <a:ext cx="3986555" cy="214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25" b="1" dirty="0">
                  <a:solidFill>
                    <a:srgbClr val="E5E5E5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Problem Definition</a:t>
              </a:r>
              <a:endParaRPr lang="en-US" sz="1125" dirty="0"/>
            </a:p>
          </p:txBody>
        </p:sp>
        <p:sp>
          <p:nvSpPr>
            <p:cNvPr id="14" name="Text 10"/>
            <p:cNvSpPr txBox="1"/>
            <p:nvPr/>
          </p:nvSpPr>
          <p:spPr>
            <a:xfrm>
              <a:off x="1007441" y="2560091"/>
              <a:ext cx="3986555" cy="143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0" dirty="0">
                  <a:solidFill>
                    <a:srgbClr val="88888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Incomplete. Needs specific user pain points.</a:t>
              </a:r>
              <a:endParaRPr lang="en-US" sz="75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2DE92E6-04F6-B394-7180-5E21E86A6D33}"/>
              </a:ext>
            </a:extLst>
          </p:cNvPr>
          <p:cNvGrpSpPr/>
          <p:nvPr/>
        </p:nvGrpSpPr>
        <p:grpSpPr>
          <a:xfrm>
            <a:off x="571271" y="3675888"/>
            <a:ext cx="4457700" cy="628879"/>
            <a:chOff x="571271" y="3675888"/>
            <a:chExt cx="4457700" cy="628879"/>
          </a:xfrm>
        </p:grpSpPr>
        <p:sp>
          <p:nvSpPr>
            <p:cNvPr id="18" name="Shape 13"/>
            <p:cNvSpPr/>
            <p:nvPr/>
          </p:nvSpPr>
          <p:spPr>
            <a:xfrm>
              <a:off x="571271" y="3675888"/>
              <a:ext cx="4457700" cy="628879"/>
            </a:xfrm>
            <a:prstGeom prst="roundRect">
              <a:avLst>
                <a:gd name="adj" fmla="val 29741"/>
              </a:avLst>
            </a:prstGeom>
            <a:solidFill>
              <a:srgbClr val="FFFFFF">
                <a:alpha val="3000"/>
              </a:srgbClr>
            </a:solidFill>
            <a:ln w="12700">
              <a:solidFill>
                <a:srgbClr val="222222"/>
              </a:solidFill>
              <a:prstDash val="solid"/>
            </a:ln>
          </p:spPr>
          <p:txBody>
            <a:bodyPr/>
            <a:lstStyle/>
            <a:p>
              <a:endParaRPr lang="en-US" sz="1013"/>
            </a:p>
          </p:txBody>
        </p:sp>
        <p:pic>
          <p:nvPicPr>
            <p:cNvPr id="19" name="Image 3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92658" y="3811676"/>
              <a:ext cx="171450" cy="171450"/>
            </a:xfrm>
            <a:prstGeom prst="rect">
              <a:avLst/>
            </a:prstGeom>
          </p:spPr>
        </p:pic>
        <p:sp>
          <p:nvSpPr>
            <p:cNvPr id="20" name="Text 14"/>
            <p:cNvSpPr txBox="1"/>
            <p:nvPr/>
          </p:nvSpPr>
          <p:spPr>
            <a:xfrm>
              <a:off x="1007441" y="3797275"/>
              <a:ext cx="3986555" cy="214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25" b="1" dirty="0">
                  <a:solidFill>
                    <a:srgbClr val="E5E5E5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Code Framework</a:t>
              </a:r>
              <a:endParaRPr lang="en-US" sz="1125" dirty="0"/>
            </a:p>
          </p:txBody>
        </p:sp>
        <p:sp>
          <p:nvSpPr>
            <p:cNvPr id="21" name="Text 15"/>
            <p:cNvSpPr txBox="1"/>
            <p:nvPr/>
          </p:nvSpPr>
          <p:spPr>
            <a:xfrm>
              <a:off x="1007441" y="4040734"/>
              <a:ext cx="3986555" cy="143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0" dirty="0">
                  <a:solidFill>
                    <a:srgbClr val="88888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Initial prototype scaffolded.</a:t>
              </a:r>
              <a:endParaRPr lang="en-US" sz="75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BDAF09C-8367-C3CE-99FC-B33B457639FC}"/>
              </a:ext>
            </a:extLst>
          </p:cNvPr>
          <p:cNvGrpSpPr/>
          <p:nvPr/>
        </p:nvGrpSpPr>
        <p:grpSpPr>
          <a:xfrm>
            <a:off x="571271" y="4415867"/>
            <a:ext cx="4457700" cy="628879"/>
            <a:chOff x="571271" y="4415867"/>
            <a:chExt cx="4457700" cy="628879"/>
          </a:xfrm>
        </p:grpSpPr>
        <p:sp>
          <p:nvSpPr>
            <p:cNvPr id="22" name="Shape 16"/>
            <p:cNvSpPr/>
            <p:nvPr/>
          </p:nvSpPr>
          <p:spPr>
            <a:xfrm>
              <a:off x="571271" y="4415867"/>
              <a:ext cx="4457700" cy="628879"/>
            </a:xfrm>
            <a:prstGeom prst="roundRect">
              <a:avLst>
                <a:gd name="adj" fmla="val 29741"/>
              </a:avLst>
            </a:prstGeom>
            <a:solidFill>
              <a:srgbClr val="FFFFFF">
                <a:alpha val="3000"/>
              </a:srgbClr>
            </a:solidFill>
            <a:ln w="12700">
              <a:solidFill>
                <a:srgbClr val="222222"/>
              </a:solidFill>
              <a:prstDash val="solid"/>
            </a:ln>
          </p:spPr>
          <p:txBody>
            <a:bodyPr/>
            <a:lstStyle/>
            <a:p>
              <a:endParaRPr lang="en-US" sz="1013"/>
            </a:p>
          </p:txBody>
        </p:sp>
        <p:pic>
          <p:nvPicPr>
            <p:cNvPr id="23" name="Image 4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92658" y="4551655"/>
              <a:ext cx="171450" cy="171450"/>
            </a:xfrm>
            <a:prstGeom prst="rect">
              <a:avLst/>
            </a:prstGeom>
          </p:spPr>
        </p:pic>
        <p:sp>
          <p:nvSpPr>
            <p:cNvPr id="24" name="Text 17"/>
            <p:cNvSpPr txBox="1"/>
            <p:nvPr/>
          </p:nvSpPr>
          <p:spPr>
            <a:xfrm>
              <a:off x="1007441" y="4537939"/>
              <a:ext cx="3986555" cy="214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25" b="1" dirty="0">
                  <a:solidFill>
                    <a:srgbClr val="E5E5E5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Modular Coding</a:t>
              </a:r>
              <a:endParaRPr lang="en-US" sz="1125" dirty="0"/>
            </a:p>
          </p:txBody>
        </p:sp>
        <p:sp>
          <p:nvSpPr>
            <p:cNvPr id="25" name="Text 18"/>
            <p:cNvSpPr txBox="1"/>
            <p:nvPr/>
          </p:nvSpPr>
          <p:spPr>
            <a:xfrm>
              <a:off x="1007441" y="4780711"/>
              <a:ext cx="3986555" cy="143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0" dirty="0">
                  <a:solidFill>
                    <a:srgbClr val="88888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Not started. Next phase.</a:t>
              </a:r>
              <a:endParaRPr lang="en-US" sz="75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E62CBDF-AB82-8BF9-743D-CAB3347F5128}"/>
              </a:ext>
            </a:extLst>
          </p:cNvPr>
          <p:cNvGrpSpPr/>
          <p:nvPr/>
        </p:nvGrpSpPr>
        <p:grpSpPr>
          <a:xfrm>
            <a:off x="581559" y="2937775"/>
            <a:ext cx="4901413" cy="625450"/>
            <a:chOff x="6115965" y="4210027"/>
            <a:chExt cx="4901413" cy="625450"/>
          </a:xfrm>
        </p:grpSpPr>
        <p:sp>
          <p:nvSpPr>
            <p:cNvPr id="17" name="Text 12"/>
            <p:cNvSpPr txBox="1"/>
            <p:nvPr/>
          </p:nvSpPr>
          <p:spPr>
            <a:xfrm>
              <a:off x="6673520" y="4586973"/>
              <a:ext cx="4343858" cy="143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0" dirty="0">
                  <a:solidFill>
                    <a:srgbClr val="88888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Partially done. </a:t>
              </a:r>
              <a:r>
                <a:rPr lang="en-US" sz="750" dirty="0">
                  <a:solidFill>
                    <a:srgbClr val="00FF94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Cursor Rules</a:t>
              </a:r>
              <a:r>
                <a:rPr lang="en-US" sz="750" dirty="0">
                  <a:solidFill>
                    <a:srgbClr val="88888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, </a:t>
              </a:r>
              <a:r>
                <a:rPr lang="en-US" sz="750" dirty="0">
                  <a:solidFill>
                    <a:srgbClr val="00FF94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Folder Structure</a:t>
              </a:r>
              <a:r>
                <a:rPr lang="en-US" sz="750" dirty="0">
                  <a:solidFill>
                    <a:srgbClr val="88888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, </a:t>
              </a:r>
              <a:r>
                <a:rPr lang="en-US" sz="750" dirty="0">
                  <a:solidFill>
                    <a:srgbClr val="00FF94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Architecture</a:t>
              </a:r>
              <a:r>
                <a:rPr lang="en-US" sz="750" dirty="0">
                  <a:solidFill>
                    <a:srgbClr val="88888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prepared.</a:t>
              </a:r>
              <a:endParaRPr lang="en-US" sz="750" dirty="0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1755478-67E1-6667-E3C4-F04802347041}"/>
                </a:ext>
              </a:extLst>
            </p:cNvPr>
            <p:cNvGrpSpPr/>
            <p:nvPr/>
          </p:nvGrpSpPr>
          <p:grpSpPr>
            <a:xfrm>
              <a:off x="6115965" y="4210027"/>
              <a:ext cx="4457700" cy="625450"/>
              <a:chOff x="571271" y="2935910"/>
              <a:chExt cx="4457700" cy="625450"/>
            </a:xfrm>
          </p:grpSpPr>
          <p:pic>
            <p:nvPicPr>
              <p:cNvPr id="15" name="Image 2" descr="preencoded.png"/>
              <p:cNvPicPr>
                <a:picLocks noChangeAspect="1"/>
              </p:cNvPicPr>
              <p:nvPr/>
            </p:nvPicPr>
            <p:blipFill>
              <a:blip r:embed="rId6"/>
              <a:srcRect l="-24" r="-24"/>
              <a:stretch/>
            </p:blipFill>
            <p:spPr>
              <a:xfrm>
                <a:off x="571271" y="2935910"/>
                <a:ext cx="4457700" cy="625450"/>
              </a:xfrm>
              <a:prstGeom prst="rect">
                <a:avLst/>
              </a:prstGeom>
            </p:spPr>
          </p:pic>
          <p:sp>
            <p:nvSpPr>
              <p:cNvPr id="16" name="Text 11"/>
              <p:cNvSpPr txBox="1"/>
              <p:nvPr/>
            </p:nvSpPr>
            <p:spPr>
              <a:xfrm>
                <a:off x="1078763" y="3057297"/>
                <a:ext cx="3915233" cy="2146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125" b="1" dirty="0">
                    <a:solidFill>
                      <a:srgbClr val="E5E5E5"/>
                    </a:solidFill>
                    <a:latin typeface="Space Grotesk" pitchFamily="34" charset="0"/>
                    <a:ea typeface="Space Grotesk" pitchFamily="34" charset="-122"/>
                    <a:cs typeface="Space Grotesk" pitchFamily="34" charset="-120"/>
                  </a:rPr>
                  <a:t>Technical Planning</a:t>
                </a:r>
                <a:endParaRPr lang="en-US" sz="1125" dirty="0"/>
              </a:p>
            </p:txBody>
          </p:sp>
          <p:pic>
            <p:nvPicPr>
              <p:cNvPr id="26" name="Image 5" descr="preencoded.png"/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642595" y="3021635"/>
                <a:ext cx="349758" cy="349758"/>
              </a:xfrm>
              <a:prstGeom prst="rect">
                <a:avLst/>
              </a:prstGeom>
            </p:spPr>
          </p:pic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58D1D4C-3915-5C4E-474C-1C36F8129DBF}"/>
              </a:ext>
            </a:extLst>
          </p:cNvPr>
          <p:cNvGrpSpPr/>
          <p:nvPr/>
        </p:nvGrpSpPr>
        <p:grpSpPr>
          <a:xfrm>
            <a:off x="5186705" y="1060933"/>
            <a:ext cx="3616910" cy="3023006"/>
            <a:chOff x="5186705" y="1060933"/>
            <a:chExt cx="3616910" cy="3023006"/>
          </a:xfrm>
        </p:grpSpPr>
        <p:sp>
          <p:nvSpPr>
            <p:cNvPr id="27" name="Shape 19"/>
            <p:cNvSpPr/>
            <p:nvPr/>
          </p:nvSpPr>
          <p:spPr>
            <a:xfrm>
              <a:off x="5600929" y="1332509"/>
              <a:ext cx="2971571" cy="2479167"/>
            </a:xfrm>
            <a:prstGeom prst="roundRect">
              <a:avLst>
                <a:gd name="adj" fmla="val 3189"/>
              </a:avLst>
            </a:prstGeom>
            <a:solidFill>
              <a:srgbClr val="111111"/>
            </a:solidFill>
            <a:ln w="25400">
              <a:solidFill>
                <a:srgbClr val="444444"/>
              </a:solidFill>
              <a:prstDash val="solid"/>
            </a:ln>
          </p:spPr>
          <p:txBody>
            <a:bodyPr/>
            <a:lstStyle/>
            <a:p>
              <a:endParaRPr lang="en-US" sz="1013"/>
            </a:p>
          </p:txBody>
        </p:sp>
        <p:pic>
          <p:nvPicPr>
            <p:cNvPr id="28" name="Image 6" descr="preencoded.png"/>
            <p:cNvPicPr>
              <a:picLocks noChangeAspect="1"/>
            </p:cNvPicPr>
            <p:nvPr/>
          </p:nvPicPr>
          <p:blipFill>
            <a:blip r:embed="rId8">
              <a:alphaModFix amt="99000"/>
            </a:blip>
            <a:srcRect l="-143" r="-143"/>
            <a:stretch/>
          </p:blipFill>
          <p:spPr>
            <a:xfrm>
              <a:off x="6789420" y="1631519"/>
              <a:ext cx="600075" cy="478688"/>
            </a:xfrm>
            <a:prstGeom prst="rect">
              <a:avLst/>
            </a:prstGeom>
          </p:spPr>
        </p:pic>
        <p:sp>
          <p:nvSpPr>
            <p:cNvPr id="29" name="Text 20"/>
            <p:cNvSpPr txBox="1"/>
            <p:nvPr/>
          </p:nvSpPr>
          <p:spPr>
            <a:xfrm>
              <a:off x="6204433" y="2318004"/>
              <a:ext cx="1765935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FFFFFF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Live Walkthrough</a:t>
              </a:r>
              <a:endParaRPr lang="en-US" dirty="0"/>
            </a:p>
          </p:txBody>
        </p:sp>
        <p:sp>
          <p:nvSpPr>
            <p:cNvPr id="30" name="Shape 21"/>
            <p:cNvSpPr/>
            <p:nvPr/>
          </p:nvSpPr>
          <p:spPr>
            <a:xfrm>
              <a:off x="5919139" y="2718512"/>
              <a:ext cx="2335835" cy="207112"/>
            </a:xfrm>
            <a:prstGeom prst="roundRect">
              <a:avLst>
                <a:gd name="adj" fmla="val 91345"/>
              </a:avLst>
            </a:prstGeom>
            <a:solidFill>
              <a:srgbClr val="FFFFFF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31" name="Text 22"/>
            <p:cNvSpPr txBox="1"/>
            <p:nvPr/>
          </p:nvSpPr>
          <p:spPr>
            <a:xfrm>
              <a:off x="5890337" y="2718512"/>
              <a:ext cx="2393442" cy="20779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57150" tIns="28575" rIns="57150" bIns="28575" rtlCol="0" anchor="ctr"/>
            <a:lstStyle/>
            <a:p>
              <a:pPr algn="ctr"/>
              <a:r>
                <a:rPr lang="en-US" sz="750" dirty="0">
                  <a:solidFill>
                    <a:srgbClr val="88888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PRESENTER WILL ALT-TAB TO SHOW ASSETS</a:t>
              </a:r>
              <a:endParaRPr lang="en-US" sz="750" dirty="0"/>
            </a:p>
          </p:txBody>
        </p:sp>
        <p:sp>
          <p:nvSpPr>
            <p:cNvPr id="32" name="Shape 23"/>
            <p:cNvSpPr/>
            <p:nvPr/>
          </p:nvSpPr>
          <p:spPr>
            <a:xfrm>
              <a:off x="6294959" y="3210916"/>
              <a:ext cx="1586255" cy="300380"/>
            </a:xfrm>
            <a:prstGeom prst="roundRect">
              <a:avLst>
                <a:gd name="adj" fmla="val 86975"/>
              </a:avLst>
            </a:prstGeom>
            <a:solidFill>
              <a:srgbClr val="222222"/>
            </a:solidFill>
            <a:ln w="12700">
              <a:solidFill>
                <a:srgbClr val="444444"/>
              </a:solidFill>
              <a:prstDash val="solid"/>
            </a:ln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33" name="Text 24"/>
            <p:cNvSpPr txBox="1"/>
            <p:nvPr/>
          </p:nvSpPr>
          <p:spPr>
            <a:xfrm>
              <a:off x="6266155" y="3210916"/>
              <a:ext cx="1643177" cy="30038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14300" tIns="57150" rIns="114300" bIns="57150" rtlCol="0" anchor="ctr"/>
            <a:lstStyle/>
            <a:p>
              <a:pPr algn="ctr"/>
              <a:r>
                <a:rPr lang="en-US" sz="675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Alt</a:t>
              </a:r>
              <a:r>
                <a:rPr lang="en-US" sz="750" dirty="0">
                  <a:solidFill>
                    <a:srgbClr val="AAAAA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+ </a:t>
              </a:r>
              <a:r>
                <a:rPr lang="en-US" sz="675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Tab</a:t>
              </a:r>
              <a:r>
                <a:rPr lang="en-US" sz="750" dirty="0">
                  <a:solidFill>
                    <a:srgbClr val="AAAAA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to VS Code </a:t>
              </a:r>
              <a:endParaRPr lang="en-US" sz="750" dirty="0"/>
            </a:p>
          </p:txBody>
        </p:sp>
        <p:pic>
          <p:nvPicPr>
            <p:cNvPr id="34" name="Image 7" descr="preencoded.png"/>
            <p:cNvPicPr>
              <a:picLocks noChangeAspect="1"/>
            </p:cNvPicPr>
            <p:nvPr/>
          </p:nvPicPr>
          <p:blipFill>
            <a:blip r:embed="rId9"/>
            <a:srcRect l="-549" r="-549"/>
            <a:stretch/>
          </p:blipFill>
          <p:spPr>
            <a:xfrm>
              <a:off x="6416345" y="3275381"/>
              <a:ext cx="257175" cy="171450"/>
            </a:xfrm>
            <a:prstGeom prst="rect">
              <a:avLst/>
            </a:prstGeom>
          </p:spPr>
        </p:pic>
        <p:sp>
          <p:nvSpPr>
            <p:cNvPr id="35" name="Text 25"/>
            <p:cNvSpPr txBox="1"/>
            <p:nvPr/>
          </p:nvSpPr>
          <p:spPr>
            <a:xfrm>
              <a:off x="6387541" y="3275381"/>
              <a:ext cx="314783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75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Alt</a:t>
              </a:r>
              <a:endParaRPr lang="en-US" sz="675" dirty="0"/>
            </a:p>
          </p:txBody>
        </p:sp>
        <p:pic>
          <p:nvPicPr>
            <p:cNvPr id="36" name="Image 8" descr="preencoded.png"/>
            <p:cNvPicPr>
              <a:picLocks noChangeAspect="1"/>
            </p:cNvPicPr>
            <p:nvPr/>
          </p:nvPicPr>
          <p:blipFill>
            <a:blip r:embed="rId9"/>
            <a:srcRect l="-549" r="-549"/>
            <a:stretch/>
          </p:blipFill>
          <p:spPr>
            <a:xfrm>
              <a:off x="6844970" y="3275381"/>
              <a:ext cx="257175" cy="171450"/>
            </a:xfrm>
            <a:prstGeom prst="rect">
              <a:avLst/>
            </a:prstGeom>
          </p:spPr>
        </p:pic>
        <p:sp>
          <p:nvSpPr>
            <p:cNvPr id="37" name="Text 26"/>
            <p:cNvSpPr txBox="1"/>
            <p:nvPr/>
          </p:nvSpPr>
          <p:spPr>
            <a:xfrm>
              <a:off x="6816166" y="3275381"/>
              <a:ext cx="314783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75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Tab</a:t>
              </a:r>
              <a:endParaRPr lang="en-US" sz="675" dirty="0"/>
            </a:p>
          </p:txBody>
        </p:sp>
        <p:pic>
          <p:nvPicPr>
            <p:cNvPr id="38" name="Image 9" descr="preencoded.png"/>
            <p:cNvPicPr>
              <a:picLocks noChangeAspect="1"/>
            </p:cNvPicPr>
            <p:nvPr/>
          </p:nvPicPr>
          <p:blipFill>
            <a:blip r:embed="rId10"/>
            <a:srcRect t="-4" b="-4"/>
            <a:stretch/>
          </p:blipFill>
          <p:spPr>
            <a:xfrm rot="600000">
              <a:off x="7844180" y="1060933"/>
              <a:ext cx="959435" cy="803072"/>
            </a:xfrm>
            <a:prstGeom prst="rect">
              <a:avLst/>
            </a:prstGeom>
          </p:spPr>
        </p:pic>
        <p:pic>
          <p:nvPicPr>
            <p:cNvPr id="39" name="Image 10" descr="preencoded.png"/>
            <p:cNvPicPr>
              <a:picLocks noChangeAspect="1"/>
            </p:cNvPicPr>
            <p:nvPr/>
          </p:nvPicPr>
          <p:blipFill>
            <a:blip r:embed="rId11"/>
            <a:srcRect l="-6987" r="-6987"/>
            <a:stretch/>
          </p:blipFill>
          <p:spPr>
            <a:xfrm>
              <a:off x="8162392" y="1167232"/>
              <a:ext cx="250317" cy="292837"/>
            </a:xfrm>
            <a:prstGeom prst="rect">
              <a:avLst/>
            </a:prstGeom>
          </p:spPr>
        </p:pic>
        <p:sp>
          <p:nvSpPr>
            <p:cNvPr id="40" name="Text 27"/>
            <p:cNvSpPr txBox="1"/>
            <p:nvPr/>
          </p:nvSpPr>
          <p:spPr>
            <a:xfrm>
              <a:off x="7960766" y="1450467"/>
              <a:ext cx="57195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dirty="0">
                  <a:solidFill>
                    <a:srgbClr val="88888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.cursorrules</a:t>
              </a:r>
              <a:endParaRPr lang="en-US" sz="600" dirty="0"/>
            </a:p>
          </p:txBody>
        </p:sp>
        <p:pic>
          <p:nvPicPr>
            <p:cNvPr id="41" name="Image 11" descr="preencoded.png"/>
            <p:cNvPicPr>
              <a:picLocks noChangeAspect="1"/>
            </p:cNvPicPr>
            <p:nvPr/>
          </p:nvPicPr>
          <p:blipFill>
            <a:blip r:embed="rId12"/>
            <a:srcRect t="-9" b="-9"/>
            <a:stretch/>
          </p:blipFill>
          <p:spPr>
            <a:xfrm rot="21300000">
              <a:off x="5543321" y="3354247"/>
              <a:ext cx="911429" cy="729692"/>
            </a:xfrm>
            <a:prstGeom prst="rect">
              <a:avLst/>
            </a:prstGeom>
          </p:spPr>
        </p:pic>
        <p:pic>
          <p:nvPicPr>
            <p:cNvPr id="42" name="Image 12" descr="preencoded.png"/>
            <p:cNvPicPr>
              <a:picLocks noChangeAspect="1"/>
            </p:cNvPicPr>
            <p:nvPr/>
          </p:nvPicPr>
          <p:blipFill>
            <a:blip r:embed="rId13"/>
            <a:srcRect t="-2140" b="-2140"/>
            <a:stretch/>
          </p:blipFill>
          <p:spPr>
            <a:xfrm>
              <a:off x="5815585" y="3463975"/>
              <a:ext cx="300380" cy="278435"/>
            </a:xfrm>
            <a:prstGeom prst="rect">
              <a:avLst/>
            </a:prstGeom>
          </p:spPr>
        </p:pic>
        <p:sp>
          <p:nvSpPr>
            <p:cNvPr id="43" name="Text 28"/>
            <p:cNvSpPr txBox="1"/>
            <p:nvPr/>
          </p:nvSpPr>
          <p:spPr>
            <a:xfrm>
              <a:off x="5760035" y="3765727"/>
              <a:ext cx="457429" cy="143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dirty="0">
                  <a:solidFill>
                    <a:srgbClr val="88888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/planning</a:t>
              </a:r>
              <a:endParaRPr lang="en-US" sz="600" dirty="0"/>
            </a:p>
          </p:txBody>
        </p:sp>
        <p:pic>
          <p:nvPicPr>
            <p:cNvPr id="44" name="Image 13" descr="preencoded.png"/>
            <p:cNvPicPr>
              <a:picLocks noChangeAspect="1"/>
            </p:cNvPicPr>
            <p:nvPr/>
          </p:nvPicPr>
          <p:blipFill>
            <a:blip r:embed="rId14"/>
            <a:srcRect t="-16" b="-16"/>
            <a:stretch/>
          </p:blipFill>
          <p:spPr>
            <a:xfrm rot="20700000">
              <a:off x="5186705" y="2326919"/>
              <a:ext cx="1007441" cy="891540"/>
            </a:xfrm>
            <a:prstGeom prst="rect">
              <a:avLst/>
            </a:prstGeom>
          </p:spPr>
        </p:pic>
        <p:pic>
          <p:nvPicPr>
            <p:cNvPr id="45" name="Image 14" descr="preencoded.png"/>
            <p:cNvPicPr>
              <a:picLocks noChangeAspect="1"/>
            </p:cNvPicPr>
            <p:nvPr/>
          </p:nvPicPr>
          <p:blipFill>
            <a:blip r:embed="rId15"/>
            <a:srcRect t="-4071" b="-4071"/>
            <a:stretch/>
          </p:blipFill>
          <p:spPr>
            <a:xfrm>
              <a:off x="5408219" y="2416073"/>
              <a:ext cx="371704" cy="357302"/>
            </a:xfrm>
            <a:prstGeom prst="rect">
              <a:avLst/>
            </a:prstGeom>
          </p:spPr>
        </p:pic>
        <p:sp>
          <p:nvSpPr>
            <p:cNvPr id="46" name="Text 29"/>
            <p:cNvSpPr txBox="1"/>
            <p:nvPr/>
          </p:nvSpPr>
          <p:spPr>
            <a:xfrm>
              <a:off x="5478857" y="2748001"/>
              <a:ext cx="364846" cy="1858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dirty="0">
                  <a:solidFill>
                    <a:srgbClr val="88888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arch.md</a:t>
              </a:r>
              <a:endParaRPr lang="en-US" sz="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3841852" y="5137327"/>
            <a:ext cx="128930" cy="1001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83356" y="5397932"/>
            <a:ext cx="34934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Remove LEGO anxiety + practice explanation.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 rot="600000">
            <a:off x="6772275" y="-518464"/>
            <a:ext cx="428625" cy="214655"/>
          </a:xfrm>
          <a:prstGeom prst="roundRect">
            <a:avLst>
              <a:gd name="adj" fmla="val 85197"/>
            </a:avLst>
          </a:prstGeom>
          <a:solidFill>
            <a:srgbClr val="FF5E5E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189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sz="1013"/>
          </a:p>
        </p:txBody>
      </p:sp>
      <p:sp>
        <p:nvSpPr>
          <p:cNvPr id="13" name="Shape 8"/>
          <p:cNvSpPr/>
          <p:nvPr/>
        </p:nvSpPr>
        <p:spPr>
          <a:xfrm rot="21300000">
            <a:off x="2443506" y="-482803"/>
            <a:ext cx="571271" cy="214655"/>
          </a:xfrm>
          <a:prstGeom prst="roundRect">
            <a:avLst>
              <a:gd name="adj" fmla="val 85197"/>
            </a:avLst>
          </a:prstGeom>
          <a:solidFill>
            <a:srgbClr val="00FF9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189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sz="1013"/>
          </a:p>
        </p:txBody>
      </p:sp>
      <p:sp>
        <p:nvSpPr>
          <p:cNvPr id="14" name="Text 9"/>
          <p:cNvSpPr txBox="1"/>
          <p:nvPr/>
        </p:nvSpPr>
        <p:spPr>
          <a:xfrm>
            <a:off x="1657579" y="-54179"/>
            <a:ext cx="5829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kern="0" spc="-7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LEGO Warm-Up </a:t>
            </a:r>
            <a:r>
              <a:rPr lang="en-US" sz="3600" b="1" kern="0" spc="-72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🧱</a:t>
            </a:r>
            <a:endParaRPr lang="en-US" sz="3600" dirty="0"/>
          </a:p>
        </p:txBody>
      </p:sp>
      <p:sp>
        <p:nvSpPr>
          <p:cNvPr id="15" name="Text 10"/>
          <p:cNvSpPr txBox="1"/>
          <p:nvPr/>
        </p:nvSpPr>
        <p:spPr>
          <a:xfrm>
            <a:off x="1685697" y="702945"/>
            <a:ext cx="5772379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kern="0" spc="10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your hands moving</a:t>
            </a:r>
            <a:endParaRPr lang="en-US" sz="975" dirty="0"/>
          </a:p>
        </p:txBody>
      </p:sp>
      <p:sp>
        <p:nvSpPr>
          <p:cNvPr id="16" name="Shape 11"/>
          <p:cNvSpPr/>
          <p:nvPr/>
        </p:nvSpPr>
        <p:spPr>
          <a:xfrm>
            <a:off x="1728902" y="1252957"/>
            <a:ext cx="5686654" cy="936117"/>
          </a:xfrm>
          <a:prstGeom prst="roundRect">
            <a:avLst>
              <a:gd name="adj" fmla="val 1789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7" name="Shape 12"/>
          <p:cNvSpPr/>
          <p:nvPr/>
        </p:nvSpPr>
        <p:spPr>
          <a:xfrm>
            <a:off x="1950415" y="1468984"/>
            <a:ext cx="499949" cy="499949"/>
          </a:xfrm>
          <a:prstGeom prst="roundRect">
            <a:avLst>
              <a:gd name="adj" fmla="val 47031"/>
            </a:avLst>
          </a:prstGeom>
          <a:solidFill>
            <a:srgbClr val="FF5E5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sz="1013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2100606" y="1604773"/>
            <a:ext cx="200254" cy="22837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664333" y="1731645"/>
            <a:ext cx="4615434" cy="279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a tower.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1728902" y="2355723"/>
            <a:ext cx="5686654" cy="936117"/>
          </a:xfrm>
          <a:prstGeom prst="roundRect">
            <a:avLst>
              <a:gd name="adj" fmla="val 1789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1" name="Shape 15"/>
          <p:cNvSpPr/>
          <p:nvPr/>
        </p:nvSpPr>
        <p:spPr>
          <a:xfrm>
            <a:off x="1950415" y="2571750"/>
            <a:ext cx="499949" cy="499949"/>
          </a:xfrm>
          <a:prstGeom prst="roundRect">
            <a:avLst>
              <a:gd name="adj" fmla="val 47031"/>
            </a:avLst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sz="1013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rcRect t="-30" b="-30"/>
          <a:stretch/>
        </p:blipFill>
        <p:spPr>
          <a:xfrm>
            <a:off x="2128724" y="2707539"/>
            <a:ext cx="142646" cy="22837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2664333" y="2834412"/>
            <a:ext cx="4615434" cy="279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Must include a minifigure and a Flower.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1728902" y="3459176"/>
            <a:ext cx="5686654" cy="936117"/>
          </a:xfrm>
          <a:prstGeom prst="roundRect">
            <a:avLst>
              <a:gd name="adj" fmla="val 1789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5" name="Shape 18"/>
          <p:cNvSpPr/>
          <p:nvPr/>
        </p:nvSpPr>
        <p:spPr>
          <a:xfrm>
            <a:off x="1950415" y="3674516"/>
            <a:ext cx="499949" cy="499949"/>
          </a:xfrm>
          <a:prstGeom prst="roundRect">
            <a:avLst>
              <a:gd name="adj" fmla="val 47031"/>
            </a:avLst>
          </a:prstGeom>
          <a:solidFill>
            <a:srgbClr val="5E88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sz="1013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2114321" y="3810305"/>
            <a:ext cx="171450" cy="22837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664333" y="3937864"/>
            <a:ext cx="4615434" cy="279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Explain one special thing.</a:t>
            </a:r>
            <a:endParaRPr lang="en-US" sz="1800" dirty="0"/>
          </a:p>
        </p:txBody>
      </p:sp>
      <p:sp>
        <p:nvSpPr>
          <p:cNvPr id="28" name="Shape 20"/>
          <p:cNvSpPr/>
          <p:nvPr/>
        </p:nvSpPr>
        <p:spPr>
          <a:xfrm>
            <a:off x="2664333" y="1431265"/>
            <a:ext cx="807187" cy="242774"/>
          </a:xfrm>
          <a:prstGeom prst="roundRect">
            <a:avLst>
              <a:gd name="adj" fmla="val 66467"/>
            </a:avLst>
          </a:prstGeom>
          <a:solidFill>
            <a:srgbClr val="FF5E5E">
              <a:alpha val="10000"/>
            </a:srgbClr>
          </a:solidFill>
          <a:ln w="12700">
            <a:solidFill>
              <a:srgbClr val="FF5E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9" name="Text 21"/>
          <p:cNvSpPr txBox="1"/>
          <p:nvPr/>
        </p:nvSpPr>
        <p:spPr>
          <a:xfrm>
            <a:off x="2664333" y="1431265"/>
            <a:ext cx="850392" cy="24345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5725" tIns="28575" rIns="85725" bIns="28575" rtlCol="0" anchor="ctr"/>
          <a:lstStyle/>
          <a:p>
            <a:r>
              <a:rPr lang="en-US" sz="900" b="1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Minutes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2664334" y="2534716"/>
            <a:ext cx="735863" cy="242774"/>
          </a:xfrm>
          <a:prstGeom prst="roundRect">
            <a:avLst>
              <a:gd name="adj" fmla="val 66467"/>
            </a:avLst>
          </a:prstGeom>
          <a:solidFill>
            <a:srgbClr val="FFD700">
              <a:alpha val="10000"/>
            </a:srgbClr>
          </a:solidFill>
          <a:ln w="12700">
            <a:solidFill>
              <a:srgbClr val="FFD7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1" name="Text 23"/>
          <p:cNvSpPr txBox="1"/>
          <p:nvPr/>
        </p:nvSpPr>
        <p:spPr>
          <a:xfrm>
            <a:off x="2664333" y="2534717"/>
            <a:ext cx="779069" cy="24345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5725" tIns="28575" rIns="85725" bIns="28575" rtlCol="0" anchor="ctr"/>
          <a:lstStyle/>
          <a:p>
            <a:r>
              <a:rPr lang="en-US" sz="9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2664333" y="3637483"/>
            <a:ext cx="1221410" cy="242774"/>
          </a:xfrm>
          <a:prstGeom prst="roundRect">
            <a:avLst>
              <a:gd name="adj" fmla="val 66467"/>
            </a:avLst>
          </a:prstGeom>
          <a:solidFill>
            <a:srgbClr val="5E88FF">
              <a:alpha val="10000"/>
            </a:srgbClr>
          </a:solidFill>
          <a:ln w="12700">
            <a:solidFill>
              <a:srgbClr val="5E88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3" name="Text 25"/>
          <p:cNvSpPr txBox="1"/>
          <p:nvPr/>
        </p:nvSpPr>
        <p:spPr>
          <a:xfrm>
            <a:off x="2664334" y="3637484"/>
            <a:ext cx="1270787" cy="24345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5725" tIns="28575" rIns="85725" bIns="28575" rtlCol="0" anchor="ctr"/>
          <a:lstStyle/>
          <a:p>
            <a:r>
              <a:rPr lang="en-US" sz="900" b="1" dirty="0">
                <a:solidFill>
                  <a:srgbClr val="5E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Seconds Each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357073" y="703550"/>
            <a:ext cx="8429854" cy="42351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6996" y="770869"/>
            <a:ext cx="3672459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kern="0" spc="158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 Phase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656996" y="792784"/>
            <a:ext cx="3699206" cy="664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25" b="1" kern="0" spc="-4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Exercise : Problem Ideation </a:t>
            </a:r>
            <a:r>
              <a:rPr lang="en-US" sz="2325" b="1" kern="0" spc="-47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🧩</a:t>
            </a:r>
            <a:endParaRPr lang="en-US" sz="2325" dirty="0"/>
          </a:p>
        </p:txBody>
      </p:sp>
      <p:sp>
        <p:nvSpPr>
          <p:cNvPr id="11" name="Text 8"/>
          <p:cNvSpPr txBox="1"/>
          <p:nvPr/>
        </p:nvSpPr>
        <p:spPr>
          <a:xfrm>
            <a:off x="1030032" y="2455967"/>
            <a:ext cx="7083935" cy="1025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Thinking about Event Apps and the Topics below</a:t>
            </a:r>
          </a:p>
          <a:p>
            <a:pPr algn="ctr"/>
            <a:r>
              <a:rPr lang="en-US" sz="32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WHAT DRIVES YOU MAD?</a:t>
            </a:r>
          </a:p>
          <a:p>
            <a:pPr algn="ctr"/>
            <a:r>
              <a:rPr lang="en-US" sz="14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If you could change/fix ONE THING what would it be?</a:t>
            </a:r>
          </a:p>
        </p:txBody>
      </p:sp>
      <p:sp>
        <p:nvSpPr>
          <p:cNvPr id="32" name="Shape 28"/>
          <p:cNvSpPr/>
          <p:nvPr/>
        </p:nvSpPr>
        <p:spPr>
          <a:xfrm>
            <a:off x="4978908" y="836676"/>
            <a:ext cx="3586049" cy="685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8401050" y="807483"/>
            <a:ext cx="164592" cy="142646"/>
          </a:xfrm>
          <a:prstGeom prst="rect">
            <a:avLst/>
          </a:prstGeom>
        </p:spPr>
      </p:pic>
      <p:sp>
        <p:nvSpPr>
          <p:cNvPr id="65" name="Shape 50"/>
          <p:cNvSpPr/>
          <p:nvPr/>
        </p:nvSpPr>
        <p:spPr>
          <a:xfrm>
            <a:off x="514351" y="443026"/>
            <a:ext cx="142646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6" name="Shape 51"/>
          <p:cNvSpPr/>
          <p:nvPr/>
        </p:nvSpPr>
        <p:spPr>
          <a:xfrm>
            <a:off x="514350" y="443027"/>
            <a:ext cx="14402" cy="14264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1503278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656996" y="770869"/>
            <a:ext cx="3672459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kern="0" spc="158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 Phase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656996" y="792784"/>
            <a:ext cx="3699206" cy="664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25" b="1" kern="0" spc="-4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Exercise : Problem Ideation </a:t>
            </a:r>
            <a:r>
              <a:rPr lang="en-US" sz="2325" b="1" kern="0" spc="-47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🧩</a:t>
            </a:r>
            <a:endParaRPr lang="en-US" sz="2325" dirty="0"/>
          </a:p>
        </p:txBody>
      </p:sp>
      <p:sp>
        <p:nvSpPr>
          <p:cNvPr id="11" name="Text 8"/>
          <p:cNvSpPr txBox="1"/>
          <p:nvPr/>
        </p:nvSpPr>
        <p:spPr>
          <a:xfrm>
            <a:off x="4778347" y="936035"/>
            <a:ext cx="3397435" cy="47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WHAT DRIVES YOU MAD?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4978908" y="836676"/>
            <a:ext cx="3586049" cy="685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8401050" y="807483"/>
            <a:ext cx="164592" cy="14264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4897821" y="4031894"/>
            <a:ext cx="3586049" cy="357302"/>
          </a:xfrm>
          <a:prstGeom prst="roundRect">
            <a:avLst>
              <a:gd name="adj" fmla="val 614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6" name="Text 31"/>
          <p:cNvSpPr txBox="1"/>
          <p:nvPr/>
        </p:nvSpPr>
        <p:spPr>
          <a:xfrm>
            <a:off x="5240722" y="4031894"/>
            <a:ext cx="3300755" cy="3573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4775" tIns="85725" rIns="104775" bIns="85725" rtlCol="0" anchor="ctr"/>
          <a:lstStyle/>
          <a:p>
            <a:r>
              <a:rPr lang="en-US" sz="12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Event Directories</a:t>
            </a:r>
            <a:endParaRPr lang="en-US" sz="12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rcRect l="-12275" r="-12275"/>
          <a:stretch/>
        </p:blipFill>
        <p:spPr>
          <a:xfrm>
            <a:off x="5012350" y="4153281"/>
            <a:ext cx="142646" cy="114529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656996" y="2796773"/>
            <a:ext cx="3586049" cy="357302"/>
          </a:xfrm>
          <a:prstGeom prst="roundRect">
            <a:avLst>
              <a:gd name="adj" fmla="val 614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9" name="Text 33"/>
          <p:cNvSpPr txBox="1"/>
          <p:nvPr/>
        </p:nvSpPr>
        <p:spPr>
          <a:xfrm>
            <a:off x="999897" y="2796773"/>
            <a:ext cx="3300755" cy="3573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4775" tIns="85725" rIns="104775" bIns="85725" rtlCol="0" anchor="ctr"/>
          <a:lstStyle/>
          <a:p>
            <a:r>
              <a:rPr lang="en-US" sz="12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Session Registration/Reserving</a:t>
            </a:r>
            <a:endParaRPr lang="en-US" sz="12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5"/>
          <a:srcRect l="-21172" r="-21172"/>
          <a:stretch/>
        </p:blipFill>
        <p:spPr>
          <a:xfrm>
            <a:off x="771525" y="2918160"/>
            <a:ext cx="142646" cy="114529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656996" y="3225398"/>
            <a:ext cx="3586049" cy="357302"/>
          </a:xfrm>
          <a:prstGeom prst="roundRect">
            <a:avLst>
              <a:gd name="adj" fmla="val 614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2" name="Text 35"/>
          <p:cNvSpPr txBox="1"/>
          <p:nvPr/>
        </p:nvSpPr>
        <p:spPr>
          <a:xfrm>
            <a:off x="999897" y="3225398"/>
            <a:ext cx="3300755" cy="3573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4775" tIns="85725" rIns="104775" bIns="85725" rtlCol="0" anchor="ctr"/>
          <a:lstStyle/>
          <a:p>
            <a:r>
              <a:rPr lang="en-US" sz="12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Ticketing</a:t>
            </a:r>
            <a:endParaRPr lang="en-US" sz="12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rcRect l="-5356" r="-5356"/>
          <a:stretch/>
        </p:blipFill>
        <p:spPr>
          <a:xfrm>
            <a:off x="771525" y="3346785"/>
            <a:ext cx="142646" cy="114529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656996" y="3654023"/>
            <a:ext cx="3586049" cy="357302"/>
          </a:xfrm>
          <a:prstGeom prst="roundRect">
            <a:avLst>
              <a:gd name="adj" fmla="val 614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5" name="Text 37"/>
          <p:cNvSpPr txBox="1"/>
          <p:nvPr/>
        </p:nvSpPr>
        <p:spPr>
          <a:xfrm>
            <a:off x="999897" y="3654023"/>
            <a:ext cx="3300755" cy="3573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4775" tIns="85725" rIns="104775" bIns="85725" rtlCol="0" anchor="ctr"/>
          <a:lstStyle/>
          <a:p>
            <a:r>
              <a:rPr lang="en-US" sz="12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Networking/Social/Community</a:t>
            </a:r>
            <a:endParaRPr lang="en-US" sz="12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771525" y="3775410"/>
            <a:ext cx="142646" cy="114529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656996" y="4082648"/>
            <a:ext cx="3586049" cy="357302"/>
          </a:xfrm>
          <a:prstGeom prst="roundRect">
            <a:avLst>
              <a:gd name="adj" fmla="val 614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8" name="Text 39"/>
          <p:cNvSpPr txBox="1"/>
          <p:nvPr/>
        </p:nvSpPr>
        <p:spPr>
          <a:xfrm>
            <a:off x="999897" y="4082648"/>
            <a:ext cx="3300755" cy="3573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4775" tIns="85725" rIns="104775" bIns="85725" rtlCol="0" anchor="ctr"/>
          <a:lstStyle/>
          <a:p>
            <a:r>
              <a:rPr lang="en-US" sz="12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Else is Going On (in Austin)</a:t>
            </a:r>
            <a:endParaRPr lang="en-US" sz="120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8"/>
          <a:srcRect l="-5356" r="-5356"/>
          <a:stretch/>
        </p:blipFill>
        <p:spPr>
          <a:xfrm>
            <a:off x="771525" y="4204035"/>
            <a:ext cx="142646" cy="114529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656996" y="4511273"/>
            <a:ext cx="3586049" cy="357302"/>
          </a:xfrm>
          <a:prstGeom prst="roundRect">
            <a:avLst>
              <a:gd name="adj" fmla="val 614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1" name="Text 41"/>
          <p:cNvSpPr txBox="1"/>
          <p:nvPr/>
        </p:nvSpPr>
        <p:spPr>
          <a:xfrm>
            <a:off x="999897" y="4511273"/>
            <a:ext cx="3300755" cy="3573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4775" tIns="85725" rIns="104775" bIns="85725" rtlCol="0" anchor="ctr"/>
          <a:lstStyle/>
          <a:p>
            <a:r>
              <a:rPr lang="en-US" sz="12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Hotels and Travel</a:t>
            </a:r>
            <a:endParaRPr lang="en-US" sz="1200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9"/>
          <a:srcRect l="-12275" r="-12275"/>
          <a:stretch/>
        </p:blipFill>
        <p:spPr>
          <a:xfrm>
            <a:off x="771525" y="4632660"/>
            <a:ext cx="142646" cy="114529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4854925" y="4511273"/>
            <a:ext cx="3586049" cy="357302"/>
          </a:xfrm>
          <a:prstGeom prst="roundRect">
            <a:avLst>
              <a:gd name="adj" fmla="val 614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4" name="Text 43"/>
          <p:cNvSpPr txBox="1"/>
          <p:nvPr/>
        </p:nvSpPr>
        <p:spPr>
          <a:xfrm>
            <a:off x="5197826" y="4511273"/>
            <a:ext cx="3300755" cy="3573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4775" tIns="85725" rIns="104775" bIns="85725" rtlCol="0" anchor="ctr"/>
          <a:lstStyle/>
          <a:p>
            <a:r>
              <a:rPr lang="en-US" sz="12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Passes and Registration</a:t>
            </a:r>
            <a:endParaRPr lang="en-US" sz="1200" dirty="0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0"/>
          <a:srcRect l="-5356" r="-5356"/>
          <a:stretch/>
        </p:blipFill>
        <p:spPr>
          <a:xfrm>
            <a:off x="4969454" y="4632660"/>
            <a:ext cx="142646" cy="114529"/>
          </a:xfrm>
          <a:prstGeom prst="rect">
            <a:avLst/>
          </a:prstGeom>
        </p:spPr>
      </p:pic>
      <p:sp>
        <p:nvSpPr>
          <p:cNvPr id="56" name="Shape 44"/>
          <p:cNvSpPr/>
          <p:nvPr/>
        </p:nvSpPr>
        <p:spPr>
          <a:xfrm>
            <a:off x="4900957" y="2796773"/>
            <a:ext cx="3586049" cy="357302"/>
          </a:xfrm>
          <a:prstGeom prst="roundRect">
            <a:avLst>
              <a:gd name="adj" fmla="val 614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7" name="Text 45"/>
          <p:cNvSpPr txBox="1"/>
          <p:nvPr/>
        </p:nvSpPr>
        <p:spPr>
          <a:xfrm>
            <a:off x="5243858" y="2796773"/>
            <a:ext cx="3300755" cy="3573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4775" tIns="85725" rIns="104775" bIns="85725" rtlCol="0" anchor="ctr"/>
          <a:lstStyle/>
          <a:p>
            <a:r>
              <a:rPr lang="en-US" sz="12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Speakers/Performers Portal</a:t>
            </a:r>
            <a:endParaRPr lang="en-US" sz="1200" dirty="0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1"/>
          <a:srcRect l="-33034" r="-33034"/>
          <a:stretch/>
        </p:blipFill>
        <p:spPr>
          <a:xfrm>
            <a:off x="5015486" y="2918160"/>
            <a:ext cx="142646" cy="114529"/>
          </a:xfrm>
          <a:prstGeom prst="rect">
            <a:avLst/>
          </a:prstGeom>
        </p:spPr>
      </p:pic>
      <p:sp>
        <p:nvSpPr>
          <p:cNvPr id="59" name="Shape 46"/>
          <p:cNvSpPr/>
          <p:nvPr/>
        </p:nvSpPr>
        <p:spPr>
          <a:xfrm>
            <a:off x="4900957" y="3225398"/>
            <a:ext cx="3586049" cy="357302"/>
          </a:xfrm>
          <a:prstGeom prst="roundRect">
            <a:avLst>
              <a:gd name="adj" fmla="val 614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0" name="Text 47"/>
          <p:cNvSpPr txBox="1"/>
          <p:nvPr/>
        </p:nvSpPr>
        <p:spPr>
          <a:xfrm>
            <a:off x="5243858" y="3225398"/>
            <a:ext cx="3300755" cy="3573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4775" tIns="85725" rIns="104775" bIns="85725" rtlCol="0" anchor="ctr"/>
          <a:lstStyle/>
          <a:p>
            <a:r>
              <a:rPr lang="en-US" sz="12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 Useability</a:t>
            </a:r>
            <a:endParaRPr lang="en-US" sz="1200" dirty="0"/>
          </a:p>
        </p:txBody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 r:embed="rId12"/>
          <a:srcRect l="-5356" r="-5356"/>
          <a:stretch/>
        </p:blipFill>
        <p:spPr>
          <a:xfrm>
            <a:off x="5015486" y="3346785"/>
            <a:ext cx="142646" cy="114529"/>
          </a:xfrm>
          <a:prstGeom prst="rect">
            <a:avLst/>
          </a:prstGeom>
        </p:spPr>
      </p:pic>
      <p:sp>
        <p:nvSpPr>
          <p:cNvPr id="62" name="Shape 48"/>
          <p:cNvSpPr/>
          <p:nvPr/>
        </p:nvSpPr>
        <p:spPr>
          <a:xfrm>
            <a:off x="4900957" y="3654023"/>
            <a:ext cx="3586049" cy="357302"/>
          </a:xfrm>
          <a:prstGeom prst="roundRect">
            <a:avLst>
              <a:gd name="adj" fmla="val 614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3" name="Text 49"/>
          <p:cNvSpPr txBox="1"/>
          <p:nvPr/>
        </p:nvSpPr>
        <p:spPr>
          <a:xfrm>
            <a:off x="5243858" y="3654023"/>
            <a:ext cx="3300755" cy="3573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4775" tIns="85725" rIns="104775" bIns="85725" rtlCol="0" anchor="ctr"/>
          <a:lstStyle/>
          <a:p>
            <a:r>
              <a:rPr lang="en-US" sz="12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Hosting an Event</a:t>
            </a:r>
            <a:endParaRPr lang="en-US" sz="1200" dirty="0"/>
          </a:p>
        </p:txBody>
      </p:sp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5015486" y="3775410"/>
            <a:ext cx="142646" cy="114529"/>
          </a:xfrm>
          <a:prstGeom prst="rect">
            <a:avLst/>
          </a:prstGeom>
        </p:spPr>
      </p:pic>
      <p:sp>
        <p:nvSpPr>
          <p:cNvPr id="65" name="Shape 50"/>
          <p:cNvSpPr/>
          <p:nvPr/>
        </p:nvSpPr>
        <p:spPr>
          <a:xfrm>
            <a:off x="514351" y="443026"/>
            <a:ext cx="142646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6" name="Shape 51"/>
          <p:cNvSpPr/>
          <p:nvPr/>
        </p:nvSpPr>
        <p:spPr>
          <a:xfrm>
            <a:off x="514350" y="443027"/>
            <a:ext cx="14402" cy="14264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7" name="Shape 52"/>
          <p:cNvSpPr/>
          <p:nvPr/>
        </p:nvSpPr>
        <p:spPr>
          <a:xfrm>
            <a:off x="8415683" y="3503833"/>
            <a:ext cx="142646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8" name="Shape 53"/>
          <p:cNvSpPr/>
          <p:nvPr/>
        </p:nvSpPr>
        <p:spPr>
          <a:xfrm>
            <a:off x="8544612" y="3374903"/>
            <a:ext cx="14402" cy="14264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" name="Shape 2"/>
          <p:cNvSpPr/>
          <p:nvPr/>
        </p:nvSpPr>
        <p:spPr>
          <a:xfrm>
            <a:off x="514350" y="1820271"/>
            <a:ext cx="3586049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3D0F87B-EB27-7C78-31DD-D529D1CB1929}"/>
              </a:ext>
            </a:extLst>
          </p:cNvPr>
          <p:cNvGrpSpPr/>
          <p:nvPr/>
        </p:nvGrpSpPr>
        <p:grpSpPr>
          <a:xfrm>
            <a:off x="388540" y="1927401"/>
            <a:ext cx="285979" cy="229058"/>
            <a:chOff x="778383" y="1946300"/>
            <a:chExt cx="285979" cy="229058"/>
          </a:xfrm>
        </p:grpSpPr>
        <p:sp>
          <p:nvSpPr>
            <p:cNvPr id="73" name="Shape 6">
              <a:extLst>
                <a:ext uri="{FF2B5EF4-FFF2-40B4-BE49-F238E27FC236}">
                  <a16:creationId xmlns:a16="http://schemas.microsoft.com/office/drawing/2014/main" id="{89FE505F-F6D6-C450-A43D-CC9CD6B4E75A}"/>
                </a:ext>
              </a:extLst>
            </p:cNvPr>
            <p:cNvSpPr/>
            <p:nvPr/>
          </p:nvSpPr>
          <p:spPr>
            <a:xfrm>
              <a:off x="807187" y="1946301"/>
              <a:ext cx="228371" cy="228371"/>
            </a:xfrm>
            <a:prstGeom prst="roundRect">
              <a:avLst>
                <a:gd name="adj" fmla="val 150150"/>
              </a:avLst>
            </a:prstGeom>
            <a:solidFill>
              <a:srgbClr val="00FF94">
                <a:alpha val="10000"/>
              </a:srgbClr>
            </a:solidFill>
            <a:ln w="12700">
              <a:solidFill>
                <a:srgbClr val="00FF94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4000"/>
            </a:p>
          </p:txBody>
        </p:sp>
        <p:sp>
          <p:nvSpPr>
            <p:cNvPr id="74" name="Text 7">
              <a:extLst>
                <a:ext uri="{FF2B5EF4-FFF2-40B4-BE49-F238E27FC236}">
                  <a16:creationId xmlns:a16="http://schemas.microsoft.com/office/drawing/2014/main" id="{5850947E-346F-52FD-81C2-E8C4E53FDDA1}"/>
                </a:ext>
              </a:extLst>
            </p:cNvPr>
            <p:cNvSpPr txBox="1"/>
            <p:nvPr/>
          </p:nvSpPr>
          <p:spPr>
            <a:xfrm>
              <a:off x="778383" y="1946300"/>
              <a:ext cx="285979" cy="22905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600" b="1" dirty="0">
                  <a:solidFill>
                    <a:srgbClr val="00FF94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1</a:t>
              </a:r>
              <a:endParaRPr lang="en-US" sz="3600" dirty="0"/>
            </a:p>
          </p:txBody>
        </p:sp>
      </p:grpSp>
      <p:sp>
        <p:nvSpPr>
          <p:cNvPr id="84" name="Text 13">
            <a:extLst>
              <a:ext uri="{FF2B5EF4-FFF2-40B4-BE49-F238E27FC236}">
                <a16:creationId xmlns:a16="http://schemas.microsoft.com/office/drawing/2014/main" id="{768571C8-0F4C-A22B-9403-114F43485EE4}"/>
              </a:ext>
            </a:extLst>
          </p:cNvPr>
          <p:cNvSpPr txBox="1"/>
          <p:nvPr/>
        </p:nvSpPr>
        <p:spPr>
          <a:xfrm>
            <a:off x="952368" y="1738144"/>
            <a:ext cx="8003059" cy="51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LEGO model to describe the issue – 5 Minutes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656996" y="770869"/>
            <a:ext cx="3672459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kern="0" spc="158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 Phase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656996" y="792784"/>
            <a:ext cx="3699206" cy="664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25" b="1" kern="0" spc="-4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Exercise : Problem Ideation </a:t>
            </a:r>
            <a:r>
              <a:rPr lang="en-US" sz="2325" b="1" kern="0" spc="-47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🧩</a:t>
            </a:r>
            <a:endParaRPr lang="en-US" sz="2325" dirty="0"/>
          </a:p>
        </p:txBody>
      </p:sp>
      <p:sp>
        <p:nvSpPr>
          <p:cNvPr id="11" name="Text 8"/>
          <p:cNvSpPr txBox="1"/>
          <p:nvPr/>
        </p:nvSpPr>
        <p:spPr>
          <a:xfrm>
            <a:off x="4778347" y="936035"/>
            <a:ext cx="3397435" cy="47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WHAT DRIVES YOU MAD?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4978908" y="836676"/>
            <a:ext cx="3586049" cy="685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8401050" y="807483"/>
            <a:ext cx="164592" cy="142646"/>
          </a:xfrm>
          <a:prstGeom prst="rect">
            <a:avLst/>
          </a:prstGeom>
        </p:spPr>
      </p:pic>
      <p:sp>
        <p:nvSpPr>
          <p:cNvPr id="65" name="Shape 50"/>
          <p:cNvSpPr/>
          <p:nvPr/>
        </p:nvSpPr>
        <p:spPr>
          <a:xfrm>
            <a:off x="514351" y="443026"/>
            <a:ext cx="142646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6" name="Shape 51"/>
          <p:cNvSpPr/>
          <p:nvPr/>
        </p:nvSpPr>
        <p:spPr>
          <a:xfrm>
            <a:off x="514350" y="443027"/>
            <a:ext cx="14402" cy="14264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" name="Shape 2"/>
          <p:cNvSpPr/>
          <p:nvPr/>
        </p:nvSpPr>
        <p:spPr>
          <a:xfrm>
            <a:off x="514350" y="1820271"/>
            <a:ext cx="3586049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3D0F87B-EB27-7C78-31DD-D529D1CB1929}"/>
              </a:ext>
            </a:extLst>
          </p:cNvPr>
          <p:cNvGrpSpPr/>
          <p:nvPr/>
        </p:nvGrpSpPr>
        <p:grpSpPr>
          <a:xfrm>
            <a:off x="554236" y="1698853"/>
            <a:ext cx="285979" cy="229058"/>
            <a:chOff x="778383" y="1946300"/>
            <a:chExt cx="285979" cy="229058"/>
          </a:xfrm>
        </p:grpSpPr>
        <p:sp>
          <p:nvSpPr>
            <p:cNvPr id="73" name="Shape 6">
              <a:extLst>
                <a:ext uri="{FF2B5EF4-FFF2-40B4-BE49-F238E27FC236}">
                  <a16:creationId xmlns:a16="http://schemas.microsoft.com/office/drawing/2014/main" id="{89FE505F-F6D6-C450-A43D-CC9CD6B4E75A}"/>
                </a:ext>
              </a:extLst>
            </p:cNvPr>
            <p:cNvSpPr/>
            <p:nvPr/>
          </p:nvSpPr>
          <p:spPr>
            <a:xfrm>
              <a:off x="807187" y="1946301"/>
              <a:ext cx="228371" cy="228371"/>
            </a:xfrm>
            <a:prstGeom prst="roundRect">
              <a:avLst>
                <a:gd name="adj" fmla="val 150150"/>
              </a:avLst>
            </a:prstGeom>
            <a:solidFill>
              <a:srgbClr val="00FF94">
                <a:alpha val="10000"/>
              </a:srgbClr>
            </a:solidFill>
            <a:ln w="12700">
              <a:solidFill>
                <a:srgbClr val="00FF94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4000"/>
            </a:p>
          </p:txBody>
        </p:sp>
        <p:sp>
          <p:nvSpPr>
            <p:cNvPr id="74" name="Text 7">
              <a:extLst>
                <a:ext uri="{FF2B5EF4-FFF2-40B4-BE49-F238E27FC236}">
                  <a16:creationId xmlns:a16="http://schemas.microsoft.com/office/drawing/2014/main" id="{5850947E-346F-52FD-81C2-E8C4E53FDDA1}"/>
                </a:ext>
              </a:extLst>
            </p:cNvPr>
            <p:cNvSpPr txBox="1"/>
            <p:nvPr/>
          </p:nvSpPr>
          <p:spPr>
            <a:xfrm>
              <a:off x="778383" y="1946300"/>
              <a:ext cx="285979" cy="22905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600" b="1" dirty="0">
                  <a:solidFill>
                    <a:srgbClr val="00FF94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1</a:t>
              </a:r>
              <a:endParaRPr lang="en-US" sz="3600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8FF37CB-6B0C-8487-7B86-250001160CFE}"/>
              </a:ext>
            </a:extLst>
          </p:cNvPr>
          <p:cNvGrpSpPr/>
          <p:nvPr/>
        </p:nvGrpSpPr>
        <p:grpSpPr>
          <a:xfrm>
            <a:off x="554236" y="2572127"/>
            <a:ext cx="285979" cy="229058"/>
            <a:chOff x="778383" y="2640330"/>
            <a:chExt cx="285979" cy="229058"/>
          </a:xfrm>
        </p:grpSpPr>
        <p:sp>
          <p:nvSpPr>
            <p:cNvPr id="78" name="Shape 11">
              <a:extLst>
                <a:ext uri="{FF2B5EF4-FFF2-40B4-BE49-F238E27FC236}">
                  <a16:creationId xmlns:a16="http://schemas.microsoft.com/office/drawing/2014/main" id="{EA79312E-12AB-5CBD-44F1-75617565009D}"/>
                </a:ext>
              </a:extLst>
            </p:cNvPr>
            <p:cNvSpPr/>
            <p:nvPr/>
          </p:nvSpPr>
          <p:spPr>
            <a:xfrm>
              <a:off x="807187" y="2640331"/>
              <a:ext cx="228371" cy="228371"/>
            </a:xfrm>
            <a:prstGeom prst="roundRect">
              <a:avLst>
                <a:gd name="adj" fmla="val 150150"/>
              </a:avLst>
            </a:prstGeom>
            <a:solidFill>
              <a:srgbClr val="FF5E5E">
                <a:alpha val="10000"/>
              </a:srgbClr>
            </a:solidFill>
            <a:ln w="12700">
              <a:solidFill>
                <a:srgbClr val="FF5E5E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79" name="Text 12">
              <a:extLst>
                <a:ext uri="{FF2B5EF4-FFF2-40B4-BE49-F238E27FC236}">
                  <a16:creationId xmlns:a16="http://schemas.microsoft.com/office/drawing/2014/main" id="{E3002AC9-2074-0726-6E87-92BAF5FC9C92}"/>
                </a:ext>
              </a:extLst>
            </p:cNvPr>
            <p:cNvSpPr txBox="1"/>
            <p:nvPr/>
          </p:nvSpPr>
          <p:spPr>
            <a:xfrm>
              <a:off x="778383" y="2640330"/>
              <a:ext cx="285979" cy="22905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600" b="1" dirty="0">
                  <a:solidFill>
                    <a:srgbClr val="FF5E5E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2</a:t>
              </a:r>
              <a:endParaRPr lang="en-US" sz="360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A62A008-8B2A-C2CD-503A-3DCA1C2B6725}"/>
              </a:ext>
            </a:extLst>
          </p:cNvPr>
          <p:cNvGrpSpPr/>
          <p:nvPr/>
        </p:nvGrpSpPr>
        <p:grpSpPr>
          <a:xfrm>
            <a:off x="554236" y="3445401"/>
            <a:ext cx="285979" cy="229058"/>
            <a:chOff x="4628006" y="1960015"/>
            <a:chExt cx="285979" cy="229058"/>
          </a:xfrm>
        </p:grpSpPr>
        <p:sp>
          <p:nvSpPr>
            <p:cNvPr id="81" name="Shape 20">
              <a:extLst>
                <a:ext uri="{FF2B5EF4-FFF2-40B4-BE49-F238E27FC236}">
                  <a16:creationId xmlns:a16="http://schemas.microsoft.com/office/drawing/2014/main" id="{E3D434F2-6FAC-3DB5-8DFF-D647BE0C1512}"/>
                </a:ext>
              </a:extLst>
            </p:cNvPr>
            <p:cNvSpPr/>
            <p:nvPr/>
          </p:nvSpPr>
          <p:spPr>
            <a:xfrm>
              <a:off x="4656810" y="1960016"/>
              <a:ext cx="228371" cy="228371"/>
            </a:xfrm>
            <a:prstGeom prst="roundRect">
              <a:avLst>
                <a:gd name="adj" fmla="val 150150"/>
              </a:avLst>
            </a:prstGeom>
            <a:solidFill>
              <a:srgbClr val="7B61FF">
                <a:alpha val="10000"/>
              </a:srgbClr>
            </a:solidFill>
            <a:ln w="12700">
              <a:solidFill>
                <a:srgbClr val="7B61FF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82" name="Text 21">
              <a:extLst>
                <a:ext uri="{FF2B5EF4-FFF2-40B4-BE49-F238E27FC236}">
                  <a16:creationId xmlns:a16="http://schemas.microsoft.com/office/drawing/2014/main" id="{1D4DFF35-935A-EE00-2769-7686114AA273}"/>
                </a:ext>
              </a:extLst>
            </p:cNvPr>
            <p:cNvSpPr txBox="1"/>
            <p:nvPr/>
          </p:nvSpPr>
          <p:spPr>
            <a:xfrm>
              <a:off x="4628006" y="1960015"/>
              <a:ext cx="285979" cy="22905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600" b="1" dirty="0">
                  <a:solidFill>
                    <a:srgbClr val="7B61FF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3</a:t>
              </a:r>
              <a:endParaRPr lang="en-US" sz="3600" dirty="0"/>
            </a:p>
          </p:txBody>
        </p:sp>
      </p:grpSp>
      <p:sp>
        <p:nvSpPr>
          <p:cNvPr id="84" name="Text 13">
            <a:extLst>
              <a:ext uri="{FF2B5EF4-FFF2-40B4-BE49-F238E27FC236}">
                <a16:creationId xmlns:a16="http://schemas.microsoft.com/office/drawing/2014/main" id="{768571C8-0F4C-A22B-9403-114F43485EE4}"/>
              </a:ext>
            </a:extLst>
          </p:cNvPr>
          <p:cNvSpPr txBox="1"/>
          <p:nvPr/>
        </p:nvSpPr>
        <p:spPr>
          <a:xfrm>
            <a:off x="932842" y="1600805"/>
            <a:ext cx="8370795" cy="43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LEGO model to describe the issue – 5 Minutes</a:t>
            </a:r>
            <a:endParaRPr lang="en-US" sz="2000" dirty="0"/>
          </a:p>
        </p:txBody>
      </p:sp>
      <p:sp>
        <p:nvSpPr>
          <p:cNvPr id="85" name="Text 13">
            <a:extLst>
              <a:ext uri="{FF2B5EF4-FFF2-40B4-BE49-F238E27FC236}">
                <a16:creationId xmlns:a16="http://schemas.microsoft.com/office/drawing/2014/main" id="{735AF2D4-EB3C-F9EF-6E1F-1D12CE7DA771}"/>
              </a:ext>
            </a:extLst>
          </p:cNvPr>
          <p:cNvSpPr txBox="1"/>
          <p:nvPr/>
        </p:nvSpPr>
        <p:spPr>
          <a:xfrm>
            <a:off x="932842" y="2521134"/>
            <a:ext cx="8486812" cy="438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person describes their model to their table – 1 minute each</a:t>
            </a:r>
            <a:endParaRPr lang="en-US" sz="2000" dirty="0"/>
          </a:p>
        </p:txBody>
      </p:sp>
      <p:sp>
        <p:nvSpPr>
          <p:cNvPr id="86" name="Text 13">
            <a:extLst>
              <a:ext uri="{FF2B5EF4-FFF2-40B4-BE49-F238E27FC236}">
                <a16:creationId xmlns:a16="http://schemas.microsoft.com/office/drawing/2014/main" id="{8536E731-8188-C7FC-F608-5BDFFB1DEB7C}"/>
              </a:ext>
            </a:extLst>
          </p:cNvPr>
          <p:cNvSpPr txBox="1"/>
          <p:nvPr/>
        </p:nvSpPr>
        <p:spPr>
          <a:xfrm>
            <a:off x="932842" y="3441062"/>
            <a:ext cx="8409846" cy="34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Table selects their </a:t>
            </a:r>
            <a:r>
              <a:rPr lang="en-US" sz="2000" dirty="0" err="1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favourite</a:t>
            </a:r>
            <a:r>
              <a:rPr lang="en-US" sz="2000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problem to be brought forward – 2 minutes</a:t>
            </a:r>
            <a:endParaRPr lang="en-US" sz="2000" dirty="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FACC02C-ED3E-6794-FB49-A7B70B642E4F}"/>
              </a:ext>
            </a:extLst>
          </p:cNvPr>
          <p:cNvGrpSpPr/>
          <p:nvPr/>
        </p:nvGrpSpPr>
        <p:grpSpPr>
          <a:xfrm>
            <a:off x="554236" y="4318676"/>
            <a:ext cx="285979" cy="229058"/>
            <a:chOff x="4586288" y="2759365"/>
            <a:chExt cx="285979" cy="229058"/>
          </a:xfrm>
        </p:grpSpPr>
        <p:sp>
          <p:nvSpPr>
            <p:cNvPr id="91" name="Shape 24">
              <a:extLst>
                <a:ext uri="{FF2B5EF4-FFF2-40B4-BE49-F238E27FC236}">
                  <a16:creationId xmlns:a16="http://schemas.microsoft.com/office/drawing/2014/main" id="{2A5BE41B-CF9A-A630-7ABB-C812DC3BD154}"/>
                </a:ext>
              </a:extLst>
            </p:cNvPr>
            <p:cNvSpPr/>
            <p:nvPr/>
          </p:nvSpPr>
          <p:spPr>
            <a:xfrm>
              <a:off x="4615092" y="2759366"/>
              <a:ext cx="228371" cy="228371"/>
            </a:xfrm>
            <a:prstGeom prst="roundRect">
              <a:avLst>
                <a:gd name="adj" fmla="val 150150"/>
              </a:avLst>
            </a:prstGeom>
            <a:solidFill>
              <a:srgbClr val="FFD700">
                <a:alpha val="10000"/>
              </a:srgbClr>
            </a:solidFill>
            <a:ln w="12700">
              <a:solidFill>
                <a:srgbClr val="FFD700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92" name="Text 25">
              <a:extLst>
                <a:ext uri="{FF2B5EF4-FFF2-40B4-BE49-F238E27FC236}">
                  <a16:creationId xmlns:a16="http://schemas.microsoft.com/office/drawing/2014/main" id="{CE9EFC7A-6096-6924-D0AB-2ACC13EF539D}"/>
                </a:ext>
              </a:extLst>
            </p:cNvPr>
            <p:cNvSpPr txBox="1"/>
            <p:nvPr/>
          </p:nvSpPr>
          <p:spPr>
            <a:xfrm>
              <a:off x="4586288" y="2759365"/>
              <a:ext cx="285979" cy="22905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600" b="1" dirty="0">
                  <a:solidFill>
                    <a:srgbClr val="FFD700"/>
                  </a:solidFill>
                  <a:latin typeface="Space Grotesk" pitchFamily="34" charset="0"/>
                  <a:ea typeface="Space Grotesk" pitchFamily="34" charset="-122"/>
                  <a:cs typeface="Space Grotesk" pitchFamily="34" charset="-120"/>
                </a:rPr>
                <a:t>4</a:t>
              </a:r>
              <a:endParaRPr lang="en-US" sz="3600" dirty="0"/>
            </a:p>
          </p:txBody>
        </p:sp>
      </p:grpSp>
      <p:sp>
        <p:nvSpPr>
          <p:cNvPr id="94" name="Text 13">
            <a:extLst>
              <a:ext uri="{FF2B5EF4-FFF2-40B4-BE49-F238E27FC236}">
                <a16:creationId xmlns:a16="http://schemas.microsoft.com/office/drawing/2014/main" id="{43229A47-7B19-3DD9-8DD8-379C5CC2D2DC}"/>
              </a:ext>
            </a:extLst>
          </p:cNvPr>
          <p:cNvSpPr txBox="1"/>
          <p:nvPr/>
        </p:nvSpPr>
        <p:spPr>
          <a:xfrm>
            <a:off x="932842" y="4262727"/>
            <a:ext cx="7945776" cy="340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E5E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go around the room to share the chosen problem from each table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33669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 l="-76" r="-76"/>
          <a:stretch/>
        </p:blipFill>
        <p:spPr>
          <a:xfrm>
            <a:off x="3364534" y="1475156"/>
            <a:ext cx="2414702" cy="21431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5979" y="285979"/>
            <a:ext cx="714604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" name="Shape 3"/>
          <p:cNvSpPr/>
          <p:nvPr/>
        </p:nvSpPr>
        <p:spPr>
          <a:xfrm>
            <a:off x="285979" y="285979"/>
            <a:ext cx="14402" cy="7146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7" name="Shape 4"/>
          <p:cNvSpPr/>
          <p:nvPr/>
        </p:nvSpPr>
        <p:spPr>
          <a:xfrm>
            <a:off x="257175" y="257175"/>
            <a:ext cx="71324" cy="71324"/>
          </a:xfrm>
          <a:prstGeom prst="rect">
            <a:avLst/>
          </a:prstGeom>
          <a:solidFill>
            <a:srgbClr val="00FF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8" name="Shape 5"/>
          <p:cNvSpPr/>
          <p:nvPr/>
        </p:nvSpPr>
        <p:spPr>
          <a:xfrm>
            <a:off x="8143875" y="4843120"/>
            <a:ext cx="714604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Shape 6"/>
          <p:cNvSpPr/>
          <p:nvPr/>
        </p:nvSpPr>
        <p:spPr>
          <a:xfrm>
            <a:off x="8844076" y="4143604"/>
            <a:ext cx="14402" cy="7146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0" name="Shape 7"/>
          <p:cNvSpPr/>
          <p:nvPr/>
        </p:nvSpPr>
        <p:spPr>
          <a:xfrm>
            <a:off x="8815273" y="4815001"/>
            <a:ext cx="71324" cy="71324"/>
          </a:xfrm>
          <a:prstGeom prst="rect">
            <a:avLst/>
          </a:prstGeom>
          <a:solidFill>
            <a:srgbClr val="00FF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4143604" y="3872027"/>
            <a:ext cx="857250" cy="432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56000" y="1228954"/>
            <a:ext cx="1835887" cy="414224"/>
          </a:xfrm>
          <a:prstGeom prst="roundRect">
            <a:avLst>
              <a:gd name="adj" fmla="val 22836"/>
            </a:avLst>
          </a:prstGeom>
          <a:solidFill>
            <a:srgbClr val="00FF94">
              <a:alpha val="5000"/>
            </a:srgbClr>
          </a:solidFill>
          <a:ln w="12700">
            <a:solidFill>
              <a:srgbClr val="00FF9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3" name="Text 9"/>
          <p:cNvSpPr txBox="1"/>
          <p:nvPr/>
        </p:nvSpPr>
        <p:spPr>
          <a:xfrm>
            <a:off x="3364534" y="1228954"/>
            <a:ext cx="2328695" cy="41490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9075" tIns="76200" rIns="219075" bIns="76200" rtlCol="0" anchor="ctr"/>
          <a:lstStyle/>
          <a:p>
            <a:pPr algn="ctr"/>
            <a:r>
              <a:rPr lang="en-US" kern="0" spc="405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</a:t>
            </a:r>
            <a:endParaRPr lang="en-US" dirty="0"/>
          </a:p>
        </p:txBody>
      </p:sp>
      <p:sp>
        <p:nvSpPr>
          <p:cNvPr id="14" name="Text 10"/>
          <p:cNvSpPr txBox="1"/>
          <p:nvPr/>
        </p:nvSpPr>
        <p:spPr>
          <a:xfrm>
            <a:off x="2306345" y="1785824"/>
            <a:ext cx="4536567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75" b="1" kern="0" spc="-315" dirty="0">
                <a:solidFill>
                  <a:srgbClr val="E5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</a:t>
            </a:r>
          </a:p>
          <a:p>
            <a:pPr algn="ctr"/>
            <a:r>
              <a:rPr lang="en-US" sz="7875" b="1" kern="0" spc="-31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MODULAR</a:t>
            </a:r>
            <a:endParaRPr lang="en-US" sz="7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28625" y="5161331"/>
            <a:ext cx="21260" cy="292837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" name="Text 3"/>
          <p:cNvSpPr txBox="1"/>
          <p:nvPr/>
        </p:nvSpPr>
        <p:spPr>
          <a:xfrm>
            <a:off x="593218" y="5232654"/>
            <a:ext cx="3479063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We’re building this specific list view to replace the placeholder.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28626" y="1050646"/>
            <a:ext cx="828652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7" name="Text 5"/>
          <p:cNvSpPr txBox="1"/>
          <p:nvPr/>
        </p:nvSpPr>
        <p:spPr>
          <a:xfrm>
            <a:off x="428625" y="285979"/>
            <a:ext cx="3171825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kern="0" spc="158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STARTING POINT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28626" y="493091"/>
            <a:ext cx="4109999" cy="450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25" b="1" kern="0" spc="-4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</a:rPr>
              <a:t>Modular Building in Action</a:t>
            </a:r>
            <a:endParaRPr lang="en-US" sz="2325" dirty="0"/>
          </a:p>
        </p:txBody>
      </p:sp>
      <p:sp>
        <p:nvSpPr>
          <p:cNvPr id="9" name="Text 7"/>
          <p:cNvSpPr txBox="1"/>
          <p:nvPr/>
        </p:nvSpPr>
        <p:spPr>
          <a:xfrm>
            <a:off x="7629525" y="814731"/>
            <a:ext cx="1093166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REPO: v1.0.0-starter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1724102" y="1200150"/>
            <a:ext cx="656996" cy="192710"/>
          </a:xfrm>
          <a:prstGeom prst="roundRect">
            <a:avLst>
              <a:gd name="adj" fmla="val 10544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1" name="Text 9"/>
          <p:cNvSpPr txBox="1"/>
          <p:nvPr/>
        </p:nvSpPr>
        <p:spPr>
          <a:xfrm>
            <a:off x="1724101" y="1200150"/>
            <a:ext cx="700202" cy="1933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8575" rIns="76200" bIns="28575" rtlCol="0" anchor="ctr"/>
          <a:lstStyle/>
          <a:p>
            <a:r>
              <a:rPr lang="en-US" sz="600" b="1" kern="0" spc="62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Pre-Built</a:t>
            </a:r>
            <a:endParaRPr lang="en-US" sz="600" dirty="0"/>
          </a:p>
        </p:txBody>
      </p:sp>
      <p:sp>
        <p:nvSpPr>
          <p:cNvPr id="12" name="Text 10"/>
          <p:cNvSpPr txBox="1"/>
          <p:nvPr/>
        </p:nvSpPr>
        <p:spPr>
          <a:xfrm>
            <a:off x="1689811" y="4989881"/>
            <a:ext cx="8085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Home Screen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36059" y="1200150"/>
            <a:ext cx="878510" cy="192710"/>
          </a:xfrm>
          <a:prstGeom prst="roundRect">
            <a:avLst>
              <a:gd name="adj" fmla="val 10544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4" name="Text 12"/>
          <p:cNvSpPr txBox="1"/>
          <p:nvPr/>
        </p:nvSpPr>
        <p:spPr>
          <a:xfrm>
            <a:off x="4136059" y="1200150"/>
            <a:ext cx="921716" cy="1933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8575" rIns="76200" bIns="28575" rtlCol="0" anchor="ctr"/>
          <a:lstStyle/>
          <a:p>
            <a:r>
              <a:rPr lang="en-US" sz="600" b="1" kern="0" spc="62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State</a:t>
            </a:r>
            <a:endParaRPr lang="en-US" sz="600" dirty="0"/>
          </a:p>
        </p:txBody>
      </p:sp>
      <p:sp>
        <p:nvSpPr>
          <p:cNvPr id="15" name="Text 13"/>
          <p:cNvSpPr txBox="1"/>
          <p:nvPr/>
        </p:nvSpPr>
        <p:spPr>
          <a:xfrm>
            <a:off x="4246474" y="4989881"/>
            <a:ext cx="7824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Placeholder</a:t>
            </a:r>
            <a:endParaRPr lang="en-US" sz="9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t="-639" b="-639"/>
          <a:stretch/>
        </p:blipFill>
        <p:spPr>
          <a:xfrm>
            <a:off x="6685179" y="1200150"/>
            <a:ext cx="821588" cy="19271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685178" y="1200150"/>
            <a:ext cx="86479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kern="0" spc="62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Current Task</a:t>
            </a:r>
            <a:endParaRPr lang="en-US" sz="600" dirty="0"/>
          </a:p>
        </p:txBody>
      </p:sp>
      <p:sp>
        <p:nvSpPr>
          <p:cNvPr id="18" name="Text 15"/>
          <p:cNvSpPr txBox="1"/>
          <p:nvPr/>
        </p:nvSpPr>
        <p:spPr>
          <a:xfrm>
            <a:off x="6821653" y="4989881"/>
            <a:ext cx="6549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 List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l="-1923" r="-1923"/>
          <a:stretch/>
        </p:blipFill>
        <p:spPr>
          <a:xfrm>
            <a:off x="3264408" y="3105989"/>
            <a:ext cx="92583" cy="142646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rcRect l="-1923" r="-1923"/>
          <a:stretch/>
        </p:blipFill>
        <p:spPr>
          <a:xfrm>
            <a:off x="5786780" y="3105989"/>
            <a:ext cx="92583" cy="142646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t="-6" b="-6"/>
          <a:stretch/>
        </p:blipFill>
        <p:spPr>
          <a:xfrm>
            <a:off x="1121284" y="1475156"/>
            <a:ext cx="1857146" cy="34290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164489" y="1518361"/>
            <a:ext cx="1771421" cy="3836366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 l="18" r="18"/>
          <a:stretch/>
        </p:blipFill>
        <p:spPr>
          <a:xfrm>
            <a:off x="1164489" y="1518361"/>
            <a:ext cx="1771421" cy="3836366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rcRect t="-6" b="-6"/>
          <a:stretch/>
        </p:blipFill>
        <p:spPr>
          <a:xfrm>
            <a:off x="3643656" y="1475156"/>
            <a:ext cx="1857146" cy="34290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3686176" y="1518362"/>
            <a:ext cx="1771421" cy="3815105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rcRect l="57" r="57"/>
          <a:stretch/>
        </p:blipFill>
        <p:spPr>
          <a:xfrm>
            <a:off x="3686176" y="1518362"/>
            <a:ext cx="1771421" cy="3815105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rcRect t="-6" b="-6"/>
          <a:stretch/>
        </p:blipFill>
        <p:spPr>
          <a:xfrm>
            <a:off x="6165343" y="1475156"/>
            <a:ext cx="1857146" cy="342900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207862" y="1518362"/>
            <a:ext cx="1771421" cy="3343275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9" name="Shape 19"/>
          <p:cNvSpPr/>
          <p:nvPr/>
        </p:nvSpPr>
        <p:spPr>
          <a:xfrm>
            <a:off x="6207862" y="1518361"/>
            <a:ext cx="1771421" cy="49309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 sz="1013"/>
          </a:p>
        </p:txBody>
      </p:sp>
      <p:sp>
        <p:nvSpPr>
          <p:cNvPr id="30" name="Shape 20"/>
          <p:cNvSpPr/>
          <p:nvPr/>
        </p:nvSpPr>
        <p:spPr>
          <a:xfrm>
            <a:off x="6207862" y="2004593"/>
            <a:ext cx="1771421" cy="685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1" name="Text 21"/>
          <p:cNvSpPr txBox="1"/>
          <p:nvPr/>
        </p:nvSpPr>
        <p:spPr>
          <a:xfrm>
            <a:off x="6307989" y="1518361"/>
            <a:ext cx="900455" cy="493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SXSW Directory</a:t>
            </a:r>
            <a:endParaRPr lang="en-US" sz="9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79715" y="1767992"/>
            <a:ext cx="100127" cy="100127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6293587" y="2096491"/>
            <a:ext cx="1599971" cy="399821"/>
          </a:xfrm>
          <a:prstGeom prst="roundRect">
            <a:avLst>
              <a:gd name="adj" fmla="val 49008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4" name="Shape 23"/>
          <p:cNvSpPr/>
          <p:nvPr/>
        </p:nvSpPr>
        <p:spPr>
          <a:xfrm>
            <a:off x="6364910" y="2167814"/>
            <a:ext cx="257175" cy="257175"/>
          </a:xfrm>
          <a:prstGeom prst="roundRect">
            <a:avLst>
              <a:gd name="adj" fmla="val 88889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5" name="Text 24"/>
          <p:cNvSpPr txBox="1"/>
          <p:nvPr/>
        </p:nvSpPr>
        <p:spPr>
          <a:xfrm>
            <a:off x="6693408" y="2167814"/>
            <a:ext cx="1186434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dirty="0">
                <a:solidFill>
                  <a:srgbClr val="EEE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The Future of Code</a:t>
            </a:r>
            <a:endParaRPr lang="en-US" sz="600" dirty="0"/>
          </a:p>
        </p:txBody>
      </p:sp>
      <p:sp>
        <p:nvSpPr>
          <p:cNvPr id="36" name="Text 25"/>
          <p:cNvSpPr txBox="1"/>
          <p:nvPr/>
        </p:nvSpPr>
        <p:spPr>
          <a:xfrm>
            <a:off x="6693408" y="2300173"/>
            <a:ext cx="1186434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 AM • Hall A</a:t>
            </a:r>
            <a:endParaRPr lang="en-US" sz="600" dirty="0"/>
          </a:p>
        </p:txBody>
      </p:sp>
      <p:sp>
        <p:nvSpPr>
          <p:cNvPr id="37" name="Shape 26"/>
          <p:cNvSpPr/>
          <p:nvPr/>
        </p:nvSpPr>
        <p:spPr>
          <a:xfrm>
            <a:off x="6293587" y="2568322"/>
            <a:ext cx="1599971" cy="399821"/>
          </a:xfrm>
          <a:prstGeom prst="roundRect">
            <a:avLst>
              <a:gd name="adj" fmla="val 49008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8" name="Shape 27"/>
          <p:cNvSpPr/>
          <p:nvPr/>
        </p:nvSpPr>
        <p:spPr>
          <a:xfrm>
            <a:off x="6364910" y="2639645"/>
            <a:ext cx="257175" cy="257175"/>
          </a:xfrm>
          <a:prstGeom prst="roundRect">
            <a:avLst>
              <a:gd name="adj" fmla="val 88889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9" name="Text 28"/>
          <p:cNvSpPr txBox="1"/>
          <p:nvPr/>
        </p:nvSpPr>
        <p:spPr>
          <a:xfrm>
            <a:off x="6693408" y="2639645"/>
            <a:ext cx="1186434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dirty="0">
                <a:solidFill>
                  <a:srgbClr val="EEE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Coding Workshop</a:t>
            </a:r>
            <a:endParaRPr lang="en-US" sz="600" dirty="0"/>
          </a:p>
        </p:txBody>
      </p:sp>
      <p:sp>
        <p:nvSpPr>
          <p:cNvPr id="40" name="Text 29"/>
          <p:cNvSpPr txBox="1"/>
          <p:nvPr/>
        </p:nvSpPr>
        <p:spPr>
          <a:xfrm>
            <a:off x="6693408" y="2772004"/>
            <a:ext cx="1186434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12:30 PM • Room 404</a:t>
            </a:r>
            <a:endParaRPr lang="en-US" sz="600" dirty="0"/>
          </a:p>
        </p:txBody>
      </p:sp>
      <p:sp>
        <p:nvSpPr>
          <p:cNvPr id="41" name="Shape 30"/>
          <p:cNvSpPr/>
          <p:nvPr/>
        </p:nvSpPr>
        <p:spPr>
          <a:xfrm>
            <a:off x="6293587" y="3039466"/>
            <a:ext cx="1599971" cy="399821"/>
          </a:xfrm>
          <a:prstGeom prst="roundRect">
            <a:avLst>
              <a:gd name="adj" fmla="val 49008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2" name="Shape 31"/>
          <p:cNvSpPr/>
          <p:nvPr/>
        </p:nvSpPr>
        <p:spPr>
          <a:xfrm>
            <a:off x="6364910" y="3110789"/>
            <a:ext cx="257175" cy="257175"/>
          </a:xfrm>
          <a:prstGeom prst="roundRect">
            <a:avLst>
              <a:gd name="adj" fmla="val 88889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3" name="Text 32"/>
          <p:cNvSpPr txBox="1"/>
          <p:nvPr/>
        </p:nvSpPr>
        <p:spPr>
          <a:xfrm>
            <a:off x="6693408" y="3110789"/>
            <a:ext cx="1186434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dirty="0">
                <a:solidFill>
                  <a:srgbClr val="EEEE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Systems 2026</a:t>
            </a:r>
            <a:endParaRPr lang="en-US" sz="600" dirty="0"/>
          </a:p>
        </p:txBody>
      </p:sp>
      <p:sp>
        <p:nvSpPr>
          <p:cNvPr id="44" name="Text 33"/>
          <p:cNvSpPr txBox="1"/>
          <p:nvPr/>
        </p:nvSpPr>
        <p:spPr>
          <a:xfrm>
            <a:off x="6693408" y="3243148"/>
            <a:ext cx="1186434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02:00 PM • Hall B</a:t>
            </a:r>
            <a:endParaRPr lang="en-US" sz="600" dirty="0"/>
          </a:p>
        </p:txBody>
      </p:sp>
      <p:sp>
        <p:nvSpPr>
          <p:cNvPr id="45" name="Shape 34"/>
          <p:cNvSpPr/>
          <p:nvPr/>
        </p:nvSpPr>
        <p:spPr>
          <a:xfrm>
            <a:off x="6293587" y="3511297"/>
            <a:ext cx="1599971" cy="399821"/>
          </a:xfrm>
          <a:prstGeom prst="roundRect">
            <a:avLst>
              <a:gd name="adj" fmla="val 49008"/>
            </a:avLst>
          </a:prstGeom>
          <a:solidFill>
            <a:srgbClr val="222222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6" name="Shape 35"/>
          <p:cNvSpPr/>
          <p:nvPr/>
        </p:nvSpPr>
        <p:spPr>
          <a:xfrm>
            <a:off x="6364910" y="3582620"/>
            <a:ext cx="257175" cy="257175"/>
          </a:xfrm>
          <a:prstGeom prst="roundRect">
            <a:avLst>
              <a:gd name="adj" fmla="val 88889"/>
            </a:avLst>
          </a:prstGeom>
          <a:solidFill>
            <a:srgbClr val="2A2A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7" name="Text 36"/>
          <p:cNvSpPr txBox="1"/>
          <p:nvPr/>
        </p:nvSpPr>
        <p:spPr>
          <a:xfrm>
            <a:off x="6693408" y="3582620"/>
            <a:ext cx="1186434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dirty="0">
                <a:solidFill>
                  <a:srgbClr val="EEEEEE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Afterparty Logic</a:t>
            </a:r>
            <a:endParaRPr lang="en-US" sz="600" dirty="0"/>
          </a:p>
        </p:txBody>
      </p:sp>
      <p:sp>
        <p:nvSpPr>
          <p:cNvPr id="48" name="Text 37"/>
          <p:cNvSpPr txBox="1"/>
          <p:nvPr/>
        </p:nvSpPr>
        <p:spPr>
          <a:xfrm>
            <a:off x="6693408" y="3714979"/>
            <a:ext cx="1186434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88888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08:00 PM • Rainey St</a:t>
            </a:r>
            <a:endParaRPr lang="en-US" sz="600" dirty="0"/>
          </a:p>
        </p:txBody>
      </p:sp>
      <p:sp>
        <p:nvSpPr>
          <p:cNvPr id="49" name="Shape 38"/>
          <p:cNvSpPr/>
          <p:nvPr/>
        </p:nvSpPr>
        <p:spPr>
          <a:xfrm>
            <a:off x="6207862" y="4504334"/>
            <a:ext cx="1771421" cy="35730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1013"/>
          </a:p>
        </p:txBody>
      </p:sp>
      <p:sp>
        <p:nvSpPr>
          <p:cNvPr id="50" name="Shape 39"/>
          <p:cNvSpPr/>
          <p:nvPr/>
        </p:nvSpPr>
        <p:spPr>
          <a:xfrm>
            <a:off x="6207862" y="4504334"/>
            <a:ext cx="1771421" cy="685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0"/>
          <a:srcRect t="-842" b="-842"/>
          <a:stretch/>
        </p:blipFill>
        <p:spPr>
          <a:xfrm>
            <a:off x="6441034" y="4622293"/>
            <a:ext cx="142646" cy="128930"/>
          </a:xfrm>
          <a:prstGeom prst="rect">
            <a:avLst/>
          </a:prstGeom>
        </p:spPr>
      </p:pic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1"/>
          <a:srcRect l="-760" r="-760"/>
          <a:stretch/>
        </p:blipFill>
        <p:spPr>
          <a:xfrm>
            <a:off x="7050710" y="4622293"/>
            <a:ext cx="114529" cy="128930"/>
          </a:xfrm>
          <a:prstGeom prst="rect">
            <a:avLst/>
          </a:prstGeom>
        </p:spPr>
      </p:pic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2"/>
          <a:srcRect l="-760" r="-760"/>
          <a:stretch/>
        </p:blipFill>
        <p:spPr>
          <a:xfrm>
            <a:off x="7631583" y="4622293"/>
            <a:ext cx="114529" cy="128930"/>
          </a:xfrm>
          <a:prstGeom prst="rect">
            <a:avLst/>
          </a:prstGeom>
        </p:spPr>
      </p:pic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3"/>
          <a:srcRect l="-63" r="-63"/>
          <a:stretch/>
        </p:blipFill>
        <p:spPr>
          <a:xfrm>
            <a:off x="1728902" y="1518361"/>
            <a:ext cx="643280" cy="157049"/>
          </a:xfrm>
          <a:prstGeom prst="rect">
            <a:avLst/>
          </a:prstGeom>
        </p:spPr>
      </p:pic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3"/>
          <a:srcRect l="-63" r="-63"/>
          <a:stretch/>
        </p:blipFill>
        <p:spPr>
          <a:xfrm>
            <a:off x="4250589" y="1518361"/>
            <a:ext cx="643280" cy="157049"/>
          </a:xfrm>
          <a:prstGeom prst="rect">
            <a:avLst/>
          </a:prstGeom>
        </p:spPr>
      </p:pic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13"/>
          <a:srcRect l="-63" r="-63"/>
          <a:stretch/>
        </p:blipFill>
        <p:spPr>
          <a:xfrm>
            <a:off x="6772276" y="1518361"/>
            <a:ext cx="643280" cy="157049"/>
          </a:xfrm>
          <a:prstGeom prst="rect">
            <a:avLst/>
          </a:prstGeom>
        </p:spPr>
      </p:pic>
      <p:sp>
        <p:nvSpPr>
          <p:cNvPr id="57" name="Shape 40"/>
          <p:cNvSpPr/>
          <p:nvPr/>
        </p:nvSpPr>
        <p:spPr>
          <a:xfrm rot="21300000">
            <a:off x="2514829" y="4509876"/>
            <a:ext cx="357302" cy="292837"/>
          </a:xfrm>
          <a:prstGeom prst="roundRect">
            <a:avLst>
              <a:gd name="adj" fmla="val 45696"/>
            </a:avLst>
          </a:prstGeom>
          <a:solidFill>
            <a:srgbClr val="000000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8" name="Text 41"/>
          <p:cNvSpPr txBox="1"/>
          <p:nvPr/>
        </p:nvSpPr>
        <p:spPr>
          <a:xfrm rot="21300000">
            <a:off x="2496901" y="4517509"/>
            <a:ext cx="400508" cy="20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47625" rIns="76200" bIns="47625" rtlCol="0" anchor="ctr"/>
          <a:lstStyle/>
          <a:p>
            <a:pPr algn="ctr"/>
            <a:r>
              <a:rPr lang="en-US" sz="6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ENTRY</a:t>
            </a:r>
            <a:endParaRPr lang="en-US" sz="600" dirty="0"/>
          </a:p>
          <a:p>
            <a:pPr algn="ctr"/>
            <a:r>
              <a:rPr lang="en-US" sz="6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</a:t>
            </a:r>
            <a:endParaRPr lang="en-US" sz="600" dirty="0"/>
          </a:p>
        </p:txBody>
      </p:sp>
      <p:sp>
        <p:nvSpPr>
          <p:cNvPr id="59" name="Shape 42"/>
          <p:cNvSpPr/>
          <p:nvPr/>
        </p:nvSpPr>
        <p:spPr>
          <a:xfrm rot="300000">
            <a:off x="3757498" y="4282821"/>
            <a:ext cx="357302" cy="292837"/>
          </a:xfrm>
          <a:prstGeom prst="roundRect">
            <a:avLst>
              <a:gd name="adj" fmla="val 45696"/>
            </a:avLst>
          </a:prstGeom>
          <a:solidFill>
            <a:srgbClr val="000000">
              <a:alpha val="85000"/>
            </a:srgbClr>
          </a:solidFill>
          <a:ln w="12700">
            <a:solidFill>
              <a:srgbClr val="FF5E5E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0" name="Text 43"/>
          <p:cNvSpPr txBox="1"/>
          <p:nvPr/>
        </p:nvSpPr>
        <p:spPr>
          <a:xfrm rot="300000">
            <a:off x="3736238" y="4228392"/>
            <a:ext cx="400508" cy="2935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47625" rIns="76200" bIns="47625" rtlCol="0" anchor="ctr"/>
          <a:lstStyle/>
          <a:p>
            <a:pPr algn="ctr"/>
            <a:r>
              <a:rPr lang="en-US" sz="600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NEEDS</a:t>
            </a:r>
            <a:endParaRPr lang="en-US" sz="600" dirty="0"/>
          </a:p>
          <a:p>
            <a:pPr algn="ctr"/>
            <a:r>
              <a:rPr lang="en-US" sz="600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 </a:t>
            </a:r>
            <a:endParaRPr lang="en-US" sz="600" dirty="0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4"/>
          <a:srcRect l="-2943" r="-2943"/>
          <a:stretch/>
        </p:blipFill>
        <p:spPr>
          <a:xfrm>
            <a:off x="7662444" y="2232279"/>
            <a:ext cx="392963" cy="292837"/>
          </a:xfrm>
          <a:prstGeom prst="rect">
            <a:avLst/>
          </a:prstGeom>
        </p:spPr>
      </p:pic>
      <p:sp>
        <p:nvSpPr>
          <p:cNvPr id="62" name="Text 44"/>
          <p:cNvSpPr txBox="1"/>
          <p:nvPr/>
        </p:nvSpPr>
        <p:spPr>
          <a:xfrm rot="21300000">
            <a:off x="7641184" y="2232280"/>
            <a:ext cx="436169" cy="293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</a:t>
            </a:r>
            <a:endParaRPr lang="en-US" sz="600" dirty="0"/>
          </a:p>
          <a:p>
            <a:pPr algn="ctr"/>
            <a:r>
              <a:rPr lang="en-US" sz="6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28626" y="986180"/>
            <a:ext cx="828652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" name="Text 3"/>
          <p:cNvSpPr txBox="1"/>
          <p:nvPr/>
        </p:nvSpPr>
        <p:spPr>
          <a:xfrm>
            <a:off x="428625" y="285979"/>
            <a:ext cx="5336896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kern="0" spc="158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8625" y="493091"/>
            <a:ext cx="6783248" cy="386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kern="0" spc="-4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Tried &amp; Tested: The 6-Step Prompt Structure</a:t>
            </a:r>
            <a:endParaRPr lang="en-US" sz="2025" dirty="0"/>
          </a:p>
        </p:txBody>
      </p:sp>
      <p:sp>
        <p:nvSpPr>
          <p:cNvPr id="7" name="Text 5"/>
          <p:cNvSpPr txBox="1"/>
          <p:nvPr/>
        </p:nvSpPr>
        <p:spPr>
          <a:xfrm>
            <a:off x="7886700" y="750266"/>
            <a:ext cx="835991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framework_v1.md</a:t>
            </a:r>
            <a:endParaRPr lang="en-US" sz="675" dirty="0"/>
          </a:p>
        </p:txBody>
      </p:sp>
      <p:sp>
        <p:nvSpPr>
          <p:cNvPr id="8" name="Shape 6"/>
          <p:cNvSpPr/>
          <p:nvPr/>
        </p:nvSpPr>
        <p:spPr>
          <a:xfrm>
            <a:off x="428626" y="1135684"/>
            <a:ext cx="4072280" cy="1043102"/>
          </a:xfrm>
          <a:prstGeom prst="roundRect">
            <a:avLst>
              <a:gd name="adj" fmla="val 10808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Shape 7"/>
          <p:cNvSpPr/>
          <p:nvPr/>
        </p:nvSpPr>
        <p:spPr>
          <a:xfrm>
            <a:off x="550012" y="1257072"/>
            <a:ext cx="285979" cy="285979"/>
          </a:xfrm>
          <a:prstGeom prst="roundRect">
            <a:avLst>
              <a:gd name="adj" fmla="val 95923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0" name="Text 8"/>
          <p:cNvSpPr txBox="1"/>
          <p:nvPr/>
        </p:nvSpPr>
        <p:spPr>
          <a:xfrm>
            <a:off x="521208" y="1257072"/>
            <a:ext cx="342900" cy="2859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921716" y="1303706"/>
            <a:ext cx="1233068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Task in Hand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550012" y="1614374"/>
            <a:ext cx="14402" cy="378562"/>
          </a:xfrm>
          <a:prstGeom prst="roundRect">
            <a:avLst>
              <a:gd name="adj" fmla="val 1078190"/>
            </a:avLst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4" name="Text 12"/>
          <p:cNvSpPr txBox="1"/>
          <p:nvPr/>
        </p:nvSpPr>
        <p:spPr>
          <a:xfrm>
            <a:off x="603161" y="1616430"/>
            <a:ext cx="3722522" cy="602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The Event Home Screen is currently empty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I'd like it to show a list of Event Activities with an option to add an activity'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8626" y="2283714"/>
            <a:ext cx="4072280" cy="945719"/>
          </a:xfrm>
          <a:prstGeom prst="roundRect">
            <a:avLst>
              <a:gd name="adj" fmla="val 10808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6" name="Shape 14"/>
          <p:cNvSpPr/>
          <p:nvPr/>
        </p:nvSpPr>
        <p:spPr>
          <a:xfrm>
            <a:off x="550012" y="2405101"/>
            <a:ext cx="285979" cy="285979"/>
          </a:xfrm>
          <a:prstGeom prst="roundRect">
            <a:avLst>
              <a:gd name="adj" fmla="val 95923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7" name="Text 15"/>
          <p:cNvSpPr txBox="1"/>
          <p:nvPr/>
        </p:nvSpPr>
        <p:spPr>
          <a:xfrm>
            <a:off x="521208" y="2405101"/>
            <a:ext cx="342900" cy="2859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2.x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921716" y="2451735"/>
            <a:ext cx="1215923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Sub-Task Details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550012" y="2762403"/>
            <a:ext cx="14402" cy="378562"/>
          </a:xfrm>
          <a:prstGeom prst="roundRect">
            <a:avLst>
              <a:gd name="adj" fmla="val 1078190"/>
            </a:avLst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1" name="Text 19"/>
          <p:cNvSpPr txBox="1"/>
          <p:nvPr/>
        </p:nvSpPr>
        <p:spPr>
          <a:xfrm>
            <a:off x="635737" y="2840584"/>
            <a:ext cx="3722522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Each event activity should be a card 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Tapping the card should open a new screen with full activity details 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8626" y="3319231"/>
            <a:ext cx="4072280" cy="1642854"/>
          </a:xfrm>
          <a:prstGeom prst="roundRect">
            <a:avLst>
              <a:gd name="adj" fmla="val 10808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3" name="Shape 21"/>
          <p:cNvSpPr/>
          <p:nvPr/>
        </p:nvSpPr>
        <p:spPr>
          <a:xfrm>
            <a:off x="550012" y="3441304"/>
            <a:ext cx="285979" cy="285979"/>
          </a:xfrm>
          <a:prstGeom prst="roundRect">
            <a:avLst>
              <a:gd name="adj" fmla="val 95923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4" name="Text 22"/>
          <p:cNvSpPr txBox="1"/>
          <p:nvPr/>
        </p:nvSpPr>
        <p:spPr>
          <a:xfrm>
            <a:off x="521208" y="3441304"/>
            <a:ext cx="342900" cy="2859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3.x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921716" y="3487253"/>
            <a:ext cx="141137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&amp; Interactions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550012" y="3797920"/>
            <a:ext cx="14402" cy="378562"/>
          </a:xfrm>
          <a:prstGeom prst="roundRect">
            <a:avLst>
              <a:gd name="adj" fmla="val 1078190"/>
            </a:avLst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8" name="Text 26"/>
          <p:cNvSpPr txBox="1"/>
          <p:nvPr/>
        </p:nvSpPr>
        <p:spPr>
          <a:xfrm>
            <a:off x="570814" y="4007816"/>
            <a:ext cx="3722522" cy="77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We will need an </a:t>
            </a:r>
            <a:r>
              <a:rPr lang="en-US" sz="90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eventActivities</a:t>
            </a:r>
            <a:r>
              <a:rPr lang="en-US" sz="9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table with appropriate meta data columns - </a:t>
            </a:r>
            <a:r>
              <a:rPr lang="en-US" sz="90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</a:t>
            </a:r>
            <a:r>
              <a:rPr lang="en-US" sz="9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 (local), location, title, description, speakers, type </a:t>
            </a:r>
            <a:r>
              <a:rPr lang="en-US" sz="90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etc</a:t>
            </a:r>
            <a:r>
              <a:rPr lang="en-US" sz="9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</a:p>
          <a:p>
            <a:r>
              <a:rPr lang="en-US" sz="9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 We will need to allow all users read/write access to this table as we don't have auth in place for this prototyping</a:t>
            </a:r>
          </a:p>
          <a:p>
            <a:r>
              <a:rPr lang="en-US" sz="9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 We will need to populate the table with some sample SXSW events - </a:t>
            </a:r>
            <a:r>
              <a:rPr lang="en-US" sz="90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</a:t>
            </a:r>
            <a:r>
              <a:rPr lang="en-US" sz="9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this event, the keynote, and maybe some music and film events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43552" y="1135684"/>
            <a:ext cx="4072280" cy="1093166"/>
          </a:xfrm>
          <a:prstGeom prst="roundRect">
            <a:avLst>
              <a:gd name="adj" fmla="val 9841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0" name="Shape 28"/>
          <p:cNvSpPr/>
          <p:nvPr/>
        </p:nvSpPr>
        <p:spPr>
          <a:xfrm>
            <a:off x="4764939" y="1257072"/>
            <a:ext cx="285979" cy="285979"/>
          </a:xfrm>
          <a:prstGeom prst="roundRect">
            <a:avLst>
              <a:gd name="adj" fmla="val 95923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1" name="Text 29"/>
          <p:cNvSpPr txBox="1"/>
          <p:nvPr/>
        </p:nvSpPr>
        <p:spPr>
          <a:xfrm>
            <a:off x="4736135" y="1257072"/>
            <a:ext cx="342900" cy="2859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dirty="0"/>
          </a:p>
        </p:txBody>
      </p:sp>
      <p:sp>
        <p:nvSpPr>
          <p:cNvPr id="32" name="Text 30"/>
          <p:cNvSpPr txBox="1"/>
          <p:nvPr/>
        </p:nvSpPr>
        <p:spPr>
          <a:xfrm>
            <a:off x="5136642" y="1303706"/>
            <a:ext cx="1972361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vs. No-Code Decision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4764939" y="1614373"/>
            <a:ext cx="3828821" cy="493091"/>
          </a:xfrm>
          <a:prstGeom prst="roundRect">
            <a:avLst>
              <a:gd name="adj" fmla="val 24188"/>
            </a:avLst>
          </a:prstGeom>
          <a:solidFill>
            <a:srgbClr val="05050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4" name="Shape 32"/>
          <p:cNvSpPr/>
          <p:nvPr/>
        </p:nvSpPr>
        <p:spPr>
          <a:xfrm>
            <a:off x="4764938" y="1614373"/>
            <a:ext cx="14402" cy="493091"/>
          </a:xfrm>
          <a:prstGeom prst="roundRect">
            <a:avLst>
              <a:gd name="adj" fmla="val 828175"/>
            </a:avLst>
          </a:prstGeom>
          <a:solidFill>
            <a:srgbClr val="00FF94"/>
          </a:solidFill>
          <a:ln w="12700">
            <a:solidFill>
              <a:srgbClr val="00FF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5" name="Text 33"/>
          <p:cNvSpPr txBox="1"/>
          <p:nvPr/>
        </p:nvSpPr>
        <p:spPr>
          <a:xfrm>
            <a:off x="4850664" y="1693241"/>
            <a:ext cx="372252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A:</a:t>
            </a:r>
            <a:r>
              <a:rPr lang="en-US" sz="9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"What do you think, can you suggest more detail for our table columns?"</a:t>
            </a:r>
            <a:endParaRPr lang="en-US" sz="900" dirty="0"/>
          </a:p>
          <a:p>
            <a:r>
              <a:rPr lang="en-US" sz="9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B:</a:t>
            </a:r>
            <a:r>
              <a:rPr lang="en-US" sz="9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"NO CODE YET - just looking for ideas."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43552" y="2330348"/>
            <a:ext cx="4072280" cy="1021842"/>
          </a:xfrm>
          <a:prstGeom prst="roundRect">
            <a:avLst>
              <a:gd name="adj" fmla="val 11264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7" name="Shape 35"/>
          <p:cNvSpPr/>
          <p:nvPr/>
        </p:nvSpPr>
        <p:spPr>
          <a:xfrm>
            <a:off x="4764939" y="2451735"/>
            <a:ext cx="285979" cy="285979"/>
          </a:xfrm>
          <a:prstGeom prst="roundRect">
            <a:avLst>
              <a:gd name="adj" fmla="val 95923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8" name="Text 36"/>
          <p:cNvSpPr txBox="1"/>
          <p:nvPr/>
        </p:nvSpPr>
        <p:spPr>
          <a:xfrm>
            <a:off x="4736135" y="2451735"/>
            <a:ext cx="342900" cy="2859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dirty="0"/>
          </a:p>
        </p:txBody>
      </p:sp>
      <p:sp>
        <p:nvSpPr>
          <p:cNvPr id="39" name="Text 37"/>
          <p:cNvSpPr txBox="1"/>
          <p:nvPr/>
        </p:nvSpPr>
        <p:spPr>
          <a:xfrm>
            <a:off x="5136642" y="2498370"/>
            <a:ext cx="1471041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Magic Question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4764939" y="2809036"/>
            <a:ext cx="3828821" cy="271577"/>
          </a:xfrm>
          <a:prstGeom prst="roundRect">
            <a:avLst>
              <a:gd name="adj" fmla="val 79745"/>
            </a:avLst>
          </a:prstGeom>
          <a:solidFill>
            <a:srgbClr val="05050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1" name="Shape 39"/>
          <p:cNvSpPr/>
          <p:nvPr/>
        </p:nvSpPr>
        <p:spPr>
          <a:xfrm>
            <a:off x="4764938" y="2809036"/>
            <a:ext cx="14402" cy="271577"/>
          </a:xfrm>
          <a:prstGeom prst="roundRect">
            <a:avLst>
              <a:gd name="adj" fmla="val 1503791"/>
            </a:avLst>
          </a:prstGeom>
          <a:solidFill>
            <a:srgbClr val="FF5E5E"/>
          </a:solidFill>
          <a:ln w="12700">
            <a:solidFill>
              <a:srgbClr val="FF5E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2" name="Text 40"/>
          <p:cNvSpPr txBox="1"/>
          <p:nvPr/>
        </p:nvSpPr>
        <p:spPr>
          <a:xfrm>
            <a:off x="4850663" y="2887904"/>
            <a:ext cx="3750641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 you have any questions before we start?" // Always ask this.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43552" y="3455060"/>
            <a:ext cx="4072280" cy="1021842"/>
          </a:xfrm>
          <a:prstGeom prst="roundRect">
            <a:avLst>
              <a:gd name="adj" fmla="val 11264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4" name="Shape 42"/>
          <p:cNvSpPr/>
          <p:nvPr/>
        </p:nvSpPr>
        <p:spPr>
          <a:xfrm>
            <a:off x="4764939" y="3576447"/>
            <a:ext cx="285979" cy="285979"/>
          </a:xfrm>
          <a:prstGeom prst="roundRect">
            <a:avLst>
              <a:gd name="adj" fmla="val 95923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5" name="Text 43"/>
          <p:cNvSpPr txBox="1"/>
          <p:nvPr/>
        </p:nvSpPr>
        <p:spPr>
          <a:xfrm>
            <a:off x="4736135" y="3576447"/>
            <a:ext cx="342900" cy="2859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dirty="0"/>
          </a:p>
        </p:txBody>
      </p:sp>
      <p:sp>
        <p:nvSpPr>
          <p:cNvPr id="46" name="Text 44"/>
          <p:cNvSpPr txBox="1"/>
          <p:nvPr/>
        </p:nvSpPr>
        <p:spPr>
          <a:xfrm>
            <a:off x="5136642" y="3622396"/>
            <a:ext cx="157322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Other Considerations</a:t>
            </a:r>
            <a:endParaRPr lang="en-US" sz="975" dirty="0"/>
          </a:p>
        </p:txBody>
      </p:sp>
      <p:sp>
        <p:nvSpPr>
          <p:cNvPr id="47" name="Shape 45"/>
          <p:cNvSpPr/>
          <p:nvPr/>
        </p:nvSpPr>
        <p:spPr>
          <a:xfrm>
            <a:off x="4764939" y="3933749"/>
            <a:ext cx="3828821" cy="378562"/>
          </a:xfrm>
          <a:prstGeom prst="roundRect">
            <a:avLst>
              <a:gd name="adj" fmla="val 41017"/>
            </a:avLst>
          </a:prstGeom>
          <a:solidFill>
            <a:srgbClr val="05050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8" name="Shape 46"/>
          <p:cNvSpPr/>
          <p:nvPr/>
        </p:nvSpPr>
        <p:spPr>
          <a:xfrm>
            <a:off x="4764938" y="3933749"/>
            <a:ext cx="14402" cy="378562"/>
          </a:xfrm>
          <a:prstGeom prst="roundRect">
            <a:avLst>
              <a:gd name="adj" fmla="val 1078190"/>
            </a:avLst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9" name="Text 47"/>
          <p:cNvSpPr txBox="1"/>
          <p:nvPr/>
        </p:nvSpPr>
        <p:spPr>
          <a:xfrm>
            <a:off x="4850664" y="4011931"/>
            <a:ext cx="3722522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 will get this base framework done first, then work on an 'Add Activity' modal."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28626" y="4579087"/>
            <a:ext cx="828652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2" name="Text 50"/>
          <p:cNvSpPr txBox="1"/>
          <p:nvPr/>
        </p:nvSpPr>
        <p:spPr>
          <a:xfrm>
            <a:off x="5326406" y="4780509"/>
            <a:ext cx="443027" cy="164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28575" rIns="57150" bIns="28575" rtlCol="0" anchor="ctr"/>
          <a:lstStyle/>
          <a:p>
            <a:r>
              <a:rPr lang="en-US" sz="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TIP</a:t>
            </a:r>
            <a:endParaRPr lang="en-US" sz="600" dirty="0"/>
          </a:p>
        </p:txBody>
      </p:sp>
      <p:sp>
        <p:nvSpPr>
          <p:cNvPr id="53" name="Text 51"/>
          <p:cNvSpPr txBox="1"/>
          <p:nvPr/>
        </p:nvSpPr>
        <p:spPr>
          <a:xfrm>
            <a:off x="5730351" y="4800261"/>
            <a:ext cx="3765042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latin typeface="Inter" pitchFamily="34" charset="0"/>
                <a:ea typeface="Inter" pitchFamily="34" charset="-122"/>
                <a:cs typeface="Inter" pitchFamily="34" charset="-120"/>
              </a:rPr>
              <a:t>This structure prevents "Context Drift" by anchoring the AI before it writes code.</a:t>
            </a:r>
            <a:endParaRPr lang="en-US" sz="675" dirty="0"/>
          </a:p>
        </p:txBody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8629421" y="4732706"/>
            <a:ext cx="85725" cy="857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>
            <a:extLst>
              <a:ext uri="{FF2B5EF4-FFF2-40B4-BE49-F238E27FC236}">
                <a16:creationId xmlns:a16="http://schemas.microsoft.com/office/drawing/2014/main" id="{2AE910A0-E75E-69DE-4953-81D7F0FC4F1D}"/>
              </a:ext>
            </a:extLst>
          </p:cNvPr>
          <p:cNvSpPr txBox="1"/>
          <p:nvPr/>
        </p:nvSpPr>
        <p:spPr>
          <a:xfrm>
            <a:off x="1127909" y="1671638"/>
            <a:ext cx="6567000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75" b="1" kern="0" spc="-31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</a:rPr>
              <a:t>Over to you Claude/</a:t>
            </a:r>
            <a:r>
              <a:rPr lang="en-US" sz="7875" b="1" kern="0" spc="-315" dirty="0" err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</a:rPr>
              <a:t>ChatGPT</a:t>
            </a:r>
            <a:endParaRPr lang="en-US" sz="7875" dirty="0"/>
          </a:p>
        </p:txBody>
      </p:sp>
    </p:spTree>
    <p:extLst>
      <p:ext uri="{BB962C8B-B14F-4D97-AF65-F5344CB8AC3E}">
        <p14:creationId xmlns:p14="http://schemas.microsoft.com/office/powerpoint/2010/main" val="1250276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2975686" y="4500905"/>
            <a:ext cx="3193085" cy="357302"/>
          </a:xfrm>
          <a:prstGeom prst="roundRect">
            <a:avLst>
              <a:gd name="adj" fmla="val 1919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3154681" y="4622292"/>
            <a:ext cx="142646" cy="11452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383051" y="4500905"/>
            <a:ext cx="2665019" cy="35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“AI reflects the clarity you give it.”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28626" y="1150772"/>
            <a:ext cx="828652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Text 5"/>
          <p:cNvSpPr txBox="1"/>
          <p:nvPr/>
        </p:nvSpPr>
        <p:spPr>
          <a:xfrm>
            <a:off x="428625" y="285979"/>
            <a:ext cx="3536671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kern="0" spc="158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PROCESS</a:t>
            </a:r>
            <a:endParaRPr lang="en-US" sz="750" dirty="0"/>
          </a:p>
        </p:txBody>
      </p:sp>
      <p:sp>
        <p:nvSpPr>
          <p:cNvPr id="10" name="Text 6"/>
          <p:cNvSpPr txBox="1"/>
          <p:nvPr/>
        </p:nvSpPr>
        <p:spPr>
          <a:xfrm>
            <a:off x="428625" y="493091"/>
            <a:ext cx="42649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kern="0" spc="-5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Vibe Coding Loop</a:t>
            </a:r>
            <a:endParaRPr lang="en-US" sz="2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43696" y="785927"/>
            <a:ext cx="171450" cy="17145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alphaModFix amt="30000"/>
          </a:blip>
          <a:srcRect l="-8002" r="-8002"/>
          <a:stretch/>
        </p:blipFill>
        <p:spPr>
          <a:xfrm>
            <a:off x="1257072" y="3500324"/>
            <a:ext cx="6629629" cy="42862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 t="-402" b="-402"/>
          <a:stretch/>
        </p:blipFill>
        <p:spPr>
          <a:xfrm>
            <a:off x="857251" y="2751430"/>
            <a:ext cx="7429271" cy="1440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1920240" y="2701366"/>
            <a:ext cx="64466" cy="100127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3577819" y="2701366"/>
            <a:ext cx="64466" cy="100127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5566639" y="2701366"/>
            <a:ext cx="64466" cy="100127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7223531" y="2701366"/>
            <a:ext cx="64466" cy="100127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824332" y="3138907"/>
            <a:ext cx="643280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7B6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Explain</a:t>
            </a:r>
            <a:endParaRPr lang="en-US" sz="1125" dirty="0"/>
          </a:p>
        </p:txBody>
      </p:sp>
      <p:sp>
        <p:nvSpPr>
          <p:cNvPr id="19" name="Text 8"/>
          <p:cNvSpPr txBox="1"/>
          <p:nvPr/>
        </p:nvSpPr>
        <p:spPr>
          <a:xfrm>
            <a:off x="621334" y="3410484"/>
            <a:ext cx="1043102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 naturally. Define the "Why".</a:t>
            </a:r>
            <a:endParaRPr lang="en-US" sz="75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7251" y="2396186"/>
            <a:ext cx="571271" cy="571271"/>
          </a:xfrm>
          <a:prstGeom prst="rect">
            <a:avLst/>
          </a:prstGeom>
        </p:spPr>
      </p:pic>
      <p:sp>
        <p:nvSpPr>
          <p:cNvPr id="21" name="Shape 9"/>
          <p:cNvSpPr/>
          <p:nvPr/>
        </p:nvSpPr>
        <p:spPr>
          <a:xfrm>
            <a:off x="1279017" y="2374925"/>
            <a:ext cx="171450" cy="17145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2" name="Text 10"/>
          <p:cNvSpPr/>
          <p:nvPr/>
        </p:nvSpPr>
        <p:spPr>
          <a:xfrm>
            <a:off x="1250213" y="2374925"/>
            <a:ext cx="229058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75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9"/>
          <a:srcRect l="-90" r="-90"/>
          <a:stretch/>
        </p:blipFill>
        <p:spPr>
          <a:xfrm>
            <a:off x="999897" y="2567636"/>
            <a:ext cx="285979" cy="228371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2654046" y="3138907"/>
            <a:ext cx="407366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7B6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125" dirty="0"/>
          </a:p>
        </p:txBody>
      </p:sp>
      <p:sp>
        <p:nvSpPr>
          <p:cNvPr id="25" name="Text 12"/>
          <p:cNvSpPr txBox="1"/>
          <p:nvPr/>
        </p:nvSpPr>
        <p:spPr>
          <a:xfrm>
            <a:off x="2335834" y="3410484"/>
            <a:ext cx="1043102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structure before code.</a:t>
            </a:r>
            <a:endParaRPr lang="en-US" sz="750" dirty="0"/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571751" y="2396186"/>
            <a:ext cx="571271" cy="571271"/>
          </a:xfrm>
          <a:prstGeom prst="rect">
            <a:avLst/>
          </a:prstGeom>
        </p:spPr>
      </p:pic>
      <p:sp>
        <p:nvSpPr>
          <p:cNvPr id="27" name="Shape 13"/>
          <p:cNvSpPr/>
          <p:nvPr/>
        </p:nvSpPr>
        <p:spPr>
          <a:xfrm>
            <a:off x="2993517" y="2374925"/>
            <a:ext cx="171450" cy="17145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8" name="Text 14"/>
          <p:cNvSpPr/>
          <p:nvPr/>
        </p:nvSpPr>
        <p:spPr>
          <a:xfrm>
            <a:off x="2964713" y="2374925"/>
            <a:ext cx="229058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675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743201" y="2567636"/>
            <a:ext cx="228371" cy="228371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4298594" y="3153308"/>
            <a:ext cx="5513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</a:t>
            </a:r>
            <a:endParaRPr lang="en-US" dirty="0"/>
          </a:p>
        </p:txBody>
      </p:sp>
      <p:sp>
        <p:nvSpPr>
          <p:cNvPr id="31" name="Text 16"/>
          <p:cNvSpPr txBox="1"/>
          <p:nvPr/>
        </p:nvSpPr>
        <p:spPr>
          <a:xfrm>
            <a:off x="4050334" y="3467405"/>
            <a:ext cx="1043102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code blocks.</a:t>
            </a:r>
            <a:endParaRPr lang="en-US" sz="75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214927" y="2267255"/>
            <a:ext cx="714604" cy="714604"/>
          </a:xfrm>
          <a:prstGeom prst="rect">
            <a:avLst/>
          </a:prstGeom>
        </p:spPr>
      </p:pic>
      <p:sp>
        <p:nvSpPr>
          <p:cNvPr id="33" name="Shape 17"/>
          <p:cNvSpPr/>
          <p:nvPr/>
        </p:nvSpPr>
        <p:spPr>
          <a:xfrm>
            <a:off x="4779341" y="2245995"/>
            <a:ext cx="171450" cy="17145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4" name="Text 18"/>
          <p:cNvSpPr/>
          <p:nvPr/>
        </p:nvSpPr>
        <p:spPr>
          <a:xfrm>
            <a:off x="4750537" y="2245995"/>
            <a:ext cx="229058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675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2"/>
          <a:srcRect t="-24" b="-24"/>
          <a:stretch/>
        </p:blipFill>
        <p:spPr>
          <a:xfrm>
            <a:off x="4393234" y="2481911"/>
            <a:ext cx="357302" cy="285979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5952744" y="3138907"/>
            <a:ext cx="672084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Observe</a:t>
            </a:r>
            <a:endParaRPr lang="en-US" sz="1125" dirty="0"/>
          </a:p>
        </p:txBody>
      </p:sp>
      <p:sp>
        <p:nvSpPr>
          <p:cNvPr id="37" name="Text 20"/>
          <p:cNvSpPr txBox="1"/>
          <p:nvPr/>
        </p:nvSpPr>
        <p:spPr>
          <a:xfrm>
            <a:off x="5764834" y="3410484"/>
            <a:ext cx="1043102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against reality.</a:t>
            </a:r>
            <a:endParaRPr lang="en-US" sz="750" dirty="0"/>
          </a:p>
        </p:txBody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000751" y="2396186"/>
            <a:ext cx="571271" cy="571271"/>
          </a:xfrm>
          <a:prstGeom prst="rect">
            <a:avLst/>
          </a:prstGeom>
        </p:spPr>
      </p:pic>
      <p:sp>
        <p:nvSpPr>
          <p:cNvPr id="39" name="Shape 21"/>
          <p:cNvSpPr/>
          <p:nvPr/>
        </p:nvSpPr>
        <p:spPr>
          <a:xfrm>
            <a:off x="6422517" y="2374925"/>
            <a:ext cx="171450" cy="17145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0" name="Text 22"/>
          <p:cNvSpPr/>
          <p:nvPr/>
        </p:nvSpPr>
        <p:spPr>
          <a:xfrm>
            <a:off x="6393713" y="2374925"/>
            <a:ext cx="229058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675" dirty="0"/>
          </a:p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4"/>
          <a:srcRect l="-50" r="-50"/>
          <a:stretch/>
        </p:blipFill>
        <p:spPr>
          <a:xfrm>
            <a:off x="6157799" y="2567636"/>
            <a:ext cx="257175" cy="228371"/>
          </a:xfrm>
          <a:prstGeom prst="rect">
            <a:avLst/>
          </a:prstGeom>
        </p:spPr>
      </p:pic>
      <p:sp>
        <p:nvSpPr>
          <p:cNvPr id="42" name="Text 23"/>
          <p:cNvSpPr txBox="1"/>
          <p:nvPr/>
        </p:nvSpPr>
        <p:spPr>
          <a:xfrm>
            <a:off x="7728967" y="3138907"/>
            <a:ext cx="550697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5E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Refine</a:t>
            </a:r>
            <a:endParaRPr lang="en-US" sz="1125" dirty="0"/>
          </a:p>
        </p:txBody>
      </p:sp>
      <p:sp>
        <p:nvSpPr>
          <p:cNvPr id="43" name="Text 24"/>
          <p:cNvSpPr txBox="1"/>
          <p:nvPr/>
        </p:nvSpPr>
        <p:spPr>
          <a:xfrm>
            <a:off x="7479334" y="3410484"/>
            <a:ext cx="1043102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intent and iterate.</a:t>
            </a:r>
            <a:endParaRPr lang="en-US" sz="750" dirty="0"/>
          </a:p>
        </p:txBody>
      </p:sp>
      <p:pic>
        <p:nvPicPr>
          <p:cNvPr id="44" name="Image 17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715251" y="2396186"/>
            <a:ext cx="571271" cy="571271"/>
          </a:xfrm>
          <a:prstGeom prst="rect">
            <a:avLst/>
          </a:prstGeom>
        </p:spPr>
      </p:pic>
      <p:sp>
        <p:nvSpPr>
          <p:cNvPr id="45" name="Shape 25"/>
          <p:cNvSpPr/>
          <p:nvPr/>
        </p:nvSpPr>
        <p:spPr>
          <a:xfrm>
            <a:off x="8137017" y="2374925"/>
            <a:ext cx="171450" cy="17145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6" name="Text 26"/>
          <p:cNvSpPr/>
          <p:nvPr/>
        </p:nvSpPr>
        <p:spPr>
          <a:xfrm>
            <a:off x="8108213" y="2374925"/>
            <a:ext cx="229058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675" dirty="0"/>
          </a:p>
        </p:txBody>
      </p:sp>
      <p:pic>
        <p:nvPicPr>
          <p:cNvPr id="47" name="Image 18" descr="preencoded.png"/>
          <p:cNvPicPr>
            <a:picLocks noChangeAspect="1"/>
          </p:cNvPicPr>
          <p:nvPr/>
        </p:nvPicPr>
        <p:blipFill>
          <a:blip r:embed="rId16"/>
          <a:srcRect l="-50" r="-50"/>
          <a:stretch/>
        </p:blipFill>
        <p:spPr>
          <a:xfrm>
            <a:off x="7872299" y="2567636"/>
            <a:ext cx="257175" cy="22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78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" y="4572229"/>
            <a:ext cx="9143771" cy="285979"/>
          </a:xfrm>
          <a:prstGeom prst="rect">
            <a:avLst/>
          </a:prstGeom>
          <a:solidFill>
            <a:srgbClr val="FF333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" name="Text 3"/>
          <p:cNvSpPr txBox="1"/>
          <p:nvPr/>
        </p:nvSpPr>
        <p:spPr>
          <a:xfrm>
            <a:off x="402504" y="4629149"/>
            <a:ext cx="6551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80" dirty="0">
                <a:solidFill>
                  <a:srgbClr val="00000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 // CONTEXT_DRIFT_DETECTED // WARNING // CONTEXT_DRIFT_DETECTED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 t="-384" b="-384"/>
          <a:stretch/>
        </p:blipFill>
        <p:spPr>
          <a:xfrm>
            <a:off x="-23378" y="1028699"/>
            <a:ext cx="714604" cy="2880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l="-80" r="-80"/>
          <a:stretch/>
        </p:blipFill>
        <p:spPr>
          <a:xfrm>
            <a:off x="5949254" y="3529125"/>
            <a:ext cx="428625" cy="713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-1080196" y="2571749"/>
            <a:ext cx="285979" cy="428625"/>
          </a:xfrm>
          <a:prstGeom prst="rect">
            <a:avLst/>
          </a:prstGeom>
          <a:solidFill>
            <a:srgbClr val="FF3333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alphaModFix amt="40000"/>
          </a:blip>
          <a:srcRect t="-408" b="-408"/>
          <a:stretch/>
        </p:blipFill>
        <p:spPr>
          <a:xfrm>
            <a:off x="5863529" y="514349"/>
            <a:ext cx="1428521" cy="1440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419649" y="443712"/>
            <a:ext cx="6429375" cy="425607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34051" y="458113"/>
            <a:ext cx="6400571" cy="364160"/>
          </a:xfrm>
          <a:prstGeom prst="rect">
            <a:avLst/>
          </a:prstGeom>
          <a:solidFill>
            <a:srgbClr val="FF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2" name="Text 6"/>
          <p:cNvSpPr txBox="1"/>
          <p:nvPr/>
        </p:nvSpPr>
        <p:spPr>
          <a:xfrm>
            <a:off x="811240" y="543839"/>
            <a:ext cx="987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 Alert</a:t>
            </a:r>
            <a:endParaRPr lang="en-US" sz="975" dirty="0"/>
          </a:p>
        </p:txBody>
      </p:sp>
      <p:sp>
        <p:nvSpPr>
          <p:cNvPr id="13" name="Text 7"/>
          <p:cNvSpPr txBox="1"/>
          <p:nvPr/>
        </p:nvSpPr>
        <p:spPr>
          <a:xfrm>
            <a:off x="4502902" y="543839"/>
            <a:ext cx="225079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404: Context Not Found</a:t>
            </a:r>
            <a:endParaRPr lang="en-US" sz="975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5501" y="574014"/>
            <a:ext cx="128930" cy="12893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62675" y="1250898"/>
            <a:ext cx="5672252" cy="1007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happens when</a:t>
            </a:r>
            <a:endParaRPr lang="en-US" sz="3600" dirty="0"/>
          </a:p>
          <a:p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is weak?</a:t>
            </a:r>
            <a:endParaRPr lang="en-US" sz="3600" dirty="0"/>
          </a:p>
        </p:txBody>
      </p:sp>
      <p:sp>
        <p:nvSpPr>
          <p:cNvPr id="16" name="Shape 9"/>
          <p:cNvSpPr/>
          <p:nvPr/>
        </p:nvSpPr>
        <p:spPr>
          <a:xfrm>
            <a:off x="862676" y="2970885"/>
            <a:ext cx="5543321" cy="6858"/>
          </a:xfrm>
          <a:prstGeom prst="rect">
            <a:avLst/>
          </a:prstGeom>
          <a:solidFill>
            <a:srgbClr val="FF3333">
              <a:alpha val="20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1479" y="2599867"/>
            <a:ext cx="228371" cy="228371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320104" y="2564206"/>
            <a:ext cx="2493569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dirty="0">
                <a:solidFill>
                  <a:srgbClr val="FF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injects ambiguity</a:t>
            </a:r>
            <a:endParaRPr lang="en-US" sz="1575" dirty="0"/>
          </a:p>
        </p:txBody>
      </p:sp>
      <p:sp>
        <p:nvSpPr>
          <p:cNvPr id="19" name="Shape 11"/>
          <p:cNvSpPr/>
          <p:nvPr/>
        </p:nvSpPr>
        <p:spPr>
          <a:xfrm>
            <a:off x="862676" y="3578503"/>
            <a:ext cx="5543321" cy="6858"/>
          </a:xfrm>
          <a:prstGeom prst="rect">
            <a:avLst/>
          </a:prstGeom>
          <a:solidFill>
            <a:srgbClr val="FF3333">
              <a:alpha val="20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rcRect l="-50" r="-50"/>
          <a:stretch/>
        </p:blipFill>
        <p:spPr>
          <a:xfrm>
            <a:off x="877077" y="3206800"/>
            <a:ext cx="257175" cy="228371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320104" y="3171139"/>
            <a:ext cx="2850871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dirty="0">
                <a:solidFill>
                  <a:srgbClr val="FF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drifts from intent</a:t>
            </a:r>
            <a:endParaRPr lang="en-US" sz="1575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91479" y="3885742"/>
            <a:ext cx="228371" cy="228371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320104" y="3850081"/>
            <a:ext cx="3929634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 by updating rules &amp; plan</a:t>
            </a:r>
            <a:endParaRPr lang="en-US" sz="1575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rcRect l="-3572" r="-3572"/>
          <a:stretch/>
        </p:blipFill>
        <p:spPr>
          <a:xfrm>
            <a:off x="6013719" y="3939920"/>
            <a:ext cx="421767" cy="449885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5706480" y="4332884"/>
            <a:ext cx="1152144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MAJOR</a:t>
            </a:r>
            <a:endParaRPr lang="en-US" sz="750" dirty="0"/>
          </a:p>
        </p:txBody>
      </p:sp>
      <p:sp>
        <p:nvSpPr>
          <p:cNvPr id="27" name="Text 16"/>
          <p:cNvSpPr txBox="1"/>
          <p:nvPr/>
        </p:nvSpPr>
        <p:spPr>
          <a:xfrm>
            <a:off x="5724997" y="4441240"/>
            <a:ext cx="1166546" cy="37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MOMENT</a:t>
            </a: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60C14E7-6BA4-DEC6-4F88-5F9BE5BEDE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833" y="1088738"/>
            <a:ext cx="8565751" cy="2950624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 l="-76" r="-76"/>
          <a:stretch/>
        </p:blipFill>
        <p:spPr>
          <a:xfrm>
            <a:off x="3364534" y="1475156"/>
            <a:ext cx="2414702" cy="21431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5979" y="285979"/>
            <a:ext cx="714604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" name="Shape 3"/>
          <p:cNvSpPr/>
          <p:nvPr/>
        </p:nvSpPr>
        <p:spPr>
          <a:xfrm>
            <a:off x="285979" y="285979"/>
            <a:ext cx="14402" cy="7146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7" name="Shape 4"/>
          <p:cNvSpPr/>
          <p:nvPr/>
        </p:nvSpPr>
        <p:spPr>
          <a:xfrm>
            <a:off x="257175" y="257175"/>
            <a:ext cx="71324" cy="71324"/>
          </a:xfrm>
          <a:prstGeom prst="rect">
            <a:avLst/>
          </a:prstGeom>
          <a:solidFill>
            <a:srgbClr val="00FF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8" name="Shape 5"/>
          <p:cNvSpPr/>
          <p:nvPr/>
        </p:nvSpPr>
        <p:spPr>
          <a:xfrm>
            <a:off x="8143875" y="4843120"/>
            <a:ext cx="714604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Shape 6"/>
          <p:cNvSpPr/>
          <p:nvPr/>
        </p:nvSpPr>
        <p:spPr>
          <a:xfrm>
            <a:off x="8844076" y="4143604"/>
            <a:ext cx="14402" cy="7146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0" name="Shape 7"/>
          <p:cNvSpPr/>
          <p:nvPr/>
        </p:nvSpPr>
        <p:spPr>
          <a:xfrm>
            <a:off x="8815273" y="4815001"/>
            <a:ext cx="71324" cy="71324"/>
          </a:xfrm>
          <a:prstGeom prst="rect">
            <a:avLst/>
          </a:prstGeom>
          <a:solidFill>
            <a:srgbClr val="00FF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4143604" y="3872027"/>
            <a:ext cx="857250" cy="432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56000" y="1228954"/>
            <a:ext cx="1835887" cy="414224"/>
          </a:xfrm>
          <a:prstGeom prst="roundRect">
            <a:avLst>
              <a:gd name="adj" fmla="val 22836"/>
            </a:avLst>
          </a:prstGeom>
          <a:solidFill>
            <a:srgbClr val="00FF94">
              <a:alpha val="5000"/>
            </a:srgbClr>
          </a:solidFill>
          <a:ln w="12700">
            <a:solidFill>
              <a:srgbClr val="00FF9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3" name="Text 9"/>
          <p:cNvSpPr txBox="1"/>
          <p:nvPr/>
        </p:nvSpPr>
        <p:spPr>
          <a:xfrm>
            <a:off x="3623766" y="1228954"/>
            <a:ext cx="2155469" cy="41490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9075" tIns="76200" rIns="219075" bIns="76200" rtlCol="0" anchor="ctr"/>
          <a:lstStyle/>
          <a:p>
            <a:pPr algn="ctr"/>
            <a:r>
              <a:rPr lang="en-US" kern="0" spc="405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</a:t>
            </a:r>
            <a:endParaRPr lang="en-US" dirty="0"/>
          </a:p>
        </p:txBody>
      </p:sp>
      <p:sp>
        <p:nvSpPr>
          <p:cNvPr id="14" name="Text 10"/>
          <p:cNvSpPr txBox="1"/>
          <p:nvPr/>
        </p:nvSpPr>
        <p:spPr>
          <a:xfrm>
            <a:off x="2306345" y="1785824"/>
            <a:ext cx="4536567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75" b="1" kern="0" spc="-315" dirty="0">
                <a:solidFill>
                  <a:srgbClr val="E5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Keep</a:t>
            </a:r>
          </a:p>
          <a:p>
            <a:pPr algn="ctr"/>
            <a:r>
              <a:rPr lang="en-US" sz="7875" b="1" kern="0" spc="-315" dirty="0">
                <a:solidFill>
                  <a:srgbClr val="E5E5E5"/>
                </a:solidFill>
                <a:latin typeface="Space Grotesk" pitchFamily="34" charset="0"/>
                <a:ea typeface="Space Grotesk" pitchFamily="34" charset="-122"/>
              </a:rPr>
              <a:t>Planning</a:t>
            </a:r>
            <a:endParaRPr lang="en-US" sz="7875" dirty="0"/>
          </a:p>
        </p:txBody>
      </p:sp>
    </p:spTree>
    <p:extLst>
      <p:ext uri="{BB962C8B-B14F-4D97-AF65-F5344CB8AC3E}">
        <p14:creationId xmlns:p14="http://schemas.microsoft.com/office/powerpoint/2010/main" val="3337313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28626" y="1150772"/>
            <a:ext cx="828652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" name="Text 3"/>
          <p:cNvSpPr txBox="1"/>
          <p:nvPr/>
        </p:nvSpPr>
        <p:spPr>
          <a:xfrm>
            <a:off x="428625" y="285979"/>
            <a:ext cx="3915233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kern="0" spc="158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PRIORITIZATION PHASE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8625" y="493091"/>
            <a:ext cx="467647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kern="0" spc="-5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 Discussion </a:t>
            </a:r>
            <a:r>
              <a:rPr lang="en-US" sz="2700" b="1" kern="0" spc="-54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🗺️</a:t>
            </a:r>
            <a:endParaRPr lang="en-US" sz="2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798232" y="778384"/>
            <a:ext cx="917600" cy="2283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90815" y="864109"/>
            <a:ext cx="56921" cy="56921"/>
          </a:xfrm>
          <a:prstGeom prst="ellipse">
            <a:avLst/>
          </a:prstGeom>
          <a:solidFill>
            <a:srgbClr val="FF5E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Text 6"/>
          <p:cNvSpPr txBox="1"/>
          <p:nvPr/>
        </p:nvSpPr>
        <p:spPr>
          <a:xfrm>
            <a:off x="8005343" y="828447"/>
            <a:ext cx="678942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CAPTURE</a:t>
            </a:r>
            <a:endParaRPr lang="en-US" sz="675" dirty="0"/>
          </a:p>
        </p:txBody>
      </p:sp>
      <p:sp>
        <p:nvSpPr>
          <p:cNvPr id="29" name="Shape 20"/>
          <p:cNvSpPr/>
          <p:nvPr/>
        </p:nvSpPr>
        <p:spPr>
          <a:xfrm>
            <a:off x="614476" y="3857625"/>
            <a:ext cx="2807666" cy="292837"/>
          </a:xfrm>
          <a:prstGeom prst="roundRect">
            <a:avLst>
              <a:gd name="adj" fmla="val 913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8" name="Shape 26"/>
          <p:cNvSpPr/>
          <p:nvPr/>
        </p:nvSpPr>
        <p:spPr>
          <a:xfrm>
            <a:off x="614476" y="4976851"/>
            <a:ext cx="2807666" cy="292837"/>
          </a:xfrm>
          <a:prstGeom prst="roundRect">
            <a:avLst>
              <a:gd name="adj" fmla="val 913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4"/>
          <a:srcRect l="-13318" r="-13318"/>
          <a:stretch/>
        </p:blipFill>
        <p:spPr>
          <a:xfrm>
            <a:off x="721462" y="5070119"/>
            <a:ext cx="142646" cy="100127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949834" y="4976851"/>
            <a:ext cx="643280" cy="293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Portal</a:t>
            </a:r>
            <a:endParaRPr lang="en-US" sz="750" dirty="0"/>
          </a:p>
        </p:txBody>
      </p:sp>
      <p:sp>
        <p:nvSpPr>
          <p:cNvPr id="41" name="Shape 28"/>
          <p:cNvSpPr/>
          <p:nvPr/>
        </p:nvSpPr>
        <p:spPr>
          <a:xfrm>
            <a:off x="614476" y="5349240"/>
            <a:ext cx="2807666" cy="292837"/>
          </a:xfrm>
          <a:prstGeom prst="roundRect">
            <a:avLst>
              <a:gd name="adj" fmla="val 913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5"/>
          <a:srcRect l="-6986" r="-6986"/>
          <a:stretch/>
        </p:blipFill>
        <p:spPr>
          <a:xfrm>
            <a:off x="721462" y="5443195"/>
            <a:ext cx="142646" cy="100127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949833" y="5349240"/>
            <a:ext cx="850392" cy="293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 an Event</a:t>
            </a:r>
            <a:endParaRPr lang="en-US" sz="750" dirty="0"/>
          </a:p>
        </p:txBody>
      </p:sp>
      <p:sp>
        <p:nvSpPr>
          <p:cNvPr id="44" name="Shape 30"/>
          <p:cNvSpPr/>
          <p:nvPr/>
        </p:nvSpPr>
        <p:spPr>
          <a:xfrm>
            <a:off x="428625" y="1275245"/>
            <a:ext cx="8286520" cy="3464440"/>
          </a:xfrm>
          <a:prstGeom prst="roundRect">
            <a:avLst>
              <a:gd name="adj" fmla="val 2332"/>
            </a:avLst>
          </a:prstGeom>
          <a:solidFill>
            <a:srgbClr val="111111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5" name="Shape 31"/>
          <p:cNvSpPr/>
          <p:nvPr/>
        </p:nvSpPr>
        <p:spPr>
          <a:xfrm>
            <a:off x="3945406" y="1425435"/>
            <a:ext cx="1093166" cy="271577"/>
          </a:xfrm>
          <a:prstGeom prst="roundRect">
            <a:avLst>
              <a:gd name="adj" fmla="val 252526"/>
            </a:avLst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6" name="Shape 32"/>
          <p:cNvSpPr/>
          <p:nvPr/>
        </p:nvSpPr>
        <p:spPr>
          <a:xfrm>
            <a:off x="4051020" y="1588656"/>
            <a:ext cx="6858" cy="6858"/>
          </a:xfrm>
          <a:prstGeom prst="ellipse">
            <a:avLst/>
          </a:prstGeom>
          <a:solidFill>
            <a:srgbClr val="8888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7" name="Text 33"/>
          <p:cNvSpPr txBox="1"/>
          <p:nvPr/>
        </p:nvSpPr>
        <p:spPr>
          <a:xfrm>
            <a:off x="4180636" y="1502245"/>
            <a:ext cx="910057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 is populating...</a:t>
            </a:r>
            <a:endParaRPr lang="en-US" sz="600" dirty="0"/>
          </a:p>
        </p:txBody>
      </p:sp>
      <p:sp>
        <p:nvSpPr>
          <p:cNvPr id="48" name="Shape 34"/>
          <p:cNvSpPr/>
          <p:nvPr/>
        </p:nvSpPr>
        <p:spPr>
          <a:xfrm>
            <a:off x="650138" y="1782737"/>
            <a:ext cx="4315054" cy="685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0137" y="1532421"/>
            <a:ext cx="106985" cy="142646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828445" y="1496759"/>
            <a:ext cx="1412063" cy="293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E5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Discovered Insights from LEGO Ideation</a:t>
            </a:r>
            <a:endParaRPr lang="en-US" sz="1125" dirty="0"/>
          </a:p>
        </p:txBody>
      </p:sp>
      <p:sp>
        <p:nvSpPr>
          <p:cNvPr id="52" name="Text 37"/>
          <p:cNvSpPr txBox="1"/>
          <p:nvPr/>
        </p:nvSpPr>
        <p:spPr>
          <a:xfrm>
            <a:off x="703629" y="1928003"/>
            <a:ext cx="3640230" cy="2168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1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 up groups so we can see where everyone is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way to easily connect with other people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2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information on how many spaces – so we can await in line effectively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3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Rethink the UI logic – back to where I was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4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Moore info on Room capacity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Monitors outside</a:t>
            </a:r>
          </a:p>
          <a:p>
            <a:endParaRPr lang="en-US" sz="1200" dirty="0">
              <a:solidFill>
                <a:srgbClr val="00FF9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200" dirty="0">
              <a:solidFill>
                <a:srgbClr val="00FF9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200" dirty="0"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57" name="Text 37">
            <a:extLst>
              <a:ext uri="{FF2B5EF4-FFF2-40B4-BE49-F238E27FC236}">
                <a16:creationId xmlns:a16="http://schemas.microsoft.com/office/drawing/2014/main" id="{1F43B637-390C-99E4-DF59-55F66888AE64}"/>
              </a:ext>
            </a:extLst>
          </p:cNvPr>
          <p:cNvSpPr txBox="1"/>
          <p:nvPr/>
        </p:nvSpPr>
        <p:spPr>
          <a:xfrm>
            <a:off x="4491989" y="1892121"/>
            <a:ext cx="3640230" cy="2168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5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suggestions on what you can fit in between sessions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6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accessibility options – something to allow </a:t>
            </a:r>
            <a:r>
              <a:rPr lang="en-US" sz="1200" dirty="0" err="1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interpretors</a:t>
            </a:r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 collaborate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7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Reservations and queues – ‘which ride is available’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8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Ability to </a:t>
            </a:r>
            <a:r>
              <a:rPr lang="en-US" sz="1200" dirty="0" err="1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priorotise</a:t>
            </a:r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sessions – matrix with time and space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nearby NOW?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9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UI experience</a:t>
            </a:r>
          </a:p>
          <a:p>
            <a:r>
              <a:rPr lang="en-US" sz="12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Assistant</a:t>
            </a:r>
          </a:p>
          <a:p>
            <a:endParaRPr lang="en-US" sz="1200" dirty="0">
              <a:solidFill>
                <a:srgbClr val="00FF9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200" dirty="0">
              <a:solidFill>
                <a:srgbClr val="00FF9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200" dirty="0">
              <a:solidFill>
                <a:srgbClr val="00FF9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200" dirty="0">
              <a:solidFill>
                <a:srgbClr val="00FF9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200" dirty="0"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1311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57302" y="914858"/>
            <a:ext cx="8429854" cy="685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" name="Text 3"/>
          <p:cNvSpPr txBox="1"/>
          <p:nvPr/>
        </p:nvSpPr>
        <p:spPr>
          <a:xfrm>
            <a:off x="557555" y="214655"/>
            <a:ext cx="3700577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kern="0" spc="158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COLLABORATIVE MODE 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6986" r="-6986"/>
          <a:stretch/>
        </p:blipFill>
        <p:spPr>
          <a:xfrm>
            <a:off x="357302" y="239344"/>
            <a:ext cx="142646" cy="1001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57301" y="421768"/>
            <a:ext cx="4931588" cy="386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kern="0" spc="-4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Let's Build The Prompt Together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7972426" y="578816"/>
            <a:ext cx="821588" cy="228371"/>
          </a:xfrm>
          <a:prstGeom prst="roundRect">
            <a:avLst>
              <a:gd name="adj" fmla="val 75075"/>
            </a:avLst>
          </a:prstGeom>
          <a:solidFill>
            <a:srgbClr val="FF5E5E">
              <a:alpha val="10000"/>
            </a:srgbClr>
          </a:solidFill>
          <a:ln w="12700">
            <a:solidFill>
              <a:srgbClr val="FF5E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Shape 6"/>
          <p:cNvSpPr/>
          <p:nvPr/>
        </p:nvSpPr>
        <p:spPr>
          <a:xfrm>
            <a:off x="8065009" y="664541"/>
            <a:ext cx="56921" cy="56921"/>
          </a:xfrm>
          <a:prstGeom prst="ellipse">
            <a:avLst/>
          </a:prstGeom>
          <a:solidFill>
            <a:srgbClr val="FF5E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0" name="Text 7"/>
          <p:cNvSpPr txBox="1"/>
          <p:nvPr/>
        </p:nvSpPr>
        <p:spPr>
          <a:xfrm>
            <a:off x="8179537" y="628879"/>
            <a:ext cx="578816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INPUT</a:t>
            </a:r>
            <a:endParaRPr lang="en-US" sz="675" dirty="0"/>
          </a:p>
        </p:txBody>
      </p:sp>
      <p:sp>
        <p:nvSpPr>
          <p:cNvPr id="11" name="Shape 8"/>
          <p:cNvSpPr/>
          <p:nvPr/>
        </p:nvSpPr>
        <p:spPr>
          <a:xfrm>
            <a:off x="357302" y="1064362"/>
            <a:ext cx="4164863" cy="1107567"/>
          </a:xfrm>
          <a:prstGeom prst="roundRect">
            <a:avLst>
              <a:gd name="adj" fmla="val 6392"/>
            </a:avLst>
          </a:prstGeom>
          <a:solidFill>
            <a:srgbClr val="0F0F0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2" name="Shape 9"/>
          <p:cNvSpPr/>
          <p:nvPr/>
        </p:nvSpPr>
        <p:spPr>
          <a:xfrm>
            <a:off x="478688" y="1393546"/>
            <a:ext cx="3922091" cy="685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3" name="Text 10"/>
          <p:cNvSpPr txBox="1"/>
          <p:nvPr/>
        </p:nvSpPr>
        <p:spPr>
          <a:xfrm>
            <a:off x="478688" y="1157631"/>
            <a:ext cx="15773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</a:t>
            </a:r>
            <a:endParaRPr lang="en-US" sz="975" dirty="0"/>
          </a:p>
        </p:txBody>
      </p:sp>
      <p:sp>
        <p:nvSpPr>
          <p:cNvPr id="14" name="Text 11"/>
          <p:cNvSpPr txBox="1"/>
          <p:nvPr/>
        </p:nvSpPr>
        <p:spPr>
          <a:xfrm>
            <a:off x="646709" y="1178890"/>
            <a:ext cx="593217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39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Task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78688" y="1457325"/>
            <a:ext cx="3922091" cy="621335"/>
          </a:xfrm>
          <a:prstGeom prst="roundRect">
            <a:avLst>
              <a:gd name="adj" fmla="val 10149"/>
            </a:avLst>
          </a:prstGeom>
          <a:solidFill>
            <a:srgbClr val="05050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6" name="Text 13"/>
          <p:cNvSpPr txBox="1"/>
          <p:nvPr/>
        </p:nvSpPr>
        <p:spPr>
          <a:xfrm>
            <a:off x="557555" y="1536192"/>
            <a:ext cx="3850767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Type audience suggestion here... }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625722" y="1064362"/>
            <a:ext cx="4164863" cy="1107567"/>
          </a:xfrm>
          <a:prstGeom prst="roundRect">
            <a:avLst>
              <a:gd name="adj" fmla="val 6392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8" name="Shape 15"/>
          <p:cNvSpPr/>
          <p:nvPr/>
        </p:nvSpPr>
        <p:spPr>
          <a:xfrm>
            <a:off x="4747108" y="1393546"/>
            <a:ext cx="392209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9" name="Text 16"/>
          <p:cNvSpPr txBox="1"/>
          <p:nvPr/>
        </p:nvSpPr>
        <p:spPr>
          <a:xfrm>
            <a:off x="4747108" y="1157631"/>
            <a:ext cx="250317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2.x</a:t>
            </a:r>
            <a:endParaRPr lang="en-US" sz="975" dirty="0"/>
          </a:p>
        </p:txBody>
      </p:sp>
      <p:sp>
        <p:nvSpPr>
          <p:cNvPr id="20" name="Text 17"/>
          <p:cNvSpPr txBox="1"/>
          <p:nvPr/>
        </p:nvSpPr>
        <p:spPr>
          <a:xfrm>
            <a:off x="5009084" y="1178890"/>
            <a:ext cx="678942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39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Sub-Tasks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747108" y="1457325"/>
            <a:ext cx="3922091" cy="621335"/>
          </a:xfrm>
          <a:prstGeom prst="roundRect">
            <a:avLst>
              <a:gd name="adj" fmla="val 10149"/>
            </a:avLst>
          </a:prstGeom>
          <a:solidFill>
            <a:srgbClr val="05050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2" name="Text 19"/>
          <p:cNvSpPr txBox="1"/>
          <p:nvPr/>
        </p:nvSpPr>
        <p:spPr>
          <a:xfrm>
            <a:off x="4825289" y="1536192"/>
            <a:ext cx="3850767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waiting for input... }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57302" y="2276171"/>
            <a:ext cx="4164863" cy="1107567"/>
          </a:xfrm>
          <a:prstGeom prst="roundRect">
            <a:avLst>
              <a:gd name="adj" fmla="val 6392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4" name="Shape 21"/>
          <p:cNvSpPr/>
          <p:nvPr/>
        </p:nvSpPr>
        <p:spPr>
          <a:xfrm>
            <a:off x="478688" y="2605355"/>
            <a:ext cx="392209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5" name="Text 22"/>
          <p:cNvSpPr txBox="1"/>
          <p:nvPr/>
        </p:nvSpPr>
        <p:spPr>
          <a:xfrm>
            <a:off x="478688" y="2369439"/>
            <a:ext cx="250317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3.x</a:t>
            </a:r>
            <a:endParaRPr lang="en-US" sz="975" dirty="0"/>
          </a:p>
        </p:txBody>
      </p:sp>
      <p:sp>
        <p:nvSpPr>
          <p:cNvPr id="26" name="Text 23"/>
          <p:cNvSpPr txBox="1"/>
          <p:nvPr/>
        </p:nvSpPr>
        <p:spPr>
          <a:xfrm>
            <a:off x="742721" y="2390698"/>
            <a:ext cx="1317422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39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Interactions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78688" y="2669134"/>
            <a:ext cx="3922091" cy="621335"/>
          </a:xfrm>
          <a:prstGeom prst="roundRect">
            <a:avLst>
              <a:gd name="adj" fmla="val 10149"/>
            </a:avLst>
          </a:prstGeom>
          <a:solidFill>
            <a:srgbClr val="05050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8" name="Text 25"/>
          <p:cNvSpPr txBox="1"/>
          <p:nvPr/>
        </p:nvSpPr>
        <p:spPr>
          <a:xfrm>
            <a:off x="557555" y="2748001"/>
            <a:ext cx="3850767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waiting for input... }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4625722" y="2276171"/>
            <a:ext cx="4164863" cy="1107567"/>
          </a:xfrm>
          <a:prstGeom prst="roundRect">
            <a:avLst>
              <a:gd name="adj" fmla="val 6392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0" name="Shape 27"/>
          <p:cNvSpPr/>
          <p:nvPr/>
        </p:nvSpPr>
        <p:spPr>
          <a:xfrm>
            <a:off x="4747108" y="2605355"/>
            <a:ext cx="392209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1" name="Text 28"/>
          <p:cNvSpPr txBox="1"/>
          <p:nvPr/>
        </p:nvSpPr>
        <p:spPr>
          <a:xfrm>
            <a:off x="4747108" y="2369439"/>
            <a:ext cx="17899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</a:t>
            </a:r>
            <a:endParaRPr lang="en-US" sz="975" dirty="0"/>
          </a:p>
        </p:txBody>
      </p:sp>
      <p:sp>
        <p:nvSpPr>
          <p:cNvPr id="32" name="Text 29"/>
          <p:cNvSpPr txBox="1"/>
          <p:nvPr/>
        </p:nvSpPr>
        <p:spPr>
          <a:xfrm>
            <a:off x="4938446" y="2390698"/>
            <a:ext cx="1595857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39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/ No-Code Decision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4747108" y="2669134"/>
            <a:ext cx="3922091" cy="621335"/>
          </a:xfrm>
          <a:prstGeom prst="roundRect">
            <a:avLst>
              <a:gd name="adj" fmla="val 10149"/>
            </a:avLst>
          </a:prstGeom>
          <a:solidFill>
            <a:srgbClr val="05050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4" name="Text 31"/>
          <p:cNvSpPr txBox="1"/>
          <p:nvPr/>
        </p:nvSpPr>
        <p:spPr>
          <a:xfrm>
            <a:off x="4825289" y="2748001"/>
            <a:ext cx="3850767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waiting for input... }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357302" y="3488665"/>
            <a:ext cx="4164863" cy="1107567"/>
          </a:xfrm>
          <a:prstGeom prst="roundRect">
            <a:avLst>
              <a:gd name="adj" fmla="val 6392"/>
            </a:avLst>
          </a:prstGeom>
          <a:solidFill>
            <a:srgbClr val="0F0F0F"/>
          </a:solidFill>
          <a:ln w="12700">
            <a:solidFill>
              <a:srgbClr val="FF5E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6" name="Shape 33"/>
          <p:cNvSpPr/>
          <p:nvPr/>
        </p:nvSpPr>
        <p:spPr>
          <a:xfrm>
            <a:off x="478688" y="3817163"/>
            <a:ext cx="3922091" cy="6858"/>
          </a:xfrm>
          <a:prstGeom prst="rect">
            <a:avLst/>
          </a:prstGeom>
          <a:solidFill>
            <a:srgbClr val="FF5E5E">
              <a:alpha val="30000"/>
            </a:srgbClr>
          </a:solidFill>
          <a:ln w="12700">
            <a:solidFill>
              <a:srgbClr val="FF5E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7" name="Text 34"/>
          <p:cNvSpPr txBox="1"/>
          <p:nvPr/>
        </p:nvSpPr>
        <p:spPr>
          <a:xfrm>
            <a:off x="478688" y="3581248"/>
            <a:ext cx="17899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5E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</a:t>
            </a:r>
            <a:endParaRPr lang="en-US" sz="975" dirty="0"/>
          </a:p>
        </p:txBody>
      </p:sp>
      <p:sp>
        <p:nvSpPr>
          <p:cNvPr id="38" name="Text 35"/>
          <p:cNvSpPr txBox="1"/>
          <p:nvPr/>
        </p:nvSpPr>
        <p:spPr>
          <a:xfrm>
            <a:off x="665911" y="3602507"/>
            <a:ext cx="750266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39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478688" y="3881628"/>
            <a:ext cx="3922091" cy="621335"/>
          </a:xfrm>
          <a:prstGeom prst="roundRect">
            <a:avLst>
              <a:gd name="adj" fmla="val 10149"/>
            </a:avLst>
          </a:prstGeom>
          <a:solidFill>
            <a:srgbClr val="05050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0" name="Text 37"/>
          <p:cNvSpPr txBox="1"/>
          <p:nvPr/>
        </p:nvSpPr>
        <p:spPr>
          <a:xfrm>
            <a:off x="557555" y="3959809"/>
            <a:ext cx="3850767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 you have any questions?"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4625722" y="3488665"/>
            <a:ext cx="4164863" cy="1107567"/>
          </a:xfrm>
          <a:prstGeom prst="roundRect">
            <a:avLst>
              <a:gd name="adj" fmla="val 6392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2" name="Shape 39"/>
          <p:cNvSpPr/>
          <p:nvPr/>
        </p:nvSpPr>
        <p:spPr>
          <a:xfrm>
            <a:off x="4747108" y="3817163"/>
            <a:ext cx="392209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3" name="Text 40"/>
          <p:cNvSpPr txBox="1"/>
          <p:nvPr/>
        </p:nvSpPr>
        <p:spPr>
          <a:xfrm>
            <a:off x="4747108" y="3581248"/>
            <a:ext cx="17899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6.</a:t>
            </a:r>
            <a:endParaRPr lang="en-US" sz="975" dirty="0"/>
          </a:p>
        </p:txBody>
      </p:sp>
      <p:sp>
        <p:nvSpPr>
          <p:cNvPr id="44" name="Text 41"/>
          <p:cNvSpPr txBox="1"/>
          <p:nvPr/>
        </p:nvSpPr>
        <p:spPr>
          <a:xfrm>
            <a:off x="4935703" y="3602507"/>
            <a:ext cx="1421663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39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Considerations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747108" y="3881628"/>
            <a:ext cx="3922091" cy="621335"/>
          </a:xfrm>
          <a:prstGeom prst="roundRect">
            <a:avLst>
              <a:gd name="adj" fmla="val 10149"/>
            </a:avLst>
          </a:prstGeom>
          <a:solidFill>
            <a:srgbClr val="05050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6" name="Text 43"/>
          <p:cNvSpPr txBox="1"/>
          <p:nvPr/>
        </p:nvSpPr>
        <p:spPr>
          <a:xfrm>
            <a:off x="4825289" y="3959809"/>
            <a:ext cx="3850767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waiting for input... }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357302" y="4700474"/>
            <a:ext cx="8429854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8" name="Text 45"/>
          <p:cNvSpPr txBox="1"/>
          <p:nvPr/>
        </p:nvSpPr>
        <p:spPr>
          <a:xfrm>
            <a:off x="357302" y="4789628"/>
            <a:ext cx="214655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endParaRPr lang="en-US" sz="675" dirty="0"/>
          </a:p>
        </p:txBody>
      </p:sp>
      <p:sp>
        <p:nvSpPr>
          <p:cNvPr id="49" name="Shape 46"/>
          <p:cNvSpPr/>
          <p:nvPr/>
        </p:nvSpPr>
        <p:spPr>
          <a:xfrm>
            <a:off x="554126" y="4779340"/>
            <a:ext cx="235916" cy="150191"/>
          </a:xfrm>
          <a:prstGeom prst="roundRect">
            <a:avLst>
              <a:gd name="adj" fmla="val 173951"/>
            </a:avLst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0" name="Text 47"/>
          <p:cNvSpPr txBox="1"/>
          <p:nvPr/>
        </p:nvSpPr>
        <p:spPr>
          <a:xfrm>
            <a:off x="554127" y="4779340"/>
            <a:ext cx="279121" cy="15019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7625" tIns="19050" rIns="47625" bIns="19050" rtlCol="0" anchor="ctr"/>
          <a:lstStyle/>
          <a:p>
            <a:r>
              <a:rPr lang="en-US" sz="6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endParaRPr lang="en-US" sz="600" dirty="0"/>
          </a:p>
        </p:txBody>
      </p:sp>
      <p:sp>
        <p:nvSpPr>
          <p:cNvPr id="51" name="Text 48"/>
          <p:cNvSpPr txBox="1"/>
          <p:nvPr/>
        </p:nvSpPr>
        <p:spPr>
          <a:xfrm>
            <a:off x="825704" y="4789628"/>
            <a:ext cx="88605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switch fields</a:t>
            </a:r>
            <a:endParaRPr lang="en-US" sz="675" dirty="0"/>
          </a:p>
        </p:txBody>
      </p:sp>
      <p:sp>
        <p:nvSpPr>
          <p:cNvPr id="52" name="Text 49"/>
          <p:cNvSpPr txBox="1"/>
          <p:nvPr/>
        </p:nvSpPr>
        <p:spPr>
          <a:xfrm>
            <a:off x="7447789" y="4789628"/>
            <a:ext cx="67757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Dictating...</a:t>
            </a:r>
            <a:endParaRPr lang="en-US" sz="675" dirty="0"/>
          </a:p>
        </p:txBody>
      </p:sp>
      <p:sp>
        <p:nvSpPr>
          <p:cNvPr id="53" name="Text 50"/>
          <p:cNvSpPr txBox="1"/>
          <p:nvPr/>
        </p:nvSpPr>
        <p:spPr>
          <a:xfrm>
            <a:off x="8324240" y="4789628"/>
            <a:ext cx="527381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Typing...</a:t>
            </a:r>
            <a:endParaRPr lang="en-US" sz="675" dirty="0"/>
          </a:p>
        </p:txBody>
      </p:sp>
      <p:pic>
        <p:nvPicPr>
          <p:cNvPr id="54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7331887" y="4815002"/>
            <a:ext cx="64466" cy="85725"/>
          </a:xfrm>
          <a:prstGeom prst="rect">
            <a:avLst/>
          </a:prstGeom>
        </p:spPr>
      </p:pic>
      <p:pic>
        <p:nvPicPr>
          <p:cNvPr id="55" name="Image 2" descr="preencoded.png"/>
          <p:cNvPicPr>
            <a:picLocks noChangeAspect="1"/>
          </p:cNvPicPr>
          <p:nvPr/>
        </p:nvPicPr>
        <p:blipFill>
          <a:blip r:embed="rId5"/>
          <a:srcRect l="-1911" r="-1911"/>
          <a:stretch/>
        </p:blipFill>
        <p:spPr>
          <a:xfrm>
            <a:off x="8172679" y="4815002"/>
            <a:ext cx="100127" cy="857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>
            <a:extLst>
              <a:ext uri="{FF2B5EF4-FFF2-40B4-BE49-F238E27FC236}">
                <a16:creationId xmlns:a16="http://schemas.microsoft.com/office/drawing/2014/main" id="{2AE910A0-E75E-69DE-4953-81D7F0FC4F1D}"/>
              </a:ext>
            </a:extLst>
          </p:cNvPr>
          <p:cNvSpPr txBox="1"/>
          <p:nvPr/>
        </p:nvSpPr>
        <p:spPr>
          <a:xfrm>
            <a:off x="1127909" y="1671638"/>
            <a:ext cx="6567000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75" b="1" kern="0" spc="-31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</a:rPr>
              <a:t>Closing</a:t>
            </a:r>
          </a:p>
          <a:p>
            <a:pPr algn="ctr"/>
            <a:r>
              <a:rPr lang="en-US" sz="7875" b="1" kern="0" spc="-31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</a:rPr>
              <a:t>Remarks</a:t>
            </a:r>
            <a:endParaRPr lang="en-US" sz="7875" dirty="0"/>
          </a:p>
        </p:txBody>
      </p:sp>
    </p:spTree>
    <p:extLst>
      <p:ext uri="{BB962C8B-B14F-4D97-AF65-F5344CB8AC3E}">
        <p14:creationId xmlns:p14="http://schemas.microsoft.com/office/powerpoint/2010/main" val="29019011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388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357302" y="1428522"/>
            <a:ext cx="1396975" cy="3215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75" dirty="0">
                <a:solidFill>
                  <a:srgbClr val="333333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875" dirty="0"/>
          </a:p>
        </p:txBody>
      </p:sp>
      <p:sp>
        <p:nvSpPr>
          <p:cNvPr id="5" name="Text 3"/>
          <p:cNvSpPr txBox="1"/>
          <p:nvPr/>
        </p:nvSpPr>
        <p:spPr>
          <a:xfrm>
            <a:off x="7500595" y="1428522"/>
            <a:ext cx="1396975" cy="3215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87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4572229" y="0"/>
            <a:ext cx="6858" cy="5143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5979" y="285979"/>
            <a:ext cx="285979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8" name="Shape 5"/>
          <p:cNvSpPr/>
          <p:nvPr/>
        </p:nvSpPr>
        <p:spPr>
          <a:xfrm>
            <a:off x="285979" y="285979"/>
            <a:ext cx="14402" cy="285979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Shape 6"/>
          <p:cNvSpPr/>
          <p:nvPr/>
        </p:nvSpPr>
        <p:spPr>
          <a:xfrm>
            <a:off x="8572500" y="285979"/>
            <a:ext cx="285979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0" name="Shape 7"/>
          <p:cNvSpPr/>
          <p:nvPr/>
        </p:nvSpPr>
        <p:spPr>
          <a:xfrm>
            <a:off x="8844076" y="285979"/>
            <a:ext cx="14402" cy="285979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1" name="Shape 8"/>
          <p:cNvSpPr/>
          <p:nvPr/>
        </p:nvSpPr>
        <p:spPr>
          <a:xfrm>
            <a:off x="285979" y="4843120"/>
            <a:ext cx="285979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2" name="Shape 9"/>
          <p:cNvSpPr/>
          <p:nvPr/>
        </p:nvSpPr>
        <p:spPr>
          <a:xfrm>
            <a:off x="285979" y="4572229"/>
            <a:ext cx="14402" cy="285979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3" name="Shape 10"/>
          <p:cNvSpPr/>
          <p:nvPr/>
        </p:nvSpPr>
        <p:spPr>
          <a:xfrm>
            <a:off x="8572500" y="4843120"/>
            <a:ext cx="285979" cy="144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4" name="Shape 11"/>
          <p:cNvSpPr/>
          <p:nvPr/>
        </p:nvSpPr>
        <p:spPr>
          <a:xfrm>
            <a:off x="8844076" y="4572229"/>
            <a:ext cx="14402" cy="285979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5" name="Text 12"/>
          <p:cNvSpPr txBox="1"/>
          <p:nvPr/>
        </p:nvSpPr>
        <p:spPr>
          <a:xfrm>
            <a:off x="2852243" y="1702156"/>
            <a:ext cx="34440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kern="0" spc="-72" dirty="0">
                <a:solidFill>
                  <a:srgbClr val="E5E5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code,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3993414" y="2455164"/>
            <a:ext cx="1164488" cy="342900"/>
          </a:xfrm>
          <a:prstGeom prst="roundRect">
            <a:avLst>
              <a:gd name="adj" fmla="val 200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7" name="Text 14"/>
          <p:cNvSpPr/>
          <p:nvPr/>
        </p:nvSpPr>
        <p:spPr>
          <a:xfrm>
            <a:off x="3970096" y="2455164"/>
            <a:ext cx="1211123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1450" tIns="57150" rIns="171450" bIns="57150" rtlCol="0" anchor="ctr"/>
          <a:lstStyle/>
          <a:p>
            <a:pPr algn="ctr"/>
            <a:r>
              <a:rPr lang="en-US" sz="1125" kern="0" spc="113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THERE IS</a:t>
            </a:r>
            <a:endParaRPr lang="en-US" sz="1125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rcRect t="-268" b="-268"/>
          <a:stretch/>
        </p:blipFill>
        <p:spPr>
          <a:xfrm>
            <a:off x="2265198" y="1309192"/>
            <a:ext cx="399821" cy="3573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750847" y="3048381"/>
            <a:ext cx="5644134" cy="78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150" b="1" kern="0" spc="-248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Explanation.</a:t>
            </a:r>
            <a:endParaRPr lang="en-US" sz="6150" dirty="0"/>
          </a:p>
        </p:txBody>
      </p:sp>
      <p:sp>
        <p:nvSpPr>
          <p:cNvPr id="20" name="Shape 16"/>
          <p:cNvSpPr/>
          <p:nvPr/>
        </p:nvSpPr>
        <p:spPr>
          <a:xfrm>
            <a:off x="2367382" y="3826765"/>
            <a:ext cx="4409009" cy="43205"/>
          </a:xfrm>
          <a:prstGeom prst="rect">
            <a:avLst/>
          </a:prstGeom>
          <a:solidFill>
            <a:srgbClr val="00FF94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0" dist="12700" dir="16200000" algn="bl" rotWithShape="0">
              <a:srgbClr val="00FF94">
                <a:alpha val="50000"/>
              </a:srgbClr>
            </a:outerShdw>
          </a:effectLst>
        </p:spPr>
        <p:txBody>
          <a:bodyPr/>
          <a:lstStyle/>
          <a:p>
            <a:endParaRPr lang="en-US" sz="1013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85979" y="285979"/>
            <a:ext cx="142646" cy="1440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" name="Shape 3"/>
          <p:cNvSpPr/>
          <p:nvPr/>
        </p:nvSpPr>
        <p:spPr>
          <a:xfrm>
            <a:off x="285979" y="285979"/>
            <a:ext cx="14402" cy="14264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8" name="Shape 6"/>
          <p:cNvSpPr/>
          <p:nvPr/>
        </p:nvSpPr>
        <p:spPr>
          <a:xfrm>
            <a:off x="285979" y="4843120"/>
            <a:ext cx="142646" cy="1440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Shape 7"/>
          <p:cNvSpPr/>
          <p:nvPr/>
        </p:nvSpPr>
        <p:spPr>
          <a:xfrm>
            <a:off x="285979" y="4714876"/>
            <a:ext cx="14402" cy="14264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0" name="Shape 8"/>
          <p:cNvSpPr/>
          <p:nvPr/>
        </p:nvSpPr>
        <p:spPr>
          <a:xfrm>
            <a:off x="8715147" y="4843120"/>
            <a:ext cx="142646" cy="1440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1" name="Shape 9"/>
          <p:cNvSpPr/>
          <p:nvPr/>
        </p:nvSpPr>
        <p:spPr>
          <a:xfrm>
            <a:off x="8844076" y="4714876"/>
            <a:ext cx="14402" cy="14264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108" r="-108"/>
          <a:stretch/>
        </p:blipFill>
        <p:spPr>
          <a:xfrm>
            <a:off x="3797960" y="428625"/>
            <a:ext cx="1549908" cy="27843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769843" y="428625"/>
            <a:ext cx="1607516" cy="279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kern="0" spc="197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TAKEAWAY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1366799" y="993039"/>
            <a:ext cx="6415659" cy="191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with a plan.Anchor the AI.</a:t>
            </a:r>
            <a:r>
              <a:rPr lang="en-US" sz="4050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one block at a time.</a:t>
            </a:r>
            <a:endParaRPr lang="en-US" sz="4050" dirty="0"/>
          </a:p>
        </p:txBody>
      </p:sp>
      <p:sp>
        <p:nvSpPr>
          <p:cNvPr id="15" name="Shape 12"/>
          <p:cNvSpPr/>
          <p:nvPr/>
        </p:nvSpPr>
        <p:spPr>
          <a:xfrm>
            <a:off x="999896" y="3760927"/>
            <a:ext cx="2243252" cy="957377"/>
          </a:xfrm>
          <a:prstGeom prst="roundRect">
            <a:avLst>
              <a:gd name="adj" fmla="val 17106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6" name="Shape 13"/>
          <p:cNvSpPr/>
          <p:nvPr/>
        </p:nvSpPr>
        <p:spPr>
          <a:xfrm>
            <a:off x="999897" y="3760928"/>
            <a:ext cx="28804" cy="939546"/>
          </a:xfrm>
          <a:prstGeom prst="rect">
            <a:avLst/>
          </a:prstGeom>
          <a:solidFill>
            <a:srgbClr val="7B61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7" name="Shape 14"/>
          <p:cNvSpPr/>
          <p:nvPr/>
        </p:nvSpPr>
        <p:spPr>
          <a:xfrm>
            <a:off x="1178891" y="4044849"/>
            <a:ext cx="386105" cy="386105"/>
          </a:xfrm>
          <a:prstGeom prst="roundRect">
            <a:avLst>
              <a:gd name="adj" fmla="val 78942"/>
            </a:avLst>
          </a:prstGeom>
          <a:solidFill>
            <a:srgbClr val="7B61FF">
              <a:alpha val="10000"/>
            </a:srgbClr>
          </a:solidFill>
          <a:ln w="12700">
            <a:solidFill>
              <a:srgbClr val="7B61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456" b="-456"/>
          <a:stretch/>
        </p:blipFill>
        <p:spPr>
          <a:xfrm>
            <a:off x="1287247" y="4152519"/>
            <a:ext cx="164592" cy="17145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674724" y="3976955"/>
            <a:ext cx="1243355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Repo</a:t>
            </a:r>
            <a:endParaRPr lang="en-US" sz="1125" dirty="0"/>
          </a:p>
        </p:txBody>
      </p:sp>
      <p:sp>
        <p:nvSpPr>
          <p:cNvPr id="20" name="Text 16"/>
          <p:cNvSpPr txBox="1"/>
          <p:nvPr/>
        </p:nvSpPr>
        <p:spPr>
          <a:xfrm>
            <a:off x="1674724" y="4220414"/>
            <a:ext cx="1233755" cy="279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kern="0" spc="-28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github.com/sxsw-starter</a:t>
            </a:r>
            <a:endParaRPr lang="en-US" sz="675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2974315" y="4188181"/>
            <a:ext cx="85725" cy="100127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453003" y="3760927"/>
            <a:ext cx="2243252" cy="957377"/>
          </a:xfrm>
          <a:prstGeom prst="roundRect">
            <a:avLst>
              <a:gd name="adj" fmla="val 17106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3" name="Shape 18"/>
          <p:cNvSpPr/>
          <p:nvPr/>
        </p:nvSpPr>
        <p:spPr>
          <a:xfrm>
            <a:off x="3453003" y="3760928"/>
            <a:ext cx="28804" cy="939546"/>
          </a:xfrm>
          <a:prstGeom prst="rect">
            <a:avLst/>
          </a:prstGeom>
          <a:solidFill>
            <a:srgbClr val="FF5E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4" name="Shape 19"/>
          <p:cNvSpPr/>
          <p:nvPr/>
        </p:nvSpPr>
        <p:spPr>
          <a:xfrm>
            <a:off x="3631311" y="4044849"/>
            <a:ext cx="371704" cy="386105"/>
          </a:xfrm>
          <a:prstGeom prst="roundRect">
            <a:avLst>
              <a:gd name="adj" fmla="val 85155"/>
            </a:avLst>
          </a:prstGeom>
          <a:solidFill>
            <a:srgbClr val="FF5E5E">
              <a:alpha val="10000"/>
            </a:srgbClr>
          </a:solidFill>
          <a:ln w="12700">
            <a:solidFill>
              <a:srgbClr val="FF5E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3751327" y="4152519"/>
            <a:ext cx="128930" cy="17145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114115" y="3939921"/>
            <a:ext cx="12481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Planning Template</a:t>
            </a:r>
            <a:endParaRPr lang="en-US" sz="1125" dirty="0"/>
          </a:p>
        </p:txBody>
      </p:sp>
      <p:sp>
        <p:nvSpPr>
          <p:cNvPr id="27" name="Text 21"/>
          <p:cNvSpPr txBox="1"/>
          <p:nvPr/>
        </p:nvSpPr>
        <p:spPr>
          <a:xfrm>
            <a:off x="4114114" y="4396663"/>
            <a:ext cx="1257758" cy="14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kern="0" spc="-28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Notion / Obsidian Doc</a:t>
            </a:r>
            <a:endParaRPr lang="en-US" sz="675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5426735" y="4188181"/>
            <a:ext cx="85725" cy="100127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5905423" y="3760927"/>
            <a:ext cx="2243252" cy="957377"/>
          </a:xfrm>
          <a:prstGeom prst="roundRect">
            <a:avLst>
              <a:gd name="adj" fmla="val 17106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0" name="Shape 23"/>
          <p:cNvSpPr/>
          <p:nvPr/>
        </p:nvSpPr>
        <p:spPr>
          <a:xfrm>
            <a:off x="5905424" y="3760928"/>
            <a:ext cx="28804" cy="939546"/>
          </a:xfrm>
          <a:prstGeom prst="rect">
            <a:avLst/>
          </a:prstGeom>
          <a:solidFill>
            <a:srgbClr val="00FF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1" name="Shape 24"/>
          <p:cNvSpPr/>
          <p:nvPr/>
        </p:nvSpPr>
        <p:spPr>
          <a:xfrm>
            <a:off x="6084418" y="4044849"/>
            <a:ext cx="386105" cy="386105"/>
          </a:xfrm>
          <a:prstGeom prst="roundRect">
            <a:avLst>
              <a:gd name="adj" fmla="val 78942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6212663" y="4152519"/>
            <a:ext cx="128930" cy="17145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584365" y="4046906"/>
            <a:ext cx="1182320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Rules Example</a:t>
            </a:r>
            <a:endParaRPr lang="en-US" sz="1125" dirty="0"/>
          </a:p>
        </p:txBody>
      </p:sp>
      <p:sp>
        <p:nvSpPr>
          <p:cNvPr id="34" name="Text 26"/>
          <p:cNvSpPr txBox="1"/>
          <p:nvPr/>
        </p:nvSpPr>
        <p:spPr>
          <a:xfrm>
            <a:off x="6584366" y="4289679"/>
            <a:ext cx="1050646" cy="14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kern="0" spc="-28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.cursorrules config</a:t>
            </a:r>
            <a:endParaRPr lang="en-US" sz="675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879842" y="4188181"/>
            <a:ext cx="85725" cy="10012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28626" y="1043102"/>
            <a:ext cx="828652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" name="Text 3"/>
          <p:cNvSpPr txBox="1"/>
          <p:nvPr/>
        </p:nvSpPr>
        <p:spPr>
          <a:xfrm>
            <a:off x="428625" y="357301"/>
            <a:ext cx="2850871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kern="0" spc="197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COMPLETE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8625" y="564413"/>
            <a:ext cx="3305556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Are Now Ready</a:t>
            </a:r>
            <a:endParaRPr lang="en-US" sz="2325" dirty="0"/>
          </a:p>
        </p:txBody>
      </p:sp>
      <p:sp>
        <p:nvSpPr>
          <p:cNvPr id="7" name="Text 5"/>
          <p:cNvSpPr txBox="1"/>
          <p:nvPr/>
        </p:nvSpPr>
        <p:spPr>
          <a:xfrm>
            <a:off x="6317590" y="551384"/>
            <a:ext cx="2400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FlyerCopilot proved it's possible. </a:t>
            </a:r>
            <a:endParaRPr lang="en-US" sz="900" dirty="0"/>
          </a:p>
          <a:p>
            <a:pPr algn="r"/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One person. Complex system. Warp speed. 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8626" y="1330452"/>
            <a:ext cx="8286521" cy="621335"/>
          </a:xfrm>
          <a:prstGeom prst="roundRect">
            <a:avLst>
              <a:gd name="adj" fmla="val 30448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Shape 7"/>
          <p:cNvSpPr/>
          <p:nvPr/>
        </p:nvSpPr>
        <p:spPr>
          <a:xfrm>
            <a:off x="650139" y="1497788"/>
            <a:ext cx="285979" cy="285979"/>
          </a:xfrm>
          <a:prstGeom prst="roundRect">
            <a:avLst>
              <a:gd name="adj" fmla="val 9592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064" r="-1064"/>
          <a:stretch/>
        </p:blipFill>
        <p:spPr>
          <a:xfrm>
            <a:off x="710489" y="1576655"/>
            <a:ext cx="164592" cy="12893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43102" y="1479957"/>
            <a:ext cx="153070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Seatmaps &amp; Tracking</a:t>
            </a:r>
            <a:endParaRPr lang="en-US" sz="975" dirty="0"/>
          </a:p>
        </p:txBody>
      </p:sp>
      <p:sp>
        <p:nvSpPr>
          <p:cNvPr id="12" name="Text 9"/>
          <p:cNvSpPr txBox="1"/>
          <p:nvPr/>
        </p:nvSpPr>
        <p:spPr>
          <a:xfrm>
            <a:off x="1043101" y="1673353"/>
            <a:ext cx="134348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Data Models</a:t>
            </a:r>
            <a:endParaRPr lang="en-US" sz="675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2127" b="-2127"/>
          <a:stretch/>
        </p:blipFill>
        <p:spPr>
          <a:xfrm>
            <a:off x="3212288" y="1497788"/>
            <a:ext cx="6858" cy="28597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62478" y="1497788"/>
            <a:ext cx="285979" cy="285979"/>
          </a:xfrm>
          <a:prstGeom prst="roundRect">
            <a:avLst>
              <a:gd name="adj" fmla="val 9592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3433801" y="1576655"/>
            <a:ext cx="142646" cy="1289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55440" y="1479957"/>
            <a:ext cx="1073963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Lounge Access</a:t>
            </a:r>
            <a:endParaRPr lang="en-US" sz="975" dirty="0"/>
          </a:p>
        </p:txBody>
      </p:sp>
      <p:sp>
        <p:nvSpPr>
          <p:cNvPr id="17" name="Text 12"/>
          <p:cNvSpPr txBox="1"/>
          <p:nvPr/>
        </p:nvSpPr>
        <p:spPr>
          <a:xfrm>
            <a:off x="3755441" y="1673353"/>
            <a:ext cx="993038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Utility</a:t>
            </a:r>
            <a:endParaRPr lang="en-US" sz="675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 t="-2127" b="-2127"/>
          <a:stretch/>
        </p:blipFill>
        <p:spPr>
          <a:xfrm>
            <a:off x="5924627" y="1497788"/>
            <a:ext cx="6858" cy="285979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074817" y="1497788"/>
            <a:ext cx="285979" cy="285979"/>
          </a:xfrm>
          <a:prstGeom prst="roundRect">
            <a:avLst>
              <a:gd name="adj" fmla="val 9592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6160542" y="1576655"/>
            <a:ext cx="114529" cy="12893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467780" y="1479957"/>
            <a:ext cx="1054760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Solo Dev Team</a:t>
            </a:r>
            <a:endParaRPr lang="en-US" sz="975" dirty="0"/>
          </a:p>
        </p:txBody>
      </p:sp>
      <p:sp>
        <p:nvSpPr>
          <p:cNvPr id="22" name="Text 15"/>
          <p:cNvSpPr txBox="1"/>
          <p:nvPr/>
        </p:nvSpPr>
        <p:spPr>
          <a:xfrm>
            <a:off x="6467780" y="1673353"/>
            <a:ext cx="942975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 Months</a:t>
            </a:r>
            <a:endParaRPr lang="en-US" sz="675" dirty="0"/>
          </a:p>
        </p:txBody>
      </p:sp>
      <p:sp>
        <p:nvSpPr>
          <p:cNvPr id="23" name="Shape 16"/>
          <p:cNvSpPr/>
          <p:nvPr/>
        </p:nvSpPr>
        <p:spPr>
          <a:xfrm>
            <a:off x="428626" y="2237766"/>
            <a:ext cx="4072280" cy="971779"/>
          </a:xfrm>
          <a:prstGeom prst="roundRect">
            <a:avLst>
              <a:gd name="adj" fmla="val 16605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4" name="Text 17"/>
          <p:cNvSpPr txBox="1"/>
          <p:nvPr/>
        </p:nvSpPr>
        <p:spPr>
          <a:xfrm>
            <a:off x="3878884" y="2315947"/>
            <a:ext cx="5699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75" b="1" dirty="0">
                <a:solidFill>
                  <a:srgbClr val="FFFFFF">
                    <a:alpha val="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375" dirty="0"/>
          </a:p>
        </p:txBody>
      </p:sp>
      <p:sp>
        <p:nvSpPr>
          <p:cNvPr id="25" name="Shape 18"/>
          <p:cNvSpPr/>
          <p:nvPr/>
        </p:nvSpPr>
        <p:spPr>
          <a:xfrm>
            <a:off x="606933" y="2506599"/>
            <a:ext cx="428625" cy="428625"/>
          </a:xfrm>
          <a:prstGeom prst="roundRect">
            <a:avLst>
              <a:gd name="adj" fmla="val 64000"/>
            </a:avLst>
          </a:prstGeom>
          <a:solidFill>
            <a:srgbClr val="7B61FF">
              <a:alpha val="10000"/>
            </a:srgbClr>
          </a:solidFill>
          <a:ln w="12700">
            <a:solidFill>
              <a:srgbClr val="7B61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rcRect t="-456" b="-456"/>
          <a:stretch/>
        </p:blipFill>
        <p:spPr>
          <a:xfrm>
            <a:off x="739292" y="2635529"/>
            <a:ext cx="164592" cy="17145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643552" y="2237766"/>
            <a:ext cx="4072280" cy="971779"/>
          </a:xfrm>
          <a:prstGeom prst="roundRect">
            <a:avLst>
              <a:gd name="adj" fmla="val 16605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8" name="Text 20"/>
          <p:cNvSpPr txBox="1"/>
          <p:nvPr/>
        </p:nvSpPr>
        <p:spPr>
          <a:xfrm>
            <a:off x="8032775" y="2315947"/>
            <a:ext cx="59321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75" b="1" dirty="0">
                <a:solidFill>
                  <a:srgbClr val="FFFFFF">
                    <a:alpha val="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375" dirty="0"/>
          </a:p>
        </p:txBody>
      </p:sp>
      <p:sp>
        <p:nvSpPr>
          <p:cNvPr id="29" name="Shape 21"/>
          <p:cNvSpPr/>
          <p:nvPr/>
        </p:nvSpPr>
        <p:spPr>
          <a:xfrm>
            <a:off x="4821860" y="2506599"/>
            <a:ext cx="428625" cy="428625"/>
          </a:xfrm>
          <a:prstGeom prst="roundRect">
            <a:avLst>
              <a:gd name="adj" fmla="val 64000"/>
            </a:avLst>
          </a:prstGeom>
          <a:solidFill>
            <a:srgbClr val="FFD700">
              <a:alpha val="10000"/>
            </a:srgbClr>
          </a:solidFill>
          <a:ln w="12700">
            <a:solidFill>
              <a:srgbClr val="FFD7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4972051" y="2635529"/>
            <a:ext cx="128930" cy="17145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428626" y="3347390"/>
            <a:ext cx="4072280" cy="971779"/>
          </a:xfrm>
          <a:prstGeom prst="roundRect">
            <a:avLst>
              <a:gd name="adj" fmla="val 16605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2" name="Text 23"/>
          <p:cNvSpPr txBox="1"/>
          <p:nvPr/>
        </p:nvSpPr>
        <p:spPr>
          <a:xfrm>
            <a:off x="3812363" y="3426257"/>
            <a:ext cx="6000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75" b="1" dirty="0">
                <a:solidFill>
                  <a:srgbClr val="FFFFFF">
                    <a:alpha val="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375" dirty="0"/>
          </a:p>
        </p:txBody>
      </p:sp>
      <p:sp>
        <p:nvSpPr>
          <p:cNvPr id="33" name="Shape 24"/>
          <p:cNvSpPr/>
          <p:nvPr/>
        </p:nvSpPr>
        <p:spPr>
          <a:xfrm>
            <a:off x="606933" y="3616910"/>
            <a:ext cx="428625" cy="428625"/>
          </a:xfrm>
          <a:prstGeom prst="roundRect">
            <a:avLst>
              <a:gd name="adj" fmla="val 64000"/>
            </a:avLst>
          </a:prstGeom>
          <a:solidFill>
            <a:srgbClr val="FF5E5E">
              <a:alpha val="10000"/>
            </a:srgbClr>
          </a:solidFill>
          <a:ln w="12700">
            <a:solidFill>
              <a:srgbClr val="FF5E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757124" y="3745154"/>
            <a:ext cx="128930" cy="17145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4643552" y="3347390"/>
            <a:ext cx="4072280" cy="971779"/>
          </a:xfrm>
          <a:prstGeom prst="roundRect">
            <a:avLst>
              <a:gd name="adj" fmla="val 16605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6" name="Text 26"/>
          <p:cNvSpPr txBox="1"/>
          <p:nvPr/>
        </p:nvSpPr>
        <p:spPr>
          <a:xfrm>
            <a:off x="8014945" y="3426257"/>
            <a:ext cx="61447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75" b="1" dirty="0">
                <a:solidFill>
                  <a:srgbClr val="FFFFFF">
                    <a:alpha val="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375" dirty="0"/>
          </a:p>
        </p:txBody>
      </p:sp>
      <p:sp>
        <p:nvSpPr>
          <p:cNvPr id="37" name="Shape 27"/>
          <p:cNvSpPr/>
          <p:nvPr/>
        </p:nvSpPr>
        <p:spPr>
          <a:xfrm>
            <a:off x="4821860" y="3616910"/>
            <a:ext cx="428625" cy="428625"/>
          </a:xfrm>
          <a:prstGeom prst="roundRect">
            <a:avLst>
              <a:gd name="adj" fmla="val 64000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4929531" y="3745154"/>
            <a:ext cx="214655" cy="17145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178890" y="2431847"/>
            <a:ext cx="2006651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 the Code</a:t>
            </a:r>
            <a:endParaRPr lang="en-US" sz="1125" dirty="0"/>
          </a:p>
        </p:txBody>
      </p:sp>
      <p:sp>
        <p:nvSpPr>
          <p:cNvPr id="40" name="Text 29"/>
          <p:cNvSpPr txBox="1"/>
          <p:nvPr/>
        </p:nvSpPr>
        <p:spPr>
          <a:xfrm>
            <a:off x="1178891" y="2674620"/>
            <a:ext cx="2295373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the Event Builder 360 starter repo.</a:t>
            </a:r>
            <a:endParaRPr lang="en-US" sz="750" dirty="0"/>
          </a:p>
        </p:txBody>
      </p:sp>
      <p:sp>
        <p:nvSpPr>
          <p:cNvPr id="41" name="Text 30"/>
          <p:cNvSpPr txBox="1"/>
          <p:nvPr/>
        </p:nvSpPr>
        <p:spPr>
          <a:xfrm>
            <a:off x="1178890" y="2881732"/>
            <a:ext cx="2006651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kern="0" spc="34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github.com/flyercopilot/event360 </a:t>
            </a:r>
            <a:endParaRPr lang="en-US" sz="675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3005176" y="2902991"/>
            <a:ext cx="78867" cy="8572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5393817" y="2431847"/>
            <a:ext cx="2043684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Blueprint</a:t>
            </a:r>
            <a:endParaRPr lang="en-US" sz="1125" dirty="0"/>
          </a:p>
        </p:txBody>
      </p:sp>
      <p:sp>
        <p:nvSpPr>
          <p:cNvPr id="44" name="Text 32"/>
          <p:cNvSpPr txBox="1"/>
          <p:nvPr/>
        </p:nvSpPr>
        <p:spPr>
          <a:xfrm>
            <a:off x="5393817" y="2674620"/>
            <a:ext cx="2337893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the Planning Template &amp; Rules.</a:t>
            </a:r>
            <a:endParaRPr lang="en-US" sz="750" dirty="0"/>
          </a:p>
        </p:txBody>
      </p:sp>
      <p:sp>
        <p:nvSpPr>
          <p:cNvPr id="45" name="Text 33"/>
          <p:cNvSpPr txBox="1"/>
          <p:nvPr/>
        </p:nvSpPr>
        <p:spPr>
          <a:xfrm>
            <a:off x="5393817" y="2881732"/>
            <a:ext cx="204368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kern="0" spc="34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flyercopilot.com/sxsw-pack </a:t>
            </a:r>
            <a:endParaRPr lang="en-US" sz="675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6885432" y="2902991"/>
            <a:ext cx="78867" cy="8572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1178891" y="3542158"/>
            <a:ext cx="1649349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Try it Live</a:t>
            </a:r>
            <a:endParaRPr lang="en-US" sz="1125" dirty="0"/>
          </a:p>
        </p:txBody>
      </p:sp>
      <p:sp>
        <p:nvSpPr>
          <p:cNvPr id="48" name="Text 35"/>
          <p:cNvSpPr txBox="1"/>
          <p:nvPr/>
        </p:nvSpPr>
        <p:spPr>
          <a:xfrm>
            <a:off x="1178891" y="3784930"/>
            <a:ext cx="1887322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the FlyerCopilot MVP.</a:t>
            </a:r>
            <a:endParaRPr lang="en-US" sz="750" dirty="0"/>
          </a:p>
        </p:txBody>
      </p:sp>
      <p:sp>
        <p:nvSpPr>
          <p:cNvPr id="49" name="Text 36"/>
          <p:cNvSpPr txBox="1"/>
          <p:nvPr/>
        </p:nvSpPr>
        <p:spPr>
          <a:xfrm>
            <a:off x="1178891" y="3992042"/>
            <a:ext cx="1649349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kern="0" spc="34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flyercopilot.com </a:t>
            </a:r>
            <a:endParaRPr lang="en-US" sz="675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2113636" y="4013302"/>
            <a:ext cx="78867" cy="8572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5393818" y="3542158"/>
            <a:ext cx="2073173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Join the Vibes</a:t>
            </a:r>
            <a:endParaRPr lang="en-US" sz="1125" dirty="0"/>
          </a:p>
        </p:txBody>
      </p:sp>
      <p:sp>
        <p:nvSpPr>
          <p:cNvPr id="52" name="Text 38"/>
          <p:cNvSpPr txBox="1"/>
          <p:nvPr/>
        </p:nvSpPr>
        <p:spPr>
          <a:xfrm>
            <a:off x="5393817" y="3784930"/>
            <a:ext cx="2372183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with the Vibe Coding community.</a:t>
            </a:r>
            <a:endParaRPr lang="en-US" sz="750" dirty="0"/>
          </a:p>
        </p:txBody>
      </p:sp>
      <p:sp>
        <p:nvSpPr>
          <p:cNvPr id="53" name="Text 39"/>
          <p:cNvSpPr txBox="1"/>
          <p:nvPr/>
        </p:nvSpPr>
        <p:spPr>
          <a:xfrm>
            <a:off x="5393818" y="3992042"/>
            <a:ext cx="207317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kern="0" spc="34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discord.gg/vibecoding </a:t>
            </a:r>
            <a:endParaRPr lang="en-US" sz="675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4"/>
          <a:srcRect l="-2571" r="-2571"/>
          <a:stretch/>
        </p:blipFill>
        <p:spPr>
          <a:xfrm>
            <a:off x="6606998" y="4013302"/>
            <a:ext cx="78867" cy="85725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2603297" y="4529024"/>
            <a:ext cx="3943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 Overthinking. </a:t>
            </a:r>
            <a:r>
              <a:rPr lang="en-US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Vibe Coding.</a:t>
            </a:r>
            <a:r>
              <a:rPr lang="en-US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🚀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A82B05C4-D225-7F50-ECE1-EA6F54474C10}"/>
              </a:ext>
            </a:extLst>
          </p:cNvPr>
          <p:cNvSpPr txBox="1"/>
          <p:nvPr/>
        </p:nvSpPr>
        <p:spPr>
          <a:xfrm>
            <a:off x="2580468" y="1848173"/>
            <a:ext cx="538178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/>
              <a:t>Backup and old slides</a:t>
            </a:r>
          </a:p>
        </p:txBody>
      </p:sp>
    </p:spTree>
    <p:extLst>
      <p:ext uri="{BB962C8B-B14F-4D97-AF65-F5344CB8AC3E}">
        <p14:creationId xmlns:p14="http://schemas.microsoft.com/office/powerpoint/2010/main" val="8840512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" y="350444"/>
            <a:ext cx="914377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" name="Shape 4"/>
          <p:cNvSpPr/>
          <p:nvPr/>
        </p:nvSpPr>
        <p:spPr>
          <a:xfrm>
            <a:off x="571271" y="0"/>
            <a:ext cx="1700099" cy="349758"/>
          </a:xfrm>
          <a:prstGeom prst="rect">
            <a:avLst/>
          </a:prstGeom>
          <a:solidFill>
            <a:srgbClr val="050505"/>
          </a:solidFill>
          <a:ln w="25400">
            <a:solidFill>
              <a:srgbClr val="00FF94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5926" y="132359"/>
            <a:ext cx="100127" cy="10012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57377" y="0"/>
            <a:ext cx="929259" cy="35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ActivityFeature.tsx</a:t>
            </a:r>
            <a:endParaRPr lang="en-US" sz="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979905" y="139217"/>
            <a:ext cx="64466" cy="8572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772754" y="132359"/>
            <a:ext cx="85725" cy="85725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3" name="Shape 9"/>
          <p:cNvSpPr/>
          <p:nvPr/>
        </p:nvSpPr>
        <p:spPr>
          <a:xfrm>
            <a:off x="1" y="0"/>
            <a:ext cx="571271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 sz="1013"/>
          </a:p>
        </p:txBody>
      </p:sp>
      <p:sp>
        <p:nvSpPr>
          <p:cNvPr id="14" name="Shape 10"/>
          <p:cNvSpPr/>
          <p:nvPr/>
        </p:nvSpPr>
        <p:spPr>
          <a:xfrm>
            <a:off x="564413" y="0"/>
            <a:ext cx="6858" cy="51435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5" name="Text 11"/>
          <p:cNvSpPr txBox="1"/>
          <p:nvPr/>
        </p:nvSpPr>
        <p:spPr>
          <a:xfrm>
            <a:off x="266777" y="999897"/>
            <a:ext cx="200254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75" dirty="0"/>
          </a:p>
        </p:txBody>
      </p:sp>
      <p:sp>
        <p:nvSpPr>
          <p:cNvPr id="16" name="Text 12"/>
          <p:cNvSpPr txBox="1"/>
          <p:nvPr/>
        </p:nvSpPr>
        <p:spPr>
          <a:xfrm>
            <a:off x="266777" y="1285875"/>
            <a:ext cx="200254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75" dirty="0"/>
          </a:p>
        </p:txBody>
      </p:sp>
      <p:sp>
        <p:nvSpPr>
          <p:cNvPr id="17" name="Text 13"/>
          <p:cNvSpPr txBox="1"/>
          <p:nvPr/>
        </p:nvSpPr>
        <p:spPr>
          <a:xfrm>
            <a:off x="266777" y="1571854"/>
            <a:ext cx="200254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75" dirty="0"/>
          </a:p>
        </p:txBody>
      </p:sp>
      <p:sp>
        <p:nvSpPr>
          <p:cNvPr id="18" name="Text 14"/>
          <p:cNvSpPr txBox="1"/>
          <p:nvPr/>
        </p:nvSpPr>
        <p:spPr>
          <a:xfrm>
            <a:off x="266777" y="2285772"/>
            <a:ext cx="200254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75" dirty="0"/>
          </a:p>
        </p:txBody>
      </p:sp>
      <p:sp>
        <p:nvSpPr>
          <p:cNvPr id="19" name="Text 15"/>
          <p:cNvSpPr txBox="1"/>
          <p:nvPr/>
        </p:nvSpPr>
        <p:spPr>
          <a:xfrm>
            <a:off x="266777" y="2571750"/>
            <a:ext cx="200254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75" dirty="0"/>
          </a:p>
        </p:txBody>
      </p:sp>
      <p:sp>
        <p:nvSpPr>
          <p:cNvPr id="20" name="Text 16"/>
          <p:cNvSpPr txBox="1"/>
          <p:nvPr/>
        </p:nvSpPr>
        <p:spPr>
          <a:xfrm>
            <a:off x="266777" y="2857729"/>
            <a:ext cx="200254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75" dirty="0"/>
          </a:p>
        </p:txBody>
      </p:sp>
      <p:sp>
        <p:nvSpPr>
          <p:cNvPr id="21" name="Shape 17"/>
          <p:cNvSpPr/>
          <p:nvPr/>
        </p:nvSpPr>
        <p:spPr>
          <a:xfrm>
            <a:off x="8200797" y="1028700"/>
            <a:ext cx="28804" cy="28804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2" name="Shape 18"/>
          <p:cNvSpPr/>
          <p:nvPr/>
        </p:nvSpPr>
        <p:spPr>
          <a:xfrm>
            <a:off x="7286625" y="3571647"/>
            <a:ext cx="28804" cy="28804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3" name="Shape 19"/>
          <p:cNvSpPr/>
          <p:nvPr/>
        </p:nvSpPr>
        <p:spPr>
          <a:xfrm>
            <a:off x="3657372" y="2057400"/>
            <a:ext cx="28804" cy="28804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4" name="Text 20"/>
          <p:cNvSpPr txBox="1"/>
          <p:nvPr/>
        </p:nvSpPr>
        <p:spPr>
          <a:xfrm>
            <a:off x="1285875" y="1151459"/>
            <a:ext cx="7229704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Implement core feature</a:t>
            </a:r>
            <a:endParaRPr lang="en-US" sz="1125" dirty="0"/>
          </a:p>
        </p:txBody>
      </p:sp>
      <p:sp>
        <p:nvSpPr>
          <p:cNvPr id="25" name="Text 21"/>
          <p:cNvSpPr txBox="1"/>
          <p:nvPr/>
        </p:nvSpPr>
        <p:spPr>
          <a:xfrm>
            <a:off x="1285875" y="1437437"/>
            <a:ext cx="6137225" cy="757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kern="0" spc="-21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 an Activity</a:t>
            </a:r>
            <a:endParaRPr lang="en-US" sz="5400" dirty="0"/>
          </a:p>
        </p:txBody>
      </p:sp>
      <p:sp>
        <p:nvSpPr>
          <p:cNvPr id="26" name="Text 22"/>
          <p:cNvSpPr txBox="1"/>
          <p:nvPr/>
        </p:nvSpPr>
        <p:spPr>
          <a:xfrm>
            <a:off x="1285875" y="2620442"/>
            <a:ext cx="3360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endParaRPr lang="en-US" sz="18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rcRect l="-21543" r="-21543"/>
          <a:stretch/>
        </p:blipFill>
        <p:spPr>
          <a:xfrm>
            <a:off x="1731646" y="2706167"/>
            <a:ext cx="214655" cy="17145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117751" y="2620442"/>
            <a:ext cx="24222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Data Model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4692244" y="2684908"/>
            <a:ext cx="735863" cy="214655"/>
          </a:xfrm>
          <a:prstGeom prst="rect">
            <a:avLst/>
          </a:prstGeom>
          <a:noFill/>
          <a:ln w="12700">
            <a:solidFill>
              <a:srgbClr val="00FF94"/>
            </a:solidFill>
          </a:ln>
        </p:spPr>
        <p:txBody>
          <a:bodyPr wrap="square" lIns="57150" tIns="19050" rIns="57150" bIns="19050" rtlCol="0" anchor="ctr"/>
          <a:lstStyle/>
          <a:p>
            <a:r>
              <a:rPr lang="en-US" sz="9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1285875" y="3134792"/>
            <a:ext cx="3360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lang="en-US" sz="18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 l="-12600" r="-12600"/>
          <a:stretch/>
        </p:blipFill>
        <p:spPr>
          <a:xfrm>
            <a:off x="1731646" y="3220517"/>
            <a:ext cx="214655" cy="17145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2117750" y="3134792"/>
            <a:ext cx="19991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Modal UI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1285875" y="3649142"/>
            <a:ext cx="3360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</a:t>
            </a:r>
            <a:endParaRPr lang="en-US" sz="18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21543" r="-21543"/>
          <a:stretch/>
        </p:blipFill>
        <p:spPr>
          <a:xfrm>
            <a:off x="1731646" y="3734867"/>
            <a:ext cx="214655" cy="17145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2117751" y="3649142"/>
            <a:ext cx="24222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 + Display</a:t>
            </a:r>
            <a:endParaRPr lang="en-US" sz="18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 l="-15" r="-15"/>
          <a:stretch/>
        </p:blipFill>
        <p:spPr>
          <a:xfrm>
            <a:off x="2533346" y="4443298"/>
            <a:ext cx="4077081" cy="41422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2990773" y="4443299"/>
            <a:ext cx="3443402" cy="414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NARRATE: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Intent </a:t>
            </a: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Constraints </a:t>
            </a: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What NOT to do </a:t>
            </a:r>
            <a:endParaRPr lang="en-US" sz="9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>
            <a:alphaModFix amt="74000"/>
          </a:blip>
          <a:srcRect/>
          <a:stretch/>
        </p:blipFill>
        <p:spPr>
          <a:xfrm>
            <a:off x="2769260" y="4579087"/>
            <a:ext cx="106985" cy="14264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" name="Shap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7000647" y="-714604"/>
            <a:ext cx="2857729" cy="285772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714604" y="3714979"/>
            <a:ext cx="2143125" cy="21431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35684" y="428625"/>
            <a:ext cx="75225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80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GUARDRAILS 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71272" y="428625"/>
            <a:ext cx="285979" cy="14402"/>
          </a:xfrm>
          <a:prstGeom prst="rect">
            <a:avLst/>
          </a:prstGeom>
          <a:solidFill>
            <a:srgbClr val="FF5E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9281" r="-9281"/>
          <a:stretch/>
        </p:blipFill>
        <p:spPr>
          <a:xfrm>
            <a:off x="928574" y="457429"/>
            <a:ext cx="135788" cy="11452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71271" y="685800"/>
            <a:ext cx="5843702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150" b="1" kern="0" spc="-63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We're </a:t>
            </a:r>
            <a:r>
              <a:rPr lang="en-US" sz="3150" b="1" kern="0" spc="-63" dirty="0">
                <a:solidFill>
                  <a:srgbClr val="FF5E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</a:t>
            </a:r>
            <a:r>
              <a:rPr lang="en-US" sz="3150" b="1" kern="0" spc="-63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Building Today</a:t>
            </a:r>
            <a:endParaRPr lang="en-US" sz="3150" dirty="0"/>
          </a:p>
        </p:txBody>
      </p:sp>
      <p:sp>
        <p:nvSpPr>
          <p:cNvPr id="10" name="Shape 5"/>
          <p:cNvSpPr/>
          <p:nvPr/>
        </p:nvSpPr>
        <p:spPr>
          <a:xfrm>
            <a:off x="571271" y="1922984"/>
            <a:ext cx="6429375" cy="892912"/>
          </a:xfrm>
          <a:prstGeom prst="roundRect">
            <a:avLst>
              <a:gd name="adj" fmla="val 19662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1" name="Shape 6"/>
          <p:cNvSpPr/>
          <p:nvPr/>
        </p:nvSpPr>
        <p:spPr>
          <a:xfrm>
            <a:off x="571272" y="1922983"/>
            <a:ext cx="43205" cy="878510"/>
          </a:xfrm>
          <a:prstGeom prst="rect">
            <a:avLst/>
          </a:prstGeom>
          <a:solidFill>
            <a:srgbClr val="FF5E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2" name="Shape 7"/>
          <p:cNvSpPr/>
          <p:nvPr/>
        </p:nvSpPr>
        <p:spPr>
          <a:xfrm>
            <a:off x="800329" y="2141068"/>
            <a:ext cx="457429" cy="457429"/>
          </a:xfrm>
          <a:prstGeom prst="roundRect">
            <a:avLst>
              <a:gd name="adj" fmla="val 56222"/>
            </a:avLst>
          </a:prstGeom>
          <a:solidFill>
            <a:srgbClr val="FF5E5E">
              <a:alpha val="10000"/>
            </a:srgbClr>
          </a:solidFill>
          <a:ln w="12700">
            <a:solidFill>
              <a:srgbClr val="FF5E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3884" y="2269313"/>
            <a:ext cx="250317" cy="20025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86129" y="2101292"/>
            <a:ext cx="4465244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Authentication</a:t>
            </a:r>
            <a:endParaRPr lang="en-US" sz="1575" dirty="0"/>
          </a:p>
        </p:txBody>
      </p:sp>
      <p:sp>
        <p:nvSpPr>
          <p:cNvPr id="15" name="Text 9"/>
          <p:cNvSpPr txBox="1"/>
          <p:nvPr/>
        </p:nvSpPr>
        <p:spPr>
          <a:xfrm>
            <a:off x="1486129" y="2444192"/>
            <a:ext cx="446524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don't need login screens to prove the concept.</a:t>
            </a:r>
            <a:endParaRPr lang="en-US" sz="975" dirty="0"/>
          </a:p>
        </p:txBody>
      </p:sp>
      <p:sp>
        <p:nvSpPr>
          <p:cNvPr id="16" name="Shape 10"/>
          <p:cNvSpPr/>
          <p:nvPr/>
        </p:nvSpPr>
        <p:spPr>
          <a:xfrm>
            <a:off x="5858790" y="2254911"/>
            <a:ext cx="907313" cy="228371"/>
          </a:xfrm>
          <a:prstGeom prst="roundRect">
            <a:avLst>
              <a:gd name="adj" fmla="val 75075"/>
            </a:avLst>
          </a:prstGeom>
          <a:solidFill>
            <a:srgbClr val="FF5E5E">
              <a:alpha val="5000"/>
            </a:srgbClr>
          </a:solidFill>
          <a:ln w="12700">
            <a:solidFill>
              <a:srgbClr val="FF5E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7" name="Text 11"/>
          <p:cNvSpPr txBox="1"/>
          <p:nvPr/>
        </p:nvSpPr>
        <p:spPr>
          <a:xfrm>
            <a:off x="5858789" y="2254910"/>
            <a:ext cx="950519" cy="2290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5725" tIns="47625" rIns="85725" bIns="47625" rtlCol="0" anchor="ctr"/>
          <a:lstStyle/>
          <a:p>
            <a:r>
              <a:rPr lang="en-US" sz="675" b="1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Problem</a:t>
            </a:r>
            <a:endParaRPr lang="en-US" sz="675" dirty="0"/>
          </a:p>
        </p:txBody>
      </p:sp>
      <p:sp>
        <p:nvSpPr>
          <p:cNvPr id="18" name="Shape 12"/>
          <p:cNvSpPr/>
          <p:nvPr/>
        </p:nvSpPr>
        <p:spPr>
          <a:xfrm>
            <a:off x="571271" y="2987345"/>
            <a:ext cx="6429375" cy="892912"/>
          </a:xfrm>
          <a:prstGeom prst="roundRect">
            <a:avLst>
              <a:gd name="adj" fmla="val 19662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9" name="Shape 13"/>
          <p:cNvSpPr/>
          <p:nvPr/>
        </p:nvSpPr>
        <p:spPr>
          <a:xfrm>
            <a:off x="571272" y="2987344"/>
            <a:ext cx="43205" cy="878510"/>
          </a:xfrm>
          <a:prstGeom prst="rect">
            <a:avLst/>
          </a:prstGeom>
          <a:solidFill>
            <a:srgbClr val="FF5E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0" name="Shape 14"/>
          <p:cNvSpPr/>
          <p:nvPr/>
        </p:nvSpPr>
        <p:spPr>
          <a:xfrm>
            <a:off x="800329" y="3205430"/>
            <a:ext cx="457429" cy="457429"/>
          </a:xfrm>
          <a:prstGeom prst="roundRect">
            <a:avLst>
              <a:gd name="adj" fmla="val 56222"/>
            </a:avLst>
          </a:prstGeom>
          <a:solidFill>
            <a:srgbClr val="FF5E5E">
              <a:alpha val="10000"/>
            </a:srgbClr>
          </a:solidFill>
          <a:ln w="12700">
            <a:solidFill>
              <a:srgbClr val="FF5E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8574" y="3333674"/>
            <a:ext cx="200254" cy="20025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86129" y="3166339"/>
            <a:ext cx="4565371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Data Ingestion</a:t>
            </a:r>
            <a:endParaRPr lang="en-US" sz="1575" dirty="0"/>
          </a:p>
        </p:txBody>
      </p:sp>
      <p:sp>
        <p:nvSpPr>
          <p:cNvPr id="23" name="Text 16"/>
          <p:cNvSpPr txBox="1"/>
          <p:nvPr/>
        </p:nvSpPr>
        <p:spPr>
          <a:xfrm>
            <a:off x="1486129" y="3509239"/>
            <a:ext cx="4565371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We'll use the pre-filled directory data.</a:t>
            </a:r>
            <a:endParaRPr lang="en-US" sz="975" dirty="0"/>
          </a:p>
        </p:txBody>
      </p:sp>
      <p:sp>
        <p:nvSpPr>
          <p:cNvPr id="24" name="Shape 17"/>
          <p:cNvSpPr/>
          <p:nvPr/>
        </p:nvSpPr>
        <p:spPr>
          <a:xfrm>
            <a:off x="5962346" y="3319273"/>
            <a:ext cx="807187" cy="228371"/>
          </a:xfrm>
          <a:prstGeom prst="roundRect">
            <a:avLst>
              <a:gd name="adj" fmla="val 75075"/>
            </a:avLst>
          </a:prstGeom>
          <a:solidFill>
            <a:srgbClr val="FF5E5E">
              <a:alpha val="5000"/>
            </a:srgbClr>
          </a:solidFill>
          <a:ln w="12700">
            <a:solidFill>
              <a:srgbClr val="FF5E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5" name="Text 18"/>
          <p:cNvSpPr txBox="1"/>
          <p:nvPr/>
        </p:nvSpPr>
        <p:spPr>
          <a:xfrm>
            <a:off x="5962346" y="3319272"/>
            <a:ext cx="850392" cy="2290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5725" tIns="47625" rIns="85725" bIns="47625" rtlCol="0" anchor="ctr"/>
          <a:lstStyle/>
          <a:p>
            <a:r>
              <a:rPr lang="en-US" sz="675" b="1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of Scope</a:t>
            </a:r>
            <a:endParaRPr lang="en-US" sz="675" dirty="0"/>
          </a:p>
        </p:txBody>
      </p:sp>
      <p:sp>
        <p:nvSpPr>
          <p:cNvPr id="26" name="Shape 19"/>
          <p:cNvSpPr/>
          <p:nvPr/>
        </p:nvSpPr>
        <p:spPr>
          <a:xfrm>
            <a:off x="571271" y="4051707"/>
            <a:ext cx="6429375" cy="892912"/>
          </a:xfrm>
          <a:prstGeom prst="roundRect">
            <a:avLst>
              <a:gd name="adj" fmla="val 19662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7" name="Shape 20"/>
          <p:cNvSpPr/>
          <p:nvPr/>
        </p:nvSpPr>
        <p:spPr>
          <a:xfrm>
            <a:off x="571272" y="4051706"/>
            <a:ext cx="43205" cy="878510"/>
          </a:xfrm>
          <a:prstGeom prst="rect">
            <a:avLst/>
          </a:prstGeom>
          <a:solidFill>
            <a:srgbClr val="00FF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8" name="Shape 21"/>
          <p:cNvSpPr/>
          <p:nvPr/>
        </p:nvSpPr>
        <p:spPr>
          <a:xfrm>
            <a:off x="800329" y="4269791"/>
            <a:ext cx="457429" cy="457429"/>
          </a:xfrm>
          <a:prstGeom prst="roundRect">
            <a:avLst>
              <a:gd name="adj" fmla="val 56222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l="-881" r="-881"/>
          <a:stretch/>
        </p:blipFill>
        <p:spPr>
          <a:xfrm>
            <a:off x="939546" y="4398036"/>
            <a:ext cx="178308" cy="20025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86129" y="4230701"/>
            <a:ext cx="4615434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Supabase Data Model</a:t>
            </a:r>
            <a:endParaRPr lang="en-US" sz="1575" dirty="0"/>
          </a:p>
        </p:txBody>
      </p:sp>
      <p:sp>
        <p:nvSpPr>
          <p:cNvPr id="31" name="Text 23"/>
          <p:cNvSpPr txBox="1"/>
          <p:nvPr/>
        </p:nvSpPr>
        <p:spPr>
          <a:xfrm>
            <a:off x="1486129" y="4573601"/>
            <a:ext cx="461543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the shared database as our source of truth.</a:t>
            </a:r>
            <a:endParaRPr lang="en-US" sz="975" dirty="0"/>
          </a:p>
        </p:txBody>
      </p:sp>
      <p:sp>
        <p:nvSpPr>
          <p:cNvPr id="32" name="Shape 24"/>
          <p:cNvSpPr/>
          <p:nvPr/>
        </p:nvSpPr>
        <p:spPr>
          <a:xfrm>
            <a:off x="6013780" y="4384320"/>
            <a:ext cx="757124" cy="228371"/>
          </a:xfrm>
          <a:prstGeom prst="roundRect">
            <a:avLst>
              <a:gd name="adj" fmla="val 75075"/>
            </a:avLst>
          </a:prstGeom>
          <a:solidFill>
            <a:srgbClr val="00FF94">
              <a:alpha val="5000"/>
            </a:srgbClr>
          </a:solidFill>
          <a:ln w="12700">
            <a:solidFill>
              <a:srgbClr val="00FF9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3" name="Text 25"/>
          <p:cNvSpPr txBox="1"/>
          <p:nvPr/>
        </p:nvSpPr>
        <p:spPr>
          <a:xfrm>
            <a:off x="6013781" y="4384319"/>
            <a:ext cx="800329" cy="2290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5725" tIns="47625" rIns="85725" bIns="47625" rtlCol="0" anchor="ctr"/>
          <a:lstStyle/>
          <a:p>
            <a:r>
              <a:rPr lang="en-US" sz="675" b="1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Tool</a:t>
            </a:r>
            <a:endParaRPr lang="en-US" sz="675" dirty="0"/>
          </a:p>
        </p:txBody>
      </p:sp>
      <p:sp>
        <p:nvSpPr>
          <p:cNvPr id="34" name="Shape 26"/>
          <p:cNvSpPr/>
          <p:nvPr/>
        </p:nvSpPr>
        <p:spPr>
          <a:xfrm>
            <a:off x="571272" y="4944619"/>
            <a:ext cx="4250588" cy="307238"/>
          </a:xfrm>
          <a:prstGeom prst="roundRect">
            <a:avLst>
              <a:gd name="adj" fmla="val 223214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rcRect/>
          <a:stretch/>
        </p:blipFill>
        <p:spPr>
          <a:xfrm>
            <a:off x="721462" y="5041316"/>
            <a:ext cx="114529" cy="114529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49833" y="4944619"/>
            <a:ext cx="377944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88888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Purpose: Prevent scope creep. Focus on the "Activity" feature.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9275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" name="Shap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" y="0"/>
            <a:ext cx="9143771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8625" y="4522166"/>
            <a:ext cx="3071699" cy="336042"/>
          </a:xfrm>
          <a:prstGeom prst="roundRect">
            <a:avLst>
              <a:gd name="adj" fmla="val 20408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578815" y="4632579"/>
            <a:ext cx="100127" cy="11452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4667" y="4522166"/>
            <a:ext cx="2643759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Vibe Coding before typing a single line of code.</a:t>
            </a:r>
            <a:endParaRPr lang="en-US" sz="750" dirty="0"/>
          </a:p>
        </p:txBody>
      </p:sp>
      <p:sp>
        <p:nvSpPr>
          <p:cNvPr id="8" name="Shape 4"/>
          <p:cNvSpPr/>
          <p:nvPr/>
        </p:nvSpPr>
        <p:spPr>
          <a:xfrm>
            <a:off x="428626" y="1150772"/>
            <a:ext cx="828652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Text 5"/>
          <p:cNvSpPr txBox="1"/>
          <p:nvPr/>
        </p:nvSpPr>
        <p:spPr>
          <a:xfrm>
            <a:off x="428625" y="285979"/>
            <a:ext cx="4286250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kern="0" spc="158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WORKFLOW</a:t>
            </a:r>
            <a:endParaRPr lang="en-US" sz="750" dirty="0"/>
          </a:p>
        </p:txBody>
      </p:sp>
      <p:sp>
        <p:nvSpPr>
          <p:cNvPr id="10" name="Text 6"/>
          <p:cNvSpPr txBox="1"/>
          <p:nvPr/>
        </p:nvSpPr>
        <p:spPr>
          <a:xfrm>
            <a:off x="428625" y="493091"/>
            <a:ext cx="52936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kern="0" spc="-5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Vibe Coding Before Typing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7938135" y="857250"/>
            <a:ext cx="779069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FLOW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28625" y="1442924"/>
            <a:ext cx="2671877" cy="2864587"/>
          </a:xfrm>
          <a:prstGeom prst="roundRect">
            <a:avLst>
              <a:gd name="adj" fmla="val 2196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3" name="Shape 9"/>
          <p:cNvSpPr/>
          <p:nvPr/>
        </p:nvSpPr>
        <p:spPr>
          <a:xfrm>
            <a:off x="428625" y="1442924"/>
            <a:ext cx="2671877" cy="28804"/>
          </a:xfrm>
          <a:prstGeom prst="roundRect">
            <a:avLst>
              <a:gd name="adj" fmla="val 203717"/>
            </a:avLst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4" name="Text 10"/>
          <p:cNvSpPr txBox="1"/>
          <p:nvPr/>
        </p:nvSpPr>
        <p:spPr>
          <a:xfrm>
            <a:off x="2474366" y="1543050"/>
            <a:ext cx="5699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7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375" dirty="0"/>
          </a:p>
        </p:txBody>
      </p:sp>
      <p:sp>
        <p:nvSpPr>
          <p:cNvPr id="15" name="Text 11"/>
          <p:cNvSpPr txBox="1"/>
          <p:nvPr/>
        </p:nvSpPr>
        <p:spPr>
          <a:xfrm>
            <a:off x="606933" y="1643177"/>
            <a:ext cx="2400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Artifact</a:t>
            </a:r>
            <a:endParaRPr lang="en-US" dirty="0"/>
          </a:p>
        </p:txBody>
      </p:sp>
      <p:sp>
        <p:nvSpPr>
          <p:cNvPr id="16" name="Text 12"/>
          <p:cNvSpPr txBox="1"/>
          <p:nvPr/>
        </p:nvSpPr>
        <p:spPr>
          <a:xfrm>
            <a:off x="606933" y="1929156"/>
            <a:ext cx="24003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Anchor</a:t>
            </a:r>
            <a:endParaRPr lang="en-US" sz="675" dirty="0"/>
          </a:p>
        </p:txBody>
      </p:sp>
      <p:sp>
        <p:nvSpPr>
          <p:cNvPr id="17" name="Shape 13"/>
          <p:cNvSpPr/>
          <p:nvPr/>
        </p:nvSpPr>
        <p:spPr>
          <a:xfrm>
            <a:off x="606933" y="2200046"/>
            <a:ext cx="2314575" cy="1371600"/>
          </a:xfrm>
          <a:prstGeom prst="round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8" name="Shape 14"/>
          <p:cNvSpPr/>
          <p:nvPr/>
        </p:nvSpPr>
        <p:spPr>
          <a:xfrm>
            <a:off x="1073277" y="2477796"/>
            <a:ext cx="1378458" cy="214655"/>
          </a:xfrm>
          <a:prstGeom prst="roundRect">
            <a:avLst>
              <a:gd name="adj" fmla="val 85197"/>
            </a:avLst>
          </a:prstGeom>
          <a:solidFill>
            <a:srgbClr val="FF5E5E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9" name="Shape 15"/>
          <p:cNvSpPr/>
          <p:nvPr/>
        </p:nvSpPr>
        <p:spPr>
          <a:xfrm>
            <a:off x="1073277" y="2720569"/>
            <a:ext cx="678942" cy="428625"/>
          </a:xfrm>
          <a:prstGeom prst="roundRect">
            <a:avLst>
              <a:gd name="adj" fmla="val 21333"/>
            </a:avLst>
          </a:prstGeom>
          <a:solidFill>
            <a:srgbClr val="7B61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0" name="Shape 16"/>
          <p:cNvSpPr/>
          <p:nvPr/>
        </p:nvSpPr>
        <p:spPr>
          <a:xfrm>
            <a:off x="1776222" y="2720569"/>
            <a:ext cx="678942" cy="428625"/>
          </a:xfrm>
          <a:prstGeom prst="roundRect">
            <a:avLst>
              <a:gd name="adj" fmla="val 21333"/>
            </a:avLst>
          </a:prstGeom>
          <a:solidFill>
            <a:srgbClr val="FFD70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1" name="Shape 17"/>
          <p:cNvSpPr/>
          <p:nvPr/>
        </p:nvSpPr>
        <p:spPr>
          <a:xfrm>
            <a:off x="1073277" y="3177998"/>
            <a:ext cx="1378458" cy="142646"/>
          </a:xfrm>
          <a:prstGeom prst="roundRect">
            <a:avLst>
              <a:gd name="adj" fmla="val 192308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2" name="Shape 18"/>
          <p:cNvSpPr/>
          <p:nvPr/>
        </p:nvSpPr>
        <p:spPr>
          <a:xfrm>
            <a:off x="2492883" y="3323387"/>
            <a:ext cx="349758" cy="164592"/>
          </a:xfrm>
          <a:prstGeom prst="roundRect">
            <a:avLst>
              <a:gd name="adj" fmla="val 144928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3" name="Text 19"/>
          <p:cNvSpPr txBox="1"/>
          <p:nvPr/>
        </p:nvSpPr>
        <p:spPr>
          <a:xfrm>
            <a:off x="2641702" y="3323387"/>
            <a:ext cx="244145" cy="164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28575" rIns="57150" bIns="28575" rtlCol="0" anchor="ctr"/>
          <a:lstStyle/>
          <a:p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JPG </a:t>
            </a:r>
            <a:endParaRPr lang="en-US" sz="6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49804" y="3367963"/>
            <a:ext cx="71324" cy="7132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06933" y="3709493"/>
            <a:ext cx="2372183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 a photo of the model. This grounds the AI in a physical spatial reality, not just abstract words.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3238348" y="1442924"/>
            <a:ext cx="2671877" cy="2864587"/>
          </a:xfrm>
          <a:prstGeom prst="roundRect">
            <a:avLst>
              <a:gd name="adj" fmla="val 2196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7" name="Shape 22"/>
          <p:cNvSpPr/>
          <p:nvPr/>
        </p:nvSpPr>
        <p:spPr>
          <a:xfrm>
            <a:off x="3238348" y="1442924"/>
            <a:ext cx="2671877" cy="28804"/>
          </a:xfrm>
          <a:prstGeom prst="roundRect">
            <a:avLst>
              <a:gd name="adj" fmla="val 203717"/>
            </a:avLst>
          </a:prstGeom>
          <a:solidFill>
            <a:srgbClr val="FF5E5E"/>
          </a:solidFill>
          <a:ln w="12700">
            <a:solidFill>
              <a:srgbClr val="FF5E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8" name="Text 23"/>
          <p:cNvSpPr txBox="1"/>
          <p:nvPr/>
        </p:nvSpPr>
        <p:spPr>
          <a:xfrm>
            <a:off x="5223053" y="1543050"/>
            <a:ext cx="59321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7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375" dirty="0"/>
          </a:p>
        </p:txBody>
      </p:sp>
      <p:sp>
        <p:nvSpPr>
          <p:cNvPr id="29" name="Text 24"/>
          <p:cNvSpPr txBox="1"/>
          <p:nvPr/>
        </p:nvSpPr>
        <p:spPr>
          <a:xfrm>
            <a:off x="3417341" y="1643177"/>
            <a:ext cx="2400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Pitch</a:t>
            </a:r>
            <a:endParaRPr lang="en-US" dirty="0"/>
          </a:p>
        </p:txBody>
      </p:sp>
      <p:sp>
        <p:nvSpPr>
          <p:cNvPr id="30" name="Text 25"/>
          <p:cNvSpPr txBox="1"/>
          <p:nvPr/>
        </p:nvSpPr>
        <p:spPr>
          <a:xfrm>
            <a:off x="3417341" y="1929156"/>
            <a:ext cx="24003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Injection</a:t>
            </a:r>
            <a:endParaRPr lang="en-US" sz="675" dirty="0"/>
          </a:p>
        </p:txBody>
      </p:sp>
      <p:sp>
        <p:nvSpPr>
          <p:cNvPr id="31" name="Shape 26"/>
          <p:cNvSpPr/>
          <p:nvPr/>
        </p:nvSpPr>
        <p:spPr>
          <a:xfrm>
            <a:off x="3417341" y="2200047"/>
            <a:ext cx="2314575" cy="1507388"/>
          </a:xfrm>
          <a:prstGeom prst="roundRect">
            <a:avLst>
              <a:gd name="adj" fmla="val 345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2" name="Shape 27"/>
          <p:cNvSpPr/>
          <p:nvPr/>
        </p:nvSpPr>
        <p:spPr>
          <a:xfrm>
            <a:off x="3424199" y="2207591"/>
            <a:ext cx="2300174" cy="1492987"/>
          </a:xfrm>
          <a:prstGeom prst="roundRect">
            <a:avLst>
              <a:gd name="adj" fmla="val 3517"/>
            </a:avLst>
          </a:prstGeom>
          <a:solidFill>
            <a:srgbClr val="2222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3" name="Shape 28"/>
          <p:cNvSpPr/>
          <p:nvPr/>
        </p:nvSpPr>
        <p:spPr>
          <a:xfrm>
            <a:off x="4357574" y="2739086"/>
            <a:ext cx="428625" cy="428625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4543425" y="2896134"/>
            <a:ext cx="85725" cy="114529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3566846" y="3406369"/>
            <a:ext cx="28804" cy="85725"/>
          </a:xfrm>
          <a:prstGeom prst="roundRect">
            <a:avLst>
              <a:gd name="adj" fmla="val 2380940"/>
            </a:avLst>
          </a:prstGeom>
          <a:solidFill>
            <a:srgbClr val="FF5E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l="-342" r="-342"/>
          <a:stretch/>
        </p:blipFill>
        <p:spPr>
          <a:xfrm>
            <a:off x="3616910" y="3374136"/>
            <a:ext cx="28804" cy="150191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3666973" y="3395395"/>
            <a:ext cx="28804" cy="106985"/>
          </a:xfrm>
          <a:prstGeom prst="roundRect">
            <a:avLst>
              <a:gd name="adj" fmla="val 2380940"/>
            </a:avLst>
          </a:prstGeom>
          <a:solidFill>
            <a:srgbClr val="FF5E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l="-445" r="-445"/>
          <a:stretch/>
        </p:blipFill>
        <p:spPr>
          <a:xfrm>
            <a:off x="3717036" y="3352876"/>
            <a:ext cx="28804" cy="192710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3767100" y="3385109"/>
            <a:ext cx="28804" cy="128930"/>
          </a:xfrm>
          <a:prstGeom prst="roundRect">
            <a:avLst>
              <a:gd name="adj" fmla="val 2380940"/>
            </a:avLst>
          </a:prstGeom>
          <a:solidFill>
            <a:srgbClr val="FF5E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0" name="Shape 32"/>
          <p:cNvSpPr/>
          <p:nvPr/>
        </p:nvSpPr>
        <p:spPr>
          <a:xfrm>
            <a:off x="3817163" y="3416656"/>
            <a:ext cx="28804" cy="64466"/>
          </a:xfrm>
          <a:prstGeom prst="roundRect">
            <a:avLst>
              <a:gd name="adj" fmla="val 2380940"/>
            </a:avLst>
          </a:prstGeom>
          <a:solidFill>
            <a:srgbClr val="FF5E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rcRect l="-400" r="-400"/>
          <a:stretch/>
        </p:blipFill>
        <p:spPr>
          <a:xfrm>
            <a:off x="3867227" y="3363164"/>
            <a:ext cx="28804" cy="171450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3917290" y="3406369"/>
            <a:ext cx="28804" cy="85725"/>
          </a:xfrm>
          <a:prstGeom prst="roundRect">
            <a:avLst>
              <a:gd name="adj" fmla="val 2380940"/>
            </a:avLst>
          </a:prstGeom>
          <a:solidFill>
            <a:srgbClr val="FF5E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3" name="Text 34"/>
          <p:cNvSpPr txBox="1"/>
          <p:nvPr/>
        </p:nvSpPr>
        <p:spPr>
          <a:xfrm>
            <a:off x="3495523" y="2278914"/>
            <a:ext cx="628879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 ● 00:59 </a:t>
            </a:r>
            <a:endParaRPr lang="en-US" sz="675" dirty="0"/>
          </a:p>
        </p:txBody>
      </p:sp>
      <p:sp>
        <p:nvSpPr>
          <p:cNvPr id="44" name="Text 35"/>
          <p:cNvSpPr txBox="1"/>
          <p:nvPr/>
        </p:nvSpPr>
        <p:spPr>
          <a:xfrm>
            <a:off x="3417341" y="3849396"/>
            <a:ext cx="2372183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 a 60s video explaining </a:t>
            </a:r>
            <a:r>
              <a:rPr lang="en-US" sz="750" i="1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</a:t>
            </a: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these blocks exist. Point to them. Use natural language. </a:t>
            </a:r>
            <a:endParaRPr lang="en-US" sz="75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rcRect l="-3" r="-3"/>
          <a:stretch/>
        </p:blipFill>
        <p:spPr>
          <a:xfrm>
            <a:off x="6048070" y="1442924"/>
            <a:ext cx="2667077" cy="2864587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8026604" y="1543050"/>
            <a:ext cx="6000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7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375" dirty="0"/>
          </a:p>
        </p:txBody>
      </p:sp>
      <p:sp>
        <p:nvSpPr>
          <p:cNvPr id="47" name="Text 37"/>
          <p:cNvSpPr txBox="1"/>
          <p:nvPr/>
        </p:nvSpPr>
        <p:spPr>
          <a:xfrm>
            <a:off x="6227064" y="1643177"/>
            <a:ext cx="2400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Plan</a:t>
            </a:r>
            <a:endParaRPr lang="en-US" dirty="0"/>
          </a:p>
        </p:txBody>
      </p:sp>
      <p:sp>
        <p:nvSpPr>
          <p:cNvPr id="48" name="Text 38"/>
          <p:cNvSpPr txBox="1"/>
          <p:nvPr/>
        </p:nvSpPr>
        <p:spPr>
          <a:xfrm>
            <a:off x="6227064" y="1929156"/>
            <a:ext cx="24003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Specs</a:t>
            </a:r>
            <a:endParaRPr lang="en-US" sz="675" dirty="0"/>
          </a:p>
        </p:txBody>
      </p:sp>
      <p:sp>
        <p:nvSpPr>
          <p:cNvPr id="49" name="Shape 39"/>
          <p:cNvSpPr/>
          <p:nvPr/>
        </p:nvSpPr>
        <p:spPr>
          <a:xfrm>
            <a:off x="6227064" y="2200047"/>
            <a:ext cx="2314575" cy="1507388"/>
          </a:xfrm>
          <a:prstGeom prst="roundRect">
            <a:avLst>
              <a:gd name="adj" fmla="val 3450"/>
            </a:avLst>
          </a:prstGeom>
          <a:solidFill>
            <a:srgbClr val="0A0A0A"/>
          </a:solidFill>
          <a:ln w="12700">
            <a:solidFill>
              <a:srgbClr val="00FF94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0" name="Shape 40"/>
          <p:cNvSpPr/>
          <p:nvPr/>
        </p:nvSpPr>
        <p:spPr>
          <a:xfrm>
            <a:off x="6233922" y="2207591"/>
            <a:ext cx="2300174" cy="1492987"/>
          </a:xfrm>
          <a:prstGeom prst="roundRect">
            <a:avLst>
              <a:gd name="adj" fmla="val 3517"/>
            </a:avLst>
          </a:prstGeom>
          <a:solidFill>
            <a:srgbClr val="0808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1" name="Text 41"/>
          <p:cNvSpPr txBox="1"/>
          <p:nvPr/>
        </p:nvSpPr>
        <p:spPr>
          <a:xfrm>
            <a:off x="6377254" y="2350237"/>
            <a:ext cx="578816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Assistant</a:t>
            </a:r>
            <a:endParaRPr lang="en-US" sz="600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11"/>
          <a:srcRect t="-870" b="-870"/>
          <a:stretch/>
        </p:blipFill>
        <p:spPr>
          <a:xfrm>
            <a:off x="8308467" y="2368067"/>
            <a:ext cx="78867" cy="71324"/>
          </a:xfrm>
          <a:prstGeom prst="rect">
            <a:avLst/>
          </a:prstGeom>
        </p:spPr>
      </p:pic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2">
            <a:alphaModFix amt="30000"/>
          </a:blip>
          <a:srcRect l="-192" r="-192"/>
          <a:stretch/>
        </p:blipFill>
        <p:spPr>
          <a:xfrm>
            <a:off x="6377255" y="2586152"/>
            <a:ext cx="1205636" cy="56921"/>
          </a:xfrm>
          <a:prstGeom prst="rect">
            <a:avLst/>
          </a:prstGeom>
        </p:spPr>
      </p:pic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3"/>
          <a:srcRect l="-192" r="-192"/>
          <a:stretch/>
        </p:blipFill>
        <p:spPr>
          <a:xfrm>
            <a:off x="6377254" y="2700681"/>
            <a:ext cx="1607516" cy="56921"/>
          </a:xfrm>
          <a:prstGeom prst="rect">
            <a:avLst/>
          </a:prstGeom>
        </p:spPr>
      </p:pic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14"/>
          <a:srcRect l="-192" r="-192"/>
          <a:stretch/>
        </p:blipFill>
        <p:spPr>
          <a:xfrm>
            <a:off x="6377255" y="2814524"/>
            <a:ext cx="803758" cy="56921"/>
          </a:xfrm>
          <a:prstGeom prst="rect">
            <a:avLst/>
          </a:prstGeom>
        </p:spPr>
      </p:pic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3"/>
          <a:srcRect l="-192" r="-192"/>
          <a:stretch/>
        </p:blipFill>
        <p:spPr>
          <a:xfrm>
            <a:off x="6377254" y="2929052"/>
            <a:ext cx="1607516" cy="56921"/>
          </a:xfrm>
          <a:prstGeom prst="rect">
            <a:avLst/>
          </a:prstGeom>
        </p:spPr>
      </p:pic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5">
            <a:alphaModFix amt="30000"/>
          </a:blip>
          <a:srcRect l="-194" r="-194"/>
          <a:stretch/>
        </p:blipFill>
        <p:spPr>
          <a:xfrm>
            <a:off x="6377255" y="3114904"/>
            <a:ext cx="1808455" cy="56921"/>
          </a:xfrm>
          <a:prstGeom prst="rect">
            <a:avLst/>
          </a:prstGeom>
        </p:spPr>
      </p:pic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3"/>
          <a:srcRect l="-192" r="-192"/>
          <a:stretch/>
        </p:blipFill>
        <p:spPr>
          <a:xfrm>
            <a:off x="6377254" y="3228747"/>
            <a:ext cx="1607516" cy="56921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6227064" y="3849396"/>
            <a:ext cx="2372183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watches the video, sees the photo, and writes the technical spec doc for you.</a:t>
            </a:r>
            <a:endParaRPr lang="en-US" sz="750" dirty="0"/>
          </a:p>
        </p:txBody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6"/>
          <a:srcRect l="-57" r="-57"/>
          <a:stretch/>
        </p:blipFill>
        <p:spPr>
          <a:xfrm>
            <a:off x="2926309" y="2607412"/>
            <a:ext cx="150191" cy="171450"/>
          </a:xfrm>
          <a:prstGeom prst="rect">
            <a:avLst/>
          </a:prstGeom>
        </p:spPr>
      </p:pic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16"/>
          <a:srcRect l="-57" r="-57"/>
          <a:stretch/>
        </p:blipFill>
        <p:spPr>
          <a:xfrm>
            <a:off x="5989091" y="2607412"/>
            <a:ext cx="150191" cy="17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05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" name="Shap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" name="Shape 2"/>
          <p:cNvSpPr/>
          <p:nvPr/>
        </p:nvSpPr>
        <p:spPr>
          <a:xfrm>
            <a:off x="428626" y="1057504"/>
            <a:ext cx="8286521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" name="Text 3"/>
          <p:cNvSpPr txBox="1"/>
          <p:nvPr/>
        </p:nvSpPr>
        <p:spPr>
          <a:xfrm>
            <a:off x="664540" y="285979"/>
            <a:ext cx="42718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8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ACTIVITY PHASE 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7485" r="-7485"/>
          <a:stretch/>
        </p:blipFill>
        <p:spPr>
          <a:xfrm>
            <a:off x="428625" y="314097"/>
            <a:ext cx="164592" cy="11452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28625" y="514350"/>
            <a:ext cx="5671566" cy="400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150" b="1" kern="0" spc="-63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Table Challenge 🧩</a:t>
            </a:r>
            <a:endParaRPr lang="en-US" sz="3150" dirty="0"/>
          </a:p>
        </p:txBody>
      </p:sp>
      <p:sp>
        <p:nvSpPr>
          <p:cNvPr id="8" name="Shape 5"/>
          <p:cNvSpPr/>
          <p:nvPr/>
        </p:nvSpPr>
        <p:spPr>
          <a:xfrm>
            <a:off x="7901102" y="593217"/>
            <a:ext cx="821588" cy="321641"/>
          </a:xfrm>
          <a:prstGeom prst="roundRect">
            <a:avLst>
              <a:gd name="adj" fmla="val 7581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Text 6"/>
          <p:cNvSpPr txBox="1"/>
          <p:nvPr/>
        </p:nvSpPr>
        <p:spPr>
          <a:xfrm>
            <a:off x="8208341" y="593217"/>
            <a:ext cx="557555" cy="32164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7150" rIns="114300" bIns="57150" rtlCol="0" anchor="ctr"/>
          <a:lstStyle/>
          <a:p>
            <a:r>
              <a:rPr lang="en-US" sz="975" b="1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10:00 </a:t>
            </a:r>
            <a:endParaRPr lang="en-US" sz="975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22489" y="689230"/>
            <a:ext cx="128930" cy="12893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8626" y="1279017"/>
            <a:ext cx="8286521" cy="714604"/>
          </a:xfrm>
          <a:prstGeom prst="roundRect">
            <a:avLst>
              <a:gd name="adj" fmla="val 23033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2" name="Shape 8"/>
          <p:cNvSpPr/>
          <p:nvPr/>
        </p:nvSpPr>
        <p:spPr>
          <a:xfrm>
            <a:off x="435483" y="1285875"/>
            <a:ext cx="714604" cy="700202"/>
          </a:xfrm>
          <a:prstGeom prst="rect">
            <a:avLst/>
          </a:prstGeom>
          <a:solidFill>
            <a:srgbClr val="7B61FF">
              <a:alpha val="10000"/>
            </a:srgbClr>
          </a:solidFill>
          <a:ln/>
        </p:spPr>
        <p:txBody>
          <a:bodyPr/>
          <a:lstStyle/>
          <a:p>
            <a:endParaRPr lang="en-US" sz="1013"/>
          </a:p>
        </p:txBody>
      </p:sp>
      <p:sp>
        <p:nvSpPr>
          <p:cNvPr id="13" name="Shape 9"/>
          <p:cNvSpPr/>
          <p:nvPr/>
        </p:nvSpPr>
        <p:spPr>
          <a:xfrm>
            <a:off x="1135684" y="1285875"/>
            <a:ext cx="14402" cy="70020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4" name="Text 10"/>
          <p:cNvSpPr txBox="1"/>
          <p:nvPr/>
        </p:nvSpPr>
        <p:spPr>
          <a:xfrm>
            <a:off x="414223" y="1285875"/>
            <a:ext cx="743408" cy="7002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700" b="1" dirty="0">
                <a:solidFill>
                  <a:srgbClr val="7B6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1"/>
          <p:cNvSpPr txBox="1"/>
          <p:nvPr/>
        </p:nvSpPr>
        <p:spPr>
          <a:xfrm>
            <a:off x="1364742" y="1407262"/>
            <a:ext cx="65013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 Assigned</a:t>
            </a:r>
            <a:endParaRPr lang="en-US" dirty="0"/>
          </a:p>
        </p:txBody>
      </p:sp>
      <p:sp>
        <p:nvSpPr>
          <p:cNvPr id="16" name="Text 12"/>
          <p:cNvSpPr txBox="1"/>
          <p:nvPr/>
        </p:nvSpPr>
        <p:spPr>
          <a:xfrm>
            <a:off x="1364742" y="1693241"/>
            <a:ext cx="65013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table receives </a:t>
            </a:r>
            <a:r>
              <a:rPr lang="en-US" sz="900" b="1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</a:t>
            </a: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specific problem card (A, B, C, or D).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65135" y="1521791"/>
            <a:ext cx="228371" cy="22837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28626" y="2107464"/>
            <a:ext cx="8286521" cy="714604"/>
          </a:xfrm>
          <a:prstGeom prst="roundRect">
            <a:avLst>
              <a:gd name="adj" fmla="val 23033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9" name="Shape 14"/>
          <p:cNvSpPr/>
          <p:nvPr/>
        </p:nvSpPr>
        <p:spPr>
          <a:xfrm>
            <a:off x="435483" y="2114321"/>
            <a:ext cx="714604" cy="700202"/>
          </a:xfrm>
          <a:prstGeom prst="rect">
            <a:avLst/>
          </a:prstGeom>
          <a:solidFill>
            <a:srgbClr val="FF5E5E">
              <a:alpha val="10000"/>
            </a:srgbClr>
          </a:solidFill>
          <a:ln/>
        </p:spPr>
        <p:txBody>
          <a:bodyPr/>
          <a:lstStyle/>
          <a:p>
            <a:endParaRPr lang="en-US" sz="1013"/>
          </a:p>
        </p:txBody>
      </p:sp>
      <p:sp>
        <p:nvSpPr>
          <p:cNvPr id="20" name="Shape 15"/>
          <p:cNvSpPr/>
          <p:nvPr/>
        </p:nvSpPr>
        <p:spPr>
          <a:xfrm>
            <a:off x="1135684" y="2114321"/>
            <a:ext cx="14402" cy="700202"/>
          </a:xfrm>
          <a:prstGeom prst="rect">
            <a:avLst/>
          </a:prstGeom>
          <a:solidFill>
            <a:srgbClr val="FF5E5E"/>
          </a:solidFill>
          <a:ln w="12700">
            <a:solidFill>
              <a:srgbClr val="FF5E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1" name="Text 16"/>
          <p:cNvSpPr txBox="1"/>
          <p:nvPr/>
        </p:nvSpPr>
        <p:spPr>
          <a:xfrm>
            <a:off x="414223" y="2114321"/>
            <a:ext cx="743408" cy="7002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700" b="1" dirty="0">
                <a:solidFill>
                  <a:srgbClr val="FF5E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700" dirty="0"/>
          </a:p>
        </p:txBody>
      </p:sp>
      <p:sp>
        <p:nvSpPr>
          <p:cNvPr id="22" name="Text 17"/>
          <p:cNvSpPr txBox="1"/>
          <p:nvPr/>
        </p:nvSpPr>
        <p:spPr>
          <a:xfrm>
            <a:off x="1364742" y="2235708"/>
            <a:ext cx="65013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Conceptually</a:t>
            </a:r>
            <a:endParaRPr lang="en-US" dirty="0"/>
          </a:p>
        </p:txBody>
      </p:sp>
      <p:sp>
        <p:nvSpPr>
          <p:cNvPr id="23" name="Text 18"/>
          <p:cNvSpPr txBox="1"/>
          <p:nvPr/>
        </p:nvSpPr>
        <p:spPr>
          <a:xfrm>
            <a:off x="1364742" y="2521687"/>
            <a:ext cx="65013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LEGO</a:t>
            </a: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model the data flow and key components. No UI screens!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8179537" y="2350237"/>
            <a:ext cx="200254" cy="228371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28626" y="2935910"/>
            <a:ext cx="8286521" cy="714604"/>
          </a:xfrm>
          <a:prstGeom prst="roundRect">
            <a:avLst>
              <a:gd name="adj" fmla="val 23033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6" name="Shape 20"/>
          <p:cNvSpPr/>
          <p:nvPr/>
        </p:nvSpPr>
        <p:spPr>
          <a:xfrm>
            <a:off x="435483" y="2943454"/>
            <a:ext cx="714604" cy="700202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  <p:txBody>
          <a:bodyPr/>
          <a:lstStyle/>
          <a:p>
            <a:endParaRPr lang="en-US" sz="1013"/>
          </a:p>
        </p:txBody>
      </p:sp>
      <p:sp>
        <p:nvSpPr>
          <p:cNvPr id="27" name="Shape 21"/>
          <p:cNvSpPr/>
          <p:nvPr/>
        </p:nvSpPr>
        <p:spPr>
          <a:xfrm>
            <a:off x="1135684" y="2943454"/>
            <a:ext cx="14402" cy="70020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8" name="Text 22"/>
          <p:cNvSpPr txBox="1"/>
          <p:nvPr/>
        </p:nvSpPr>
        <p:spPr>
          <a:xfrm>
            <a:off x="414223" y="2943454"/>
            <a:ext cx="743408" cy="7002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700" b="1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700" dirty="0"/>
          </a:p>
        </p:txBody>
      </p:sp>
      <p:sp>
        <p:nvSpPr>
          <p:cNvPr id="29" name="Text 23"/>
          <p:cNvSpPr txBox="1"/>
          <p:nvPr/>
        </p:nvSpPr>
        <p:spPr>
          <a:xfrm>
            <a:off x="1364742" y="3064841"/>
            <a:ext cx="65013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Record Video</a:t>
            </a:r>
            <a:endParaRPr lang="en-US" dirty="0"/>
          </a:p>
        </p:txBody>
      </p:sp>
      <p:sp>
        <p:nvSpPr>
          <p:cNvPr id="30" name="Text 24"/>
          <p:cNvSpPr txBox="1"/>
          <p:nvPr/>
        </p:nvSpPr>
        <p:spPr>
          <a:xfrm>
            <a:off x="1364742" y="3350133"/>
            <a:ext cx="65013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Film a </a:t>
            </a: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60-second</a:t>
            </a:r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explanation of your physical model.</a:t>
            </a:r>
            <a:endParaRPr lang="en-US" sz="9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8150733" y="3178684"/>
            <a:ext cx="257175" cy="228371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28626" y="3765042"/>
            <a:ext cx="8286521" cy="714604"/>
          </a:xfrm>
          <a:prstGeom prst="roundRect">
            <a:avLst>
              <a:gd name="adj" fmla="val 23033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3" name="Shape 26"/>
          <p:cNvSpPr/>
          <p:nvPr/>
        </p:nvSpPr>
        <p:spPr>
          <a:xfrm>
            <a:off x="435483" y="3771900"/>
            <a:ext cx="714604" cy="700202"/>
          </a:xfrm>
          <a:prstGeom prst="rect">
            <a:avLst/>
          </a:prstGeom>
          <a:solidFill>
            <a:srgbClr val="00FF94">
              <a:alpha val="10000"/>
            </a:srgbClr>
          </a:solidFill>
          <a:ln/>
        </p:spPr>
        <p:txBody>
          <a:bodyPr/>
          <a:lstStyle/>
          <a:p>
            <a:endParaRPr lang="en-US" sz="1013"/>
          </a:p>
        </p:txBody>
      </p:sp>
      <p:sp>
        <p:nvSpPr>
          <p:cNvPr id="34" name="Shape 27"/>
          <p:cNvSpPr/>
          <p:nvPr/>
        </p:nvSpPr>
        <p:spPr>
          <a:xfrm>
            <a:off x="1135684" y="3771900"/>
            <a:ext cx="14402" cy="70020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5" name="Text 28"/>
          <p:cNvSpPr txBox="1"/>
          <p:nvPr/>
        </p:nvSpPr>
        <p:spPr>
          <a:xfrm>
            <a:off x="414223" y="3771900"/>
            <a:ext cx="743408" cy="7002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700" b="1" dirty="0">
                <a:solidFill>
                  <a:srgbClr val="00FF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700" dirty="0"/>
          </a:p>
        </p:txBody>
      </p:sp>
      <p:sp>
        <p:nvSpPr>
          <p:cNvPr id="36" name="Text 29"/>
          <p:cNvSpPr txBox="1"/>
          <p:nvPr/>
        </p:nvSpPr>
        <p:spPr>
          <a:xfrm>
            <a:off x="1364742" y="3893287"/>
            <a:ext cx="65013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Explain to AI</a:t>
            </a:r>
            <a:endParaRPr lang="en-US" dirty="0"/>
          </a:p>
        </p:txBody>
      </p:sp>
      <p:sp>
        <p:nvSpPr>
          <p:cNvPr id="37" name="Text 30"/>
          <p:cNvSpPr txBox="1"/>
          <p:nvPr/>
        </p:nvSpPr>
        <p:spPr>
          <a:xfrm>
            <a:off x="1364742" y="4179266"/>
            <a:ext cx="65013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Narrate as if you are talking to a junior developer (or an AI teammate).</a:t>
            </a:r>
            <a:endParaRPr lang="en-US" sz="9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8137017" y="4007816"/>
            <a:ext cx="285979" cy="228371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>
            <a:alphaModFix amt="60000"/>
          </a:blip>
          <a:srcRect/>
          <a:stretch/>
        </p:blipFill>
        <p:spPr>
          <a:xfrm>
            <a:off x="428625" y="4725848"/>
            <a:ext cx="114529" cy="114529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28879" y="4708017"/>
            <a:ext cx="3929634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66666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Facilitators are circulating to help with "Vibe Coding" framing.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2569972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" name="Shap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643281" y="357302"/>
            <a:ext cx="7857896" cy="4428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0139" y="364160"/>
            <a:ext cx="7844180" cy="342900"/>
          </a:xfrm>
          <a:prstGeom prst="roundRect">
            <a:avLst>
              <a:gd name="adj" fmla="val 100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en-US" sz="1013"/>
          </a:p>
        </p:txBody>
      </p:sp>
      <p:sp>
        <p:nvSpPr>
          <p:cNvPr id="6" name="Shape 3"/>
          <p:cNvSpPr/>
          <p:nvPr/>
        </p:nvSpPr>
        <p:spPr>
          <a:xfrm>
            <a:off x="650139" y="700202"/>
            <a:ext cx="7844180" cy="6858"/>
          </a:xfrm>
          <a:prstGeom prst="roundRect">
            <a:avLst>
              <a:gd name="adj" fmla="val 5000000"/>
            </a:avLst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7" name="Shape 4"/>
          <p:cNvSpPr/>
          <p:nvPr/>
        </p:nvSpPr>
        <p:spPr>
          <a:xfrm>
            <a:off x="792785" y="489662"/>
            <a:ext cx="85725" cy="85725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8" name="Shape 5"/>
          <p:cNvSpPr/>
          <p:nvPr/>
        </p:nvSpPr>
        <p:spPr>
          <a:xfrm>
            <a:off x="936117" y="489662"/>
            <a:ext cx="85725" cy="85725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Shape 6"/>
          <p:cNvSpPr/>
          <p:nvPr/>
        </p:nvSpPr>
        <p:spPr>
          <a:xfrm>
            <a:off x="1078763" y="489662"/>
            <a:ext cx="85725" cy="85725"/>
          </a:xfrm>
          <a:prstGeom prst="ellipse">
            <a:avLst/>
          </a:prstGeom>
          <a:solidFill>
            <a:srgbClr val="27C9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0" name="Shape 7"/>
          <p:cNvSpPr/>
          <p:nvPr/>
        </p:nvSpPr>
        <p:spPr>
          <a:xfrm>
            <a:off x="3792474" y="457429"/>
            <a:ext cx="1578712" cy="164592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 sz="1013"/>
          </a:p>
        </p:txBody>
      </p:sp>
      <p:sp>
        <p:nvSpPr>
          <p:cNvPr id="11" name="Shape 8"/>
          <p:cNvSpPr/>
          <p:nvPr/>
        </p:nvSpPr>
        <p:spPr>
          <a:xfrm>
            <a:off x="3792474" y="457429"/>
            <a:ext cx="1578712" cy="1440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3963924" y="496519"/>
            <a:ext cx="78867" cy="10012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14115" y="457429"/>
            <a:ext cx="11432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prompt_rules_v1.md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650138" y="707060"/>
            <a:ext cx="428625" cy="4072280"/>
          </a:xfrm>
          <a:prstGeom prst="roundRect">
            <a:avLst>
              <a:gd name="adj" fmla="val 64000"/>
            </a:avLst>
          </a:prstGeom>
          <a:solidFill>
            <a:srgbClr val="0F0F0F"/>
          </a:solidFill>
          <a:ln/>
        </p:spPr>
        <p:txBody>
          <a:bodyPr/>
          <a:lstStyle/>
          <a:p>
            <a:endParaRPr lang="en-US" sz="1013"/>
          </a:p>
        </p:txBody>
      </p:sp>
      <p:sp>
        <p:nvSpPr>
          <p:cNvPr id="15" name="Shape 11"/>
          <p:cNvSpPr/>
          <p:nvPr/>
        </p:nvSpPr>
        <p:spPr>
          <a:xfrm>
            <a:off x="1071905" y="707060"/>
            <a:ext cx="6858" cy="4072280"/>
          </a:xfrm>
          <a:prstGeom prst="roundRect">
            <a:avLst>
              <a:gd name="adj" fmla="val 4000000"/>
            </a:avLst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6" name="Text 12"/>
          <p:cNvSpPr txBox="1"/>
          <p:nvPr/>
        </p:nvSpPr>
        <p:spPr>
          <a:xfrm>
            <a:off x="897027" y="993039"/>
            <a:ext cx="122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7027" y="1193292"/>
            <a:ext cx="122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897027" y="1392860"/>
            <a:ext cx="122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5"/>
          <p:cNvSpPr txBox="1"/>
          <p:nvPr/>
        </p:nvSpPr>
        <p:spPr>
          <a:xfrm>
            <a:off x="897027" y="1593114"/>
            <a:ext cx="122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897027" y="1793367"/>
            <a:ext cx="122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50" dirty="0"/>
          </a:p>
        </p:txBody>
      </p:sp>
      <p:sp>
        <p:nvSpPr>
          <p:cNvPr id="21" name="Text 17"/>
          <p:cNvSpPr txBox="1"/>
          <p:nvPr/>
        </p:nvSpPr>
        <p:spPr>
          <a:xfrm>
            <a:off x="897027" y="1992935"/>
            <a:ext cx="122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50" dirty="0"/>
          </a:p>
        </p:txBody>
      </p:sp>
      <p:sp>
        <p:nvSpPr>
          <p:cNvPr id="22" name="Text 18"/>
          <p:cNvSpPr txBox="1"/>
          <p:nvPr/>
        </p:nvSpPr>
        <p:spPr>
          <a:xfrm>
            <a:off x="897027" y="2193189"/>
            <a:ext cx="122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50" dirty="0"/>
          </a:p>
        </p:txBody>
      </p:sp>
      <p:sp>
        <p:nvSpPr>
          <p:cNvPr id="23" name="Text 19"/>
          <p:cNvSpPr txBox="1"/>
          <p:nvPr/>
        </p:nvSpPr>
        <p:spPr>
          <a:xfrm>
            <a:off x="897027" y="2393442"/>
            <a:ext cx="122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750" dirty="0"/>
          </a:p>
        </p:txBody>
      </p:sp>
      <p:sp>
        <p:nvSpPr>
          <p:cNvPr id="24" name="Text 20"/>
          <p:cNvSpPr txBox="1"/>
          <p:nvPr/>
        </p:nvSpPr>
        <p:spPr>
          <a:xfrm>
            <a:off x="897027" y="2593010"/>
            <a:ext cx="122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750" dirty="0"/>
          </a:p>
        </p:txBody>
      </p:sp>
      <p:sp>
        <p:nvSpPr>
          <p:cNvPr id="25" name="Text 21"/>
          <p:cNvSpPr txBox="1"/>
          <p:nvPr/>
        </p:nvSpPr>
        <p:spPr>
          <a:xfrm>
            <a:off x="837361" y="2793264"/>
            <a:ext cx="1789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50" dirty="0"/>
          </a:p>
        </p:txBody>
      </p:sp>
      <p:sp>
        <p:nvSpPr>
          <p:cNvPr id="26" name="Text 22"/>
          <p:cNvSpPr txBox="1"/>
          <p:nvPr/>
        </p:nvSpPr>
        <p:spPr>
          <a:xfrm>
            <a:off x="837361" y="2993517"/>
            <a:ext cx="1789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50" dirty="0"/>
          </a:p>
        </p:txBody>
      </p:sp>
      <p:sp>
        <p:nvSpPr>
          <p:cNvPr id="27" name="Text 23"/>
          <p:cNvSpPr txBox="1"/>
          <p:nvPr/>
        </p:nvSpPr>
        <p:spPr>
          <a:xfrm>
            <a:off x="837361" y="3193085"/>
            <a:ext cx="1789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50" dirty="0"/>
          </a:p>
        </p:txBody>
      </p:sp>
      <p:sp>
        <p:nvSpPr>
          <p:cNvPr id="28" name="Text 24"/>
          <p:cNvSpPr txBox="1"/>
          <p:nvPr/>
        </p:nvSpPr>
        <p:spPr>
          <a:xfrm>
            <a:off x="837361" y="3393339"/>
            <a:ext cx="1789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50" dirty="0"/>
          </a:p>
        </p:txBody>
      </p:sp>
      <p:sp>
        <p:nvSpPr>
          <p:cNvPr id="29" name="Text 25"/>
          <p:cNvSpPr txBox="1"/>
          <p:nvPr/>
        </p:nvSpPr>
        <p:spPr>
          <a:xfrm>
            <a:off x="837361" y="3593592"/>
            <a:ext cx="1789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750" dirty="0"/>
          </a:p>
        </p:txBody>
      </p:sp>
      <p:sp>
        <p:nvSpPr>
          <p:cNvPr id="30" name="Text 26"/>
          <p:cNvSpPr txBox="1"/>
          <p:nvPr/>
        </p:nvSpPr>
        <p:spPr>
          <a:xfrm>
            <a:off x="837361" y="3793160"/>
            <a:ext cx="1789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750" dirty="0"/>
          </a:p>
        </p:txBody>
      </p:sp>
      <p:sp>
        <p:nvSpPr>
          <p:cNvPr id="31" name="Text 27"/>
          <p:cNvSpPr txBox="1"/>
          <p:nvPr/>
        </p:nvSpPr>
        <p:spPr>
          <a:xfrm>
            <a:off x="1364743" y="993038"/>
            <a:ext cx="372252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REQUIRED_CONTEXT</a:t>
            </a:r>
            <a:endParaRPr lang="en-US" dirty="0"/>
          </a:p>
        </p:txBody>
      </p:sp>
      <p:sp>
        <p:nvSpPr>
          <p:cNvPr id="32" name="Text 28"/>
          <p:cNvSpPr txBox="1"/>
          <p:nvPr/>
        </p:nvSpPr>
        <p:spPr>
          <a:xfrm>
            <a:off x="1364743" y="1321537"/>
            <a:ext cx="37225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Answer these in your video. Order doesn't matter.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1364743" y="1707643"/>
            <a:ext cx="293522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975" dirty="0"/>
          </a:p>
        </p:txBody>
      </p:sp>
      <p:sp>
        <p:nvSpPr>
          <p:cNvPr id="34" name="Text 30"/>
          <p:cNvSpPr txBox="1"/>
          <p:nvPr/>
        </p:nvSpPr>
        <p:spPr>
          <a:xfrm>
            <a:off x="1681582" y="1707643"/>
            <a:ext cx="2328977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</a:t>
            </a:r>
            <a:r>
              <a:rPr lang="en-US" sz="975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does this solve?</a:t>
            </a:r>
            <a:endParaRPr lang="en-US" sz="975" dirty="0"/>
          </a:p>
        </p:txBody>
      </p:sp>
      <p:sp>
        <p:nvSpPr>
          <p:cNvPr id="35" name="Text 31"/>
          <p:cNvSpPr txBox="1"/>
          <p:nvPr/>
        </p:nvSpPr>
        <p:spPr>
          <a:xfrm>
            <a:off x="2067687" y="1721358"/>
            <a:ext cx="600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975" dirty="0"/>
          </a:p>
        </p:txBody>
      </p:sp>
      <p:sp>
        <p:nvSpPr>
          <p:cNvPr id="36" name="Text 32"/>
          <p:cNvSpPr txBox="1"/>
          <p:nvPr/>
        </p:nvSpPr>
        <p:spPr>
          <a:xfrm>
            <a:off x="1364743" y="2027225"/>
            <a:ext cx="293522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975" dirty="0"/>
          </a:p>
        </p:txBody>
      </p:sp>
      <p:sp>
        <p:nvSpPr>
          <p:cNvPr id="37" name="Text 33"/>
          <p:cNvSpPr txBox="1"/>
          <p:nvPr/>
        </p:nvSpPr>
        <p:spPr>
          <a:xfrm>
            <a:off x="1681582" y="2027225"/>
            <a:ext cx="1317422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is the </a:t>
            </a:r>
            <a:r>
              <a:rPr lang="en-US" sz="975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975" dirty="0"/>
          </a:p>
        </p:txBody>
      </p:sp>
      <p:sp>
        <p:nvSpPr>
          <p:cNvPr id="38" name="Text 34"/>
          <p:cNvSpPr txBox="1"/>
          <p:nvPr/>
        </p:nvSpPr>
        <p:spPr>
          <a:xfrm>
            <a:off x="2530602" y="2041627"/>
            <a:ext cx="371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975" dirty="0"/>
          </a:p>
        </p:txBody>
      </p:sp>
      <p:sp>
        <p:nvSpPr>
          <p:cNvPr id="39" name="Text 35"/>
          <p:cNvSpPr txBox="1"/>
          <p:nvPr/>
        </p:nvSpPr>
        <p:spPr>
          <a:xfrm>
            <a:off x="1364743" y="2347494"/>
            <a:ext cx="293522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975" dirty="0"/>
          </a:p>
        </p:txBody>
      </p:sp>
      <p:sp>
        <p:nvSpPr>
          <p:cNvPr id="40" name="Text 36"/>
          <p:cNvSpPr txBox="1"/>
          <p:nvPr/>
        </p:nvSpPr>
        <p:spPr>
          <a:xfrm>
            <a:off x="1681582" y="2347494"/>
            <a:ext cx="2250796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are the </a:t>
            </a:r>
            <a:r>
              <a:rPr lang="en-US" sz="975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components</a:t>
            </a:r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975" dirty="0"/>
          </a:p>
        </p:txBody>
      </p:sp>
      <p:sp>
        <p:nvSpPr>
          <p:cNvPr id="41" name="Text 37"/>
          <p:cNvSpPr txBox="1"/>
          <p:nvPr/>
        </p:nvSpPr>
        <p:spPr>
          <a:xfrm>
            <a:off x="2684907" y="2361896"/>
            <a:ext cx="11432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components</a:t>
            </a:r>
            <a:endParaRPr lang="en-US" sz="975" dirty="0"/>
          </a:p>
        </p:txBody>
      </p:sp>
      <p:sp>
        <p:nvSpPr>
          <p:cNvPr id="42" name="Text 38"/>
          <p:cNvSpPr txBox="1"/>
          <p:nvPr/>
        </p:nvSpPr>
        <p:spPr>
          <a:xfrm>
            <a:off x="1364743" y="2667077"/>
            <a:ext cx="293522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975" dirty="0"/>
          </a:p>
        </p:txBody>
      </p:sp>
      <p:sp>
        <p:nvSpPr>
          <p:cNvPr id="43" name="Text 39"/>
          <p:cNvSpPr txBox="1"/>
          <p:nvPr/>
        </p:nvSpPr>
        <p:spPr>
          <a:xfrm>
            <a:off x="1681582" y="2667077"/>
            <a:ext cx="1706270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do they </a:t>
            </a:r>
            <a:r>
              <a:rPr lang="en-US" sz="975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</a:t>
            </a:r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975" dirty="0"/>
          </a:p>
        </p:txBody>
      </p:sp>
      <p:sp>
        <p:nvSpPr>
          <p:cNvPr id="44" name="Text 40"/>
          <p:cNvSpPr txBox="1"/>
          <p:nvPr/>
        </p:nvSpPr>
        <p:spPr>
          <a:xfrm>
            <a:off x="2607412" y="2681478"/>
            <a:ext cx="678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</a:t>
            </a:r>
            <a:endParaRPr lang="en-US" sz="975" dirty="0"/>
          </a:p>
        </p:txBody>
      </p:sp>
      <p:sp>
        <p:nvSpPr>
          <p:cNvPr id="45" name="Text 41"/>
          <p:cNvSpPr txBox="1"/>
          <p:nvPr/>
        </p:nvSpPr>
        <p:spPr>
          <a:xfrm>
            <a:off x="1364743" y="2987345"/>
            <a:ext cx="293522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975" dirty="0"/>
          </a:p>
        </p:txBody>
      </p:sp>
      <p:sp>
        <p:nvSpPr>
          <p:cNvPr id="46" name="Text 42"/>
          <p:cNvSpPr txBox="1"/>
          <p:nvPr/>
        </p:nvSpPr>
        <p:spPr>
          <a:xfrm>
            <a:off x="1681582" y="2987345"/>
            <a:ext cx="1931899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</a:t>
            </a:r>
            <a:r>
              <a:rPr lang="en-US" sz="975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flows through?</a:t>
            </a:r>
            <a:endParaRPr lang="en-US" sz="975" dirty="0"/>
          </a:p>
        </p:txBody>
      </p:sp>
      <p:sp>
        <p:nvSpPr>
          <p:cNvPr id="47" name="Text 43"/>
          <p:cNvSpPr txBox="1"/>
          <p:nvPr/>
        </p:nvSpPr>
        <p:spPr>
          <a:xfrm>
            <a:off x="2067687" y="3001747"/>
            <a:ext cx="371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975" dirty="0"/>
          </a:p>
        </p:txBody>
      </p:sp>
      <p:sp>
        <p:nvSpPr>
          <p:cNvPr id="48" name="Text 44"/>
          <p:cNvSpPr txBox="1"/>
          <p:nvPr/>
        </p:nvSpPr>
        <p:spPr>
          <a:xfrm>
            <a:off x="1364743" y="3307614"/>
            <a:ext cx="293522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975" dirty="0"/>
          </a:p>
        </p:txBody>
      </p:sp>
      <p:sp>
        <p:nvSpPr>
          <p:cNvPr id="49" name="Text 45"/>
          <p:cNvSpPr txBox="1"/>
          <p:nvPr/>
        </p:nvSpPr>
        <p:spPr>
          <a:xfrm>
            <a:off x="1681582" y="3307614"/>
            <a:ext cx="2479167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</a:t>
            </a:r>
            <a:r>
              <a:rPr lang="en-US" sz="975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</a:t>
            </a:r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 assumptions?</a:t>
            </a:r>
            <a:endParaRPr lang="en-US" sz="975" dirty="0"/>
          </a:p>
        </p:txBody>
      </p:sp>
      <p:sp>
        <p:nvSpPr>
          <p:cNvPr id="50" name="Text 46"/>
          <p:cNvSpPr txBox="1"/>
          <p:nvPr/>
        </p:nvSpPr>
        <p:spPr>
          <a:xfrm>
            <a:off x="1990192" y="3322016"/>
            <a:ext cx="907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</a:t>
            </a:r>
            <a:endParaRPr lang="en-US" sz="975" dirty="0"/>
          </a:p>
        </p:txBody>
      </p:sp>
      <p:sp>
        <p:nvSpPr>
          <p:cNvPr id="51" name="Text 47"/>
          <p:cNvSpPr txBox="1"/>
          <p:nvPr/>
        </p:nvSpPr>
        <p:spPr>
          <a:xfrm>
            <a:off x="1364743" y="3627197"/>
            <a:ext cx="293522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975" dirty="0"/>
          </a:p>
        </p:txBody>
      </p:sp>
      <p:sp>
        <p:nvSpPr>
          <p:cNvPr id="52" name="Text 48"/>
          <p:cNvSpPr txBox="1"/>
          <p:nvPr/>
        </p:nvSpPr>
        <p:spPr>
          <a:xfrm>
            <a:off x="1681582" y="3627197"/>
            <a:ext cx="2407844" cy="207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does </a:t>
            </a:r>
            <a:r>
              <a:rPr lang="en-US" sz="975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"success"</a:t>
            </a:r>
            <a:r>
              <a:rPr lang="en-US" sz="975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look like?</a:t>
            </a:r>
            <a:endParaRPr lang="en-US" sz="975" dirty="0"/>
          </a:p>
        </p:txBody>
      </p:sp>
      <p:sp>
        <p:nvSpPr>
          <p:cNvPr id="53" name="Text 49"/>
          <p:cNvSpPr txBox="1"/>
          <p:nvPr/>
        </p:nvSpPr>
        <p:spPr>
          <a:xfrm>
            <a:off x="2453107" y="3641598"/>
            <a:ext cx="7578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"success"</a:t>
            </a:r>
            <a:endParaRPr lang="en-US" sz="975" dirty="0"/>
          </a:p>
        </p:txBody>
      </p:sp>
      <p:sp>
        <p:nvSpPr>
          <p:cNvPr id="54" name="Shape 50"/>
          <p:cNvSpPr/>
          <p:nvPr/>
        </p:nvSpPr>
        <p:spPr>
          <a:xfrm>
            <a:off x="5428108" y="993038"/>
            <a:ext cx="2786405" cy="3164967"/>
          </a:xfrm>
          <a:prstGeom prst="roundRect">
            <a:avLst>
              <a:gd name="adj" fmla="val 1010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5" name="Text 51"/>
          <p:cNvSpPr txBox="1"/>
          <p:nvPr/>
        </p:nvSpPr>
        <p:spPr>
          <a:xfrm>
            <a:off x="5606415" y="1171347"/>
            <a:ext cx="2514829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CONFIG = {</a:t>
            </a:r>
            <a:endParaRPr lang="en-US" sz="975" dirty="0"/>
          </a:p>
        </p:txBody>
      </p:sp>
      <p:sp>
        <p:nvSpPr>
          <p:cNvPr id="56" name="Shape 52"/>
          <p:cNvSpPr/>
          <p:nvPr/>
        </p:nvSpPr>
        <p:spPr>
          <a:xfrm>
            <a:off x="5677739" y="1829029"/>
            <a:ext cx="2357780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7" name="Text 53"/>
          <p:cNvSpPr txBox="1"/>
          <p:nvPr/>
        </p:nvSpPr>
        <p:spPr>
          <a:xfrm>
            <a:off x="5677739" y="1593113"/>
            <a:ext cx="843534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max_duration:</a:t>
            </a:r>
            <a:endParaRPr lang="en-US" sz="750" dirty="0"/>
          </a:p>
        </p:txBody>
      </p:sp>
      <p:sp>
        <p:nvSpPr>
          <p:cNvPr id="58" name="Text 54"/>
          <p:cNvSpPr txBox="1"/>
          <p:nvPr/>
        </p:nvSpPr>
        <p:spPr>
          <a:xfrm>
            <a:off x="7729652" y="1593113"/>
            <a:ext cx="364846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"60s"</a:t>
            </a:r>
            <a:endParaRPr lang="en-US" sz="750" dirty="0"/>
          </a:p>
        </p:txBody>
      </p:sp>
      <p:sp>
        <p:nvSpPr>
          <p:cNvPr id="59" name="Shape 55"/>
          <p:cNvSpPr/>
          <p:nvPr/>
        </p:nvSpPr>
        <p:spPr>
          <a:xfrm>
            <a:off x="5677739" y="2157527"/>
            <a:ext cx="2357780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0" name="Text 56"/>
          <p:cNvSpPr txBox="1"/>
          <p:nvPr/>
        </p:nvSpPr>
        <p:spPr>
          <a:xfrm>
            <a:off x="5677739" y="1921612"/>
            <a:ext cx="900455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voice_clarity:</a:t>
            </a:r>
            <a:endParaRPr lang="en-US" sz="750" dirty="0"/>
          </a:p>
        </p:txBody>
      </p:sp>
      <p:sp>
        <p:nvSpPr>
          <p:cNvPr id="61" name="Text 57"/>
          <p:cNvSpPr txBox="1"/>
          <p:nvPr/>
        </p:nvSpPr>
        <p:spPr>
          <a:xfrm>
            <a:off x="7669301" y="1921612"/>
            <a:ext cx="421767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"HIGH"</a:t>
            </a:r>
            <a:endParaRPr lang="en-US" sz="750" dirty="0"/>
          </a:p>
        </p:txBody>
      </p:sp>
      <p:sp>
        <p:nvSpPr>
          <p:cNvPr id="62" name="Shape 58"/>
          <p:cNvSpPr/>
          <p:nvPr/>
        </p:nvSpPr>
        <p:spPr>
          <a:xfrm>
            <a:off x="5677739" y="2486025"/>
            <a:ext cx="2357780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3" name="Text 59"/>
          <p:cNvSpPr txBox="1"/>
          <p:nvPr/>
        </p:nvSpPr>
        <p:spPr>
          <a:xfrm>
            <a:off x="5677739" y="2250109"/>
            <a:ext cx="843534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visual_style:</a:t>
            </a:r>
            <a:endParaRPr lang="en-US" sz="750" dirty="0"/>
          </a:p>
        </p:txBody>
      </p:sp>
      <p:sp>
        <p:nvSpPr>
          <p:cNvPr id="64" name="Text 60"/>
          <p:cNvSpPr txBox="1"/>
          <p:nvPr/>
        </p:nvSpPr>
        <p:spPr>
          <a:xfrm>
            <a:off x="7309256" y="2250109"/>
            <a:ext cx="779069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"CONCEPTUAL"</a:t>
            </a:r>
            <a:endParaRPr lang="en-US" sz="750" dirty="0"/>
          </a:p>
        </p:txBody>
      </p:sp>
      <p:sp>
        <p:nvSpPr>
          <p:cNvPr id="65" name="Shape 61"/>
          <p:cNvSpPr/>
          <p:nvPr/>
        </p:nvSpPr>
        <p:spPr>
          <a:xfrm>
            <a:off x="5677739" y="2814524"/>
            <a:ext cx="2357780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6" name="Text 62"/>
          <p:cNvSpPr txBox="1"/>
          <p:nvPr/>
        </p:nvSpPr>
        <p:spPr>
          <a:xfrm>
            <a:off x="5677739" y="2578608"/>
            <a:ext cx="543154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ui_talk:</a:t>
            </a:r>
            <a:endParaRPr lang="en-US" sz="750" dirty="0"/>
          </a:p>
        </p:txBody>
      </p:sp>
      <p:sp>
        <p:nvSpPr>
          <p:cNvPr id="67" name="Text 63"/>
          <p:cNvSpPr txBox="1"/>
          <p:nvPr/>
        </p:nvSpPr>
        <p:spPr>
          <a:xfrm>
            <a:off x="7729652" y="2578608"/>
            <a:ext cx="364846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750" dirty="0"/>
          </a:p>
        </p:txBody>
      </p:sp>
      <p:sp>
        <p:nvSpPr>
          <p:cNvPr id="68" name="Text 64"/>
          <p:cNvSpPr txBox="1"/>
          <p:nvPr/>
        </p:nvSpPr>
        <p:spPr>
          <a:xfrm>
            <a:off x="5677739" y="2907792"/>
            <a:ext cx="1078763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pointing_at_lego:</a:t>
            </a:r>
            <a:endParaRPr lang="en-US" sz="750" dirty="0"/>
          </a:p>
        </p:txBody>
      </p:sp>
      <p:sp>
        <p:nvSpPr>
          <p:cNvPr id="69" name="Text 65"/>
          <p:cNvSpPr txBox="1"/>
          <p:nvPr/>
        </p:nvSpPr>
        <p:spPr>
          <a:xfrm>
            <a:off x="7789317" y="2907792"/>
            <a:ext cx="300380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750" dirty="0"/>
          </a:p>
        </p:txBody>
      </p:sp>
      <p:sp>
        <p:nvSpPr>
          <p:cNvPr id="70" name="Text 66"/>
          <p:cNvSpPr txBox="1"/>
          <p:nvPr/>
        </p:nvSpPr>
        <p:spPr>
          <a:xfrm>
            <a:off x="5606415" y="3215031"/>
            <a:ext cx="2514829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75" dirty="0"/>
          </a:p>
        </p:txBody>
      </p:sp>
      <p:sp>
        <p:nvSpPr>
          <p:cNvPr id="71" name="Shape 67"/>
          <p:cNvSpPr/>
          <p:nvPr/>
        </p:nvSpPr>
        <p:spPr>
          <a:xfrm>
            <a:off x="5606415" y="3621710"/>
            <a:ext cx="2429104" cy="685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72" name="Text 68"/>
          <p:cNvSpPr txBox="1"/>
          <p:nvPr/>
        </p:nvSpPr>
        <p:spPr>
          <a:xfrm>
            <a:off x="5755234" y="3700577"/>
            <a:ext cx="2337206" cy="279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Warning: Do not describe colors of buttons. Describe the intent of the block. </a:t>
            </a:r>
            <a:endParaRPr lang="en-US" sz="675" dirty="0"/>
          </a:p>
        </p:txBody>
      </p:sp>
      <p:pic>
        <p:nvPicPr>
          <p:cNvPr id="7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06415" y="3719093"/>
            <a:ext cx="92583" cy="92583"/>
          </a:xfrm>
          <a:prstGeom prst="rect">
            <a:avLst/>
          </a:prstGeom>
        </p:spPr>
      </p:pic>
      <p:pic>
        <p:nvPicPr>
          <p:cNvPr id="74" name="Image 3" descr="preencoded.png"/>
          <p:cNvPicPr>
            <a:picLocks noChangeAspect="1"/>
          </p:cNvPicPr>
          <p:nvPr/>
        </p:nvPicPr>
        <p:blipFill>
          <a:blip r:embed="rId6"/>
          <a:srcRect t="-84" b="-84"/>
          <a:stretch/>
        </p:blipFill>
        <p:spPr>
          <a:xfrm>
            <a:off x="8422309" y="707060"/>
            <a:ext cx="71324" cy="4072280"/>
          </a:xfrm>
          <a:prstGeom prst="rect">
            <a:avLst/>
          </a:prstGeom>
        </p:spPr>
      </p:pic>
      <p:pic>
        <p:nvPicPr>
          <p:cNvPr id="75" name="Image 4" descr="preencoded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444256" y="735863"/>
            <a:ext cx="43205" cy="857250"/>
          </a:xfrm>
          <a:prstGeom prst="rect">
            <a:avLst/>
          </a:prstGeom>
        </p:spPr>
      </p:pic>
      <p:sp>
        <p:nvSpPr>
          <p:cNvPr id="76" name="Shape 69"/>
          <p:cNvSpPr/>
          <p:nvPr/>
        </p:nvSpPr>
        <p:spPr>
          <a:xfrm>
            <a:off x="6304559" y="4378833"/>
            <a:ext cx="2050542" cy="257175"/>
          </a:xfrm>
          <a:prstGeom prst="roundRect">
            <a:avLst>
              <a:gd name="adj" fmla="val 59259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7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25947" y="4478960"/>
            <a:ext cx="56921" cy="56921"/>
          </a:xfrm>
          <a:prstGeom prst="rect">
            <a:avLst/>
          </a:prstGeom>
        </p:spPr>
      </p:pic>
      <p:sp>
        <p:nvSpPr>
          <p:cNvPr id="78" name="Text 70"/>
          <p:cNvSpPr txBox="1"/>
          <p:nvPr/>
        </p:nvSpPr>
        <p:spPr>
          <a:xfrm>
            <a:off x="6554876" y="4443299"/>
            <a:ext cx="835991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Recording Ready</a:t>
            </a:r>
            <a:endParaRPr lang="en-US" sz="675" dirty="0"/>
          </a:p>
        </p:txBody>
      </p:sp>
      <p:sp>
        <p:nvSpPr>
          <p:cNvPr id="79" name="Text 71"/>
          <p:cNvSpPr txBox="1"/>
          <p:nvPr/>
        </p:nvSpPr>
        <p:spPr>
          <a:xfrm>
            <a:off x="7469048" y="4443299"/>
            <a:ext cx="114529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675" dirty="0"/>
          </a:p>
        </p:txBody>
      </p:sp>
      <p:sp>
        <p:nvSpPr>
          <p:cNvPr id="80" name="Text 72"/>
          <p:cNvSpPr txBox="1"/>
          <p:nvPr/>
        </p:nvSpPr>
        <p:spPr>
          <a:xfrm>
            <a:off x="7663815" y="4443299"/>
            <a:ext cx="628879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 1, Col 1</a:t>
            </a:r>
            <a:endParaRPr lang="en-US" sz="675" dirty="0"/>
          </a:p>
        </p:txBody>
      </p:sp>
    </p:spTree>
    <p:extLst>
      <p:ext uri="{BB962C8B-B14F-4D97-AF65-F5344CB8AC3E}">
        <p14:creationId xmlns:p14="http://schemas.microsoft.com/office/powerpoint/2010/main" val="20948280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" name="Shap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" y="0"/>
            <a:ext cx="9143771" cy="5143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28626" y="285979"/>
            <a:ext cx="2621813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kern="0" spc="158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YOUR CHALLENGE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28625" y="493091"/>
            <a:ext cx="31197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4 Problems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837530" y="475259"/>
            <a:ext cx="28789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one card per table. Solve one thing well.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28625" y="1049960"/>
            <a:ext cx="4057879" cy="1678838"/>
          </a:xfrm>
          <a:prstGeom prst="roundRect">
            <a:avLst>
              <a:gd name="adj" fmla="val 5563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9" name="Shape 6"/>
          <p:cNvSpPr/>
          <p:nvPr/>
        </p:nvSpPr>
        <p:spPr>
          <a:xfrm>
            <a:off x="428625" y="1049960"/>
            <a:ext cx="28804" cy="1678838"/>
          </a:xfrm>
          <a:prstGeom prst="roundRect">
            <a:avLst>
              <a:gd name="adj" fmla="val 324213"/>
            </a:avLst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0" name="Text 7"/>
          <p:cNvSpPr txBox="1"/>
          <p:nvPr/>
        </p:nvSpPr>
        <p:spPr>
          <a:xfrm>
            <a:off x="3735553" y="1576655"/>
            <a:ext cx="887426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25" b="1" dirty="0">
                <a:solidFill>
                  <a:srgbClr val="7B61FF">
                    <a:alpha val="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endParaRPr lang="en-US" sz="10125" dirty="0"/>
          </a:p>
        </p:txBody>
      </p:sp>
      <p:sp>
        <p:nvSpPr>
          <p:cNvPr id="11" name="Shape 8"/>
          <p:cNvSpPr/>
          <p:nvPr/>
        </p:nvSpPr>
        <p:spPr>
          <a:xfrm>
            <a:off x="4657954" y="1049960"/>
            <a:ext cx="4057879" cy="1678838"/>
          </a:xfrm>
          <a:prstGeom prst="roundRect">
            <a:avLst>
              <a:gd name="adj" fmla="val 5563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2" name="Shape 9"/>
          <p:cNvSpPr/>
          <p:nvPr/>
        </p:nvSpPr>
        <p:spPr>
          <a:xfrm>
            <a:off x="4657954" y="1049960"/>
            <a:ext cx="28804" cy="1678838"/>
          </a:xfrm>
          <a:prstGeom prst="roundRect">
            <a:avLst>
              <a:gd name="adj" fmla="val 324213"/>
            </a:avLst>
          </a:prstGeom>
          <a:solidFill>
            <a:srgbClr val="FF5E5E"/>
          </a:solidFill>
          <a:ln w="12700">
            <a:solidFill>
              <a:srgbClr val="FF5E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3" name="Text 10"/>
          <p:cNvSpPr txBox="1"/>
          <p:nvPr/>
        </p:nvSpPr>
        <p:spPr>
          <a:xfrm>
            <a:off x="7925791" y="1576655"/>
            <a:ext cx="92583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25" b="1" dirty="0">
                <a:solidFill>
                  <a:srgbClr val="FF5E5E">
                    <a:alpha val="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</a:t>
            </a:r>
            <a:endParaRPr lang="en-US" sz="10125" dirty="0"/>
          </a:p>
        </p:txBody>
      </p:sp>
      <p:sp>
        <p:nvSpPr>
          <p:cNvPr id="14" name="Shape 11"/>
          <p:cNvSpPr/>
          <p:nvPr/>
        </p:nvSpPr>
        <p:spPr>
          <a:xfrm>
            <a:off x="428625" y="2898877"/>
            <a:ext cx="4057879" cy="1678838"/>
          </a:xfrm>
          <a:prstGeom prst="roundRect">
            <a:avLst>
              <a:gd name="adj" fmla="val 5563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5" name="Shape 12"/>
          <p:cNvSpPr/>
          <p:nvPr/>
        </p:nvSpPr>
        <p:spPr>
          <a:xfrm>
            <a:off x="428625" y="2898877"/>
            <a:ext cx="28804" cy="1678838"/>
          </a:xfrm>
          <a:prstGeom prst="roundRect">
            <a:avLst>
              <a:gd name="adj" fmla="val 324213"/>
            </a:avLst>
          </a:prstGeom>
          <a:solidFill>
            <a:srgbClr val="00FF94"/>
          </a:solidFill>
          <a:ln w="12700">
            <a:solidFill>
              <a:srgbClr val="00FF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6" name="Text 13"/>
          <p:cNvSpPr txBox="1"/>
          <p:nvPr/>
        </p:nvSpPr>
        <p:spPr>
          <a:xfrm>
            <a:off x="3722522" y="3425571"/>
            <a:ext cx="894969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25" b="1" dirty="0">
                <a:solidFill>
                  <a:srgbClr val="00FF94">
                    <a:alpha val="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10125" dirty="0"/>
          </a:p>
        </p:txBody>
      </p:sp>
      <p:sp>
        <p:nvSpPr>
          <p:cNvPr id="17" name="Shape 14"/>
          <p:cNvSpPr/>
          <p:nvPr/>
        </p:nvSpPr>
        <p:spPr>
          <a:xfrm>
            <a:off x="4657954" y="2898877"/>
            <a:ext cx="4057879" cy="1678838"/>
          </a:xfrm>
          <a:prstGeom prst="roundRect">
            <a:avLst>
              <a:gd name="adj" fmla="val 5563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8" name="Shape 15"/>
          <p:cNvSpPr/>
          <p:nvPr/>
        </p:nvSpPr>
        <p:spPr>
          <a:xfrm>
            <a:off x="4657954" y="2898877"/>
            <a:ext cx="28804" cy="1678838"/>
          </a:xfrm>
          <a:prstGeom prst="roundRect">
            <a:avLst>
              <a:gd name="adj" fmla="val 324213"/>
            </a:avLst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9" name="Text 16"/>
          <p:cNvSpPr txBox="1"/>
          <p:nvPr/>
        </p:nvSpPr>
        <p:spPr>
          <a:xfrm>
            <a:off x="7923047" y="3425571"/>
            <a:ext cx="92583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25" b="1" dirty="0">
                <a:solidFill>
                  <a:srgbClr val="FFD700">
                    <a:alpha val="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</a:t>
            </a:r>
            <a:endParaRPr lang="en-US" sz="10125" dirty="0"/>
          </a:p>
        </p:txBody>
      </p:sp>
      <p:sp>
        <p:nvSpPr>
          <p:cNvPr id="20" name="Shape 17"/>
          <p:cNvSpPr/>
          <p:nvPr/>
        </p:nvSpPr>
        <p:spPr>
          <a:xfrm>
            <a:off x="628879" y="1228954"/>
            <a:ext cx="342900" cy="342900"/>
          </a:xfrm>
          <a:prstGeom prst="roundRect">
            <a:avLst>
              <a:gd name="adj" fmla="val 100000"/>
            </a:avLst>
          </a:prstGeom>
          <a:solidFill>
            <a:srgbClr val="7B61FF">
              <a:alpha val="10000"/>
            </a:srgbClr>
          </a:solidFill>
          <a:ln w="12700">
            <a:solidFill>
              <a:srgbClr val="7B61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9006" y="1329081"/>
            <a:ext cx="142646" cy="14264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85622" y="1271474"/>
            <a:ext cx="20663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 Finder Boost</a:t>
            </a:r>
            <a:endParaRPr lang="en-US" dirty="0"/>
          </a:p>
        </p:txBody>
      </p:sp>
      <p:sp>
        <p:nvSpPr>
          <p:cNvPr id="23" name="Text 19"/>
          <p:cNvSpPr txBox="1"/>
          <p:nvPr/>
        </p:nvSpPr>
        <p:spPr>
          <a:xfrm>
            <a:off x="628879" y="1685697"/>
            <a:ext cx="3736238" cy="550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attendees quickly find talks that match their interests in a sea of overwhelming options.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28879" y="2348180"/>
            <a:ext cx="907313" cy="200254"/>
          </a:xfrm>
          <a:prstGeom prst="roundRect">
            <a:avLst>
              <a:gd name="adj" fmla="val 9784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7B61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5" name="Text 21"/>
          <p:cNvSpPr txBox="1"/>
          <p:nvPr/>
        </p:nvSpPr>
        <p:spPr>
          <a:xfrm>
            <a:off x="628879" y="2348180"/>
            <a:ext cx="950519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28575" rIns="57150" bIns="28575" rtlCol="0" anchor="ctr"/>
          <a:lstStyle/>
          <a:p>
            <a:r>
              <a:rPr lang="en-US" sz="675" dirty="0">
                <a:solidFill>
                  <a:srgbClr val="7B61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&lt;FilterLogic /&gt;</a:t>
            </a:r>
            <a:endParaRPr lang="en-US" sz="675" dirty="0"/>
          </a:p>
        </p:txBody>
      </p:sp>
      <p:sp>
        <p:nvSpPr>
          <p:cNvPr id="26" name="Shape 22"/>
          <p:cNvSpPr/>
          <p:nvPr/>
        </p:nvSpPr>
        <p:spPr>
          <a:xfrm>
            <a:off x="4857521" y="1228954"/>
            <a:ext cx="342900" cy="342900"/>
          </a:xfrm>
          <a:prstGeom prst="roundRect">
            <a:avLst>
              <a:gd name="adj" fmla="val 100000"/>
            </a:avLst>
          </a:prstGeom>
          <a:solidFill>
            <a:srgbClr val="FF5E5E">
              <a:alpha val="10000"/>
            </a:srgbClr>
          </a:solidFill>
          <a:ln w="12700">
            <a:solidFill>
              <a:srgbClr val="FF5E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39817" y="1329081"/>
            <a:ext cx="178308" cy="14264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314950" y="1271474"/>
            <a:ext cx="225285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Venue Crowding Signal</a:t>
            </a:r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4857522" y="1685697"/>
            <a:ext cx="3736238" cy="550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real-time crowd levels from community check-ins to prevent long lines.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857522" y="2348180"/>
            <a:ext cx="1057504" cy="200254"/>
          </a:xfrm>
          <a:prstGeom prst="roundRect">
            <a:avLst>
              <a:gd name="adj" fmla="val 9784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5E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1" name="Text 26"/>
          <p:cNvSpPr txBox="1"/>
          <p:nvPr/>
        </p:nvSpPr>
        <p:spPr>
          <a:xfrm>
            <a:off x="4857521" y="2348180"/>
            <a:ext cx="1100709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28575" rIns="57150" bIns="28575" rtlCol="0" anchor="ctr"/>
          <a:lstStyle/>
          <a:p>
            <a:r>
              <a:rPr lang="en-US" sz="675" dirty="0">
                <a:solidFill>
                  <a:srgbClr val="FF5E5E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&lt;RealTimeStatus /&gt;</a:t>
            </a:r>
            <a:endParaRPr lang="en-US" sz="675" dirty="0"/>
          </a:p>
        </p:txBody>
      </p:sp>
      <p:sp>
        <p:nvSpPr>
          <p:cNvPr id="32" name="Shape 27"/>
          <p:cNvSpPr/>
          <p:nvPr/>
        </p:nvSpPr>
        <p:spPr>
          <a:xfrm>
            <a:off x="628879" y="3077185"/>
            <a:ext cx="342900" cy="342900"/>
          </a:xfrm>
          <a:prstGeom prst="roundRect">
            <a:avLst>
              <a:gd name="adj" fmla="val 100000"/>
            </a:avLst>
          </a:prstGeom>
          <a:solidFill>
            <a:srgbClr val="00FF94">
              <a:alpha val="1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735864" y="3177312"/>
            <a:ext cx="128930" cy="14264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085621" y="3119705"/>
            <a:ext cx="15732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Speaker Tracker</a:t>
            </a:r>
            <a:endParaRPr lang="en-US" dirty="0"/>
          </a:p>
        </p:txBody>
      </p:sp>
      <p:sp>
        <p:nvSpPr>
          <p:cNvPr id="35" name="Text 29"/>
          <p:cNvSpPr txBox="1"/>
          <p:nvPr/>
        </p:nvSpPr>
        <p:spPr>
          <a:xfrm>
            <a:off x="628879" y="3534614"/>
            <a:ext cx="3736238" cy="550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favorite speakers across different events and get alerts when they go live.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28879" y="4197096"/>
            <a:ext cx="1214552" cy="200254"/>
          </a:xfrm>
          <a:prstGeom prst="roundRect">
            <a:avLst>
              <a:gd name="adj" fmla="val 9784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FF9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7" name="Text 31"/>
          <p:cNvSpPr txBox="1"/>
          <p:nvPr/>
        </p:nvSpPr>
        <p:spPr>
          <a:xfrm>
            <a:off x="628879" y="4197096"/>
            <a:ext cx="126324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28575" rIns="57150" bIns="28575" rtlCol="0" anchor="ctr"/>
          <a:lstStyle/>
          <a:p>
            <a:r>
              <a:rPr lang="en-US" sz="675" dirty="0">
                <a:solidFill>
                  <a:srgbClr val="00FF94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&lt;SubscriptionModel /&gt;</a:t>
            </a:r>
            <a:endParaRPr lang="en-US" sz="675" dirty="0"/>
          </a:p>
        </p:txBody>
      </p:sp>
      <p:sp>
        <p:nvSpPr>
          <p:cNvPr id="38" name="Shape 32"/>
          <p:cNvSpPr/>
          <p:nvPr/>
        </p:nvSpPr>
        <p:spPr>
          <a:xfrm>
            <a:off x="4857521" y="3077185"/>
            <a:ext cx="342900" cy="342900"/>
          </a:xfrm>
          <a:prstGeom prst="roundRect">
            <a:avLst>
              <a:gd name="adj" fmla="val 100000"/>
            </a:avLst>
          </a:prstGeom>
          <a:solidFill>
            <a:srgbClr val="FFD700">
              <a:alpha val="10000"/>
            </a:srgbClr>
          </a:solidFill>
          <a:ln w="12700">
            <a:solidFill>
              <a:srgbClr val="FFD7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75479" y="3177312"/>
            <a:ext cx="106985" cy="14264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5314950" y="3119705"/>
            <a:ext cx="18722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Post-Event Memory</a:t>
            </a:r>
            <a:endParaRPr lang="en-US" dirty="0"/>
          </a:p>
        </p:txBody>
      </p:sp>
      <p:sp>
        <p:nvSpPr>
          <p:cNvPr id="41" name="Text 34"/>
          <p:cNvSpPr txBox="1"/>
          <p:nvPr/>
        </p:nvSpPr>
        <p:spPr>
          <a:xfrm>
            <a:off x="4857522" y="3534614"/>
            <a:ext cx="3736238" cy="550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personal notes and ratings to automatically resurface highlights after the conference.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4857521" y="4197096"/>
            <a:ext cx="957377" cy="200254"/>
          </a:xfrm>
          <a:prstGeom prst="roundRect">
            <a:avLst>
              <a:gd name="adj" fmla="val 9784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D7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3" name="Text 36"/>
          <p:cNvSpPr txBox="1"/>
          <p:nvPr/>
        </p:nvSpPr>
        <p:spPr>
          <a:xfrm>
            <a:off x="4857521" y="4197096"/>
            <a:ext cx="100058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28575" rIns="57150" bIns="28575" rtlCol="0" anchor="ctr"/>
          <a:lstStyle/>
          <a:p>
            <a:r>
              <a:rPr lang="en-US" sz="675" dirty="0">
                <a:solidFill>
                  <a:srgbClr val="FFD70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&lt;LocalStorage /&gt;</a:t>
            </a:r>
            <a:endParaRPr lang="en-US" sz="675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428626" y="4730649"/>
            <a:ext cx="128930" cy="114529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628879" y="4718304"/>
            <a:ext cx="3208172" cy="14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Facilitators will distribute physical printed cards now.</a:t>
            </a:r>
            <a:endParaRPr lang="en-US" sz="675" dirty="0"/>
          </a:p>
        </p:txBody>
      </p:sp>
    </p:spTree>
    <p:extLst>
      <p:ext uri="{BB962C8B-B14F-4D97-AF65-F5344CB8AC3E}">
        <p14:creationId xmlns:p14="http://schemas.microsoft.com/office/powerpoint/2010/main" val="3031884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" name="Shap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" y="0"/>
            <a:ext cx="9143771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272" y="1222096"/>
            <a:ext cx="8001229" cy="68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6" name="Text 3"/>
          <p:cNvSpPr txBox="1"/>
          <p:nvPr/>
        </p:nvSpPr>
        <p:spPr>
          <a:xfrm>
            <a:off x="571271" y="357301"/>
            <a:ext cx="2486025" cy="150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kern="0" spc="158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LONG-TERM VISION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571271" y="564413"/>
            <a:ext cx="32362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kern="0" spc="-5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This Fits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322391" y="907313"/>
            <a:ext cx="22528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that grows with intent.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402" b="-402"/>
          <a:stretch/>
        </p:blipFill>
        <p:spPr>
          <a:xfrm>
            <a:off x="1285876" y="1942871"/>
            <a:ext cx="6572021" cy="144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547851" y="1728902"/>
            <a:ext cx="714604" cy="714604"/>
          </a:xfrm>
          <a:prstGeom prst="ellipse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1" name="Shape 7"/>
          <p:cNvSpPr/>
          <p:nvPr/>
        </p:nvSpPr>
        <p:spPr>
          <a:xfrm>
            <a:off x="705002" y="2657475"/>
            <a:ext cx="2400300" cy="2064258"/>
          </a:xfrm>
          <a:prstGeom prst="roundRect">
            <a:avLst>
              <a:gd name="adj" fmla="val 2759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2" name="Shape 8"/>
          <p:cNvSpPr/>
          <p:nvPr/>
        </p:nvSpPr>
        <p:spPr>
          <a:xfrm>
            <a:off x="705002" y="2657475"/>
            <a:ext cx="2400300" cy="28804"/>
          </a:xfrm>
          <a:prstGeom prst="roundRect">
            <a:avLst>
              <a:gd name="adj" fmla="val 197725"/>
            </a:avLst>
          </a:prstGeom>
          <a:solidFill>
            <a:srgbClr val="00FF94"/>
          </a:solidFill>
          <a:ln w="12700">
            <a:solidFill>
              <a:srgbClr val="00FF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3" name="Shape 9"/>
          <p:cNvSpPr/>
          <p:nvPr/>
        </p:nvSpPr>
        <p:spPr>
          <a:xfrm>
            <a:off x="1662379" y="2900249"/>
            <a:ext cx="493091" cy="200254"/>
          </a:xfrm>
          <a:prstGeom prst="roundRect">
            <a:avLst>
              <a:gd name="adj" fmla="val 34246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FF94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4" name="Text 10"/>
          <p:cNvSpPr/>
          <p:nvPr/>
        </p:nvSpPr>
        <p:spPr>
          <a:xfrm>
            <a:off x="1640434" y="2900249"/>
            <a:ext cx="53629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5725" tIns="28575" rIns="85725" bIns="28575" rtlCol="0" anchor="ctr"/>
          <a:lstStyle/>
          <a:p>
            <a:pPr algn="ctr"/>
            <a:r>
              <a:rPr lang="en-US" sz="675" kern="0" spc="68" dirty="0">
                <a:solidFill>
                  <a:srgbClr val="00F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675" dirty="0"/>
          </a:p>
        </p:txBody>
      </p:sp>
      <p:sp>
        <p:nvSpPr>
          <p:cNvPr id="15" name="Text 11"/>
          <p:cNvSpPr txBox="1"/>
          <p:nvPr/>
        </p:nvSpPr>
        <p:spPr>
          <a:xfrm>
            <a:off x="1224838" y="3271952"/>
            <a:ext cx="1360628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Feature</a:t>
            </a:r>
            <a:endParaRPr lang="en-US" sz="1575" dirty="0"/>
          </a:p>
        </p:txBody>
      </p:sp>
      <p:sp>
        <p:nvSpPr>
          <p:cNvPr id="16" name="Shape 12"/>
          <p:cNvSpPr/>
          <p:nvPr/>
        </p:nvSpPr>
        <p:spPr>
          <a:xfrm>
            <a:off x="883310" y="3915233"/>
            <a:ext cx="2042999" cy="685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17" name="Text 13"/>
          <p:cNvSpPr txBox="1"/>
          <p:nvPr/>
        </p:nvSpPr>
        <p:spPr>
          <a:xfrm>
            <a:off x="1538936" y="3629254"/>
            <a:ext cx="1444981" cy="22974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Single Activity UI 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53084" y="3714979"/>
            <a:ext cx="114529" cy="114529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83310" y="4208069"/>
            <a:ext cx="2042999" cy="685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0" name="Text 15"/>
          <p:cNvSpPr txBox="1"/>
          <p:nvPr/>
        </p:nvSpPr>
        <p:spPr>
          <a:xfrm>
            <a:off x="1355827" y="3922091"/>
            <a:ext cx="1628090" cy="22974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Model (Supabase) 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1184377" y="4007816"/>
            <a:ext cx="100127" cy="11452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12189" y="4214927"/>
            <a:ext cx="1471727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Basic Persistence </a:t>
            </a:r>
            <a:endParaRPr lang="en-US" sz="9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1340739" y="4300652"/>
            <a:ext cx="100127" cy="114529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690497" y="3011348"/>
            <a:ext cx="428625" cy="428625"/>
          </a:xfrm>
          <a:prstGeom prst="ellipse">
            <a:avLst/>
          </a:prstGeom>
          <a:noFill/>
          <a:ln w="25400">
            <a:solidFill>
              <a:srgbClr val="00FF94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833830" y="2014881"/>
            <a:ext cx="142646" cy="142646"/>
          </a:xfrm>
          <a:prstGeom prst="rect">
            <a:avLst/>
          </a:prstGeom>
        </p:spPr>
      </p:pic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1923" r="-1923"/>
          <a:stretch/>
        </p:blipFill>
        <p:spPr>
          <a:xfrm>
            <a:off x="3288411" y="3153995"/>
            <a:ext cx="92583" cy="142646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4214927" y="1728902"/>
            <a:ext cx="714604" cy="714604"/>
          </a:xfrm>
          <a:prstGeom prst="ellipse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8" name="Shape 19"/>
          <p:cNvSpPr/>
          <p:nvPr/>
        </p:nvSpPr>
        <p:spPr>
          <a:xfrm>
            <a:off x="3372079" y="2657475"/>
            <a:ext cx="2400300" cy="2064258"/>
          </a:xfrm>
          <a:prstGeom prst="roundRect">
            <a:avLst>
              <a:gd name="adj" fmla="val 2759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29" name="Shape 20"/>
          <p:cNvSpPr/>
          <p:nvPr/>
        </p:nvSpPr>
        <p:spPr>
          <a:xfrm>
            <a:off x="3372079" y="2657475"/>
            <a:ext cx="2400300" cy="28804"/>
          </a:xfrm>
          <a:prstGeom prst="roundRect">
            <a:avLst>
              <a:gd name="adj" fmla="val 197725"/>
            </a:avLst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0" name="Shape 21"/>
          <p:cNvSpPr/>
          <p:nvPr/>
        </p:nvSpPr>
        <p:spPr>
          <a:xfrm>
            <a:off x="4238929" y="2900249"/>
            <a:ext cx="671399" cy="200254"/>
          </a:xfrm>
          <a:prstGeom prst="roundRect">
            <a:avLst>
              <a:gd name="adj" fmla="val 34246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1" name="Text 22"/>
          <p:cNvSpPr/>
          <p:nvPr/>
        </p:nvSpPr>
        <p:spPr>
          <a:xfrm>
            <a:off x="4217670" y="2900249"/>
            <a:ext cx="71460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5725" tIns="28575" rIns="85725" bIns="28575" rtlCol="0" anchor="ctr"/>
          <a:lstStyle/>
          <a:p>
            <a:pPr algn="ctr"/>
            <a:r>
              <a:rPr lang="en-US" sz="675" kern="0" spc="68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TOMORROW</a:t>
            </a:r>
            <a:endParaRPr lang="en-US" sz="675" dirty="0"/>
          </a:p>
        </p:txBody>
      </p:sp>
      <p:sp>
        <p:nvSpPr>
          <p:cNvPr id="32" name="Text 23"/>
          <p:cNvSpPr txBox="1"/>
          <p:nvPr/>
        </p:nvSpPr>
        <p:spPr>
          <a:xfrm>
            <a:off x="3838423" y="3271952"/>
            <a:ext cx="1471041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Platform</a:t>
            </a:r>
            <a:endParaRPr lang="en-US" sz="1575" dirty="0"/>
          </a:p>
        </p:txBody>
      </p:sp>
      <p:sp>
        <p:nvSpPr>
          <p:cNvPr id="33" name="Shape 24"/>
          <p:cNvSpPr/>
          <p:nvPr/>
        </p:nvSpPr>
        <p:spPr>
          <a:xfrm>
            <a:off x="3550387" y="3915233"/>
            <a:ext cx="2042999" cy="685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4" name="Text 25"/>
          <p:cNvSpPr txBox="1"/>
          <p:nvPr/>
        </p:nvSpPr>
        <p:spPr>
          <a:xfrm>
            <a:off x="4290364" y="3629254"/>
            <a:ext cx="1360628" cy="22974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Ingestion 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3550387" y="4208069"/>
            <a:ext cx="2042999" cy="685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36" name="Text 27"/>
          <p:cNvSpPr txBox="1"/>
          <p:nvPr/>
        </p:nvSpPr>
        <p:spPr>
          <a:xfrm>
            <a:off x="4364431" y="3922091"/>
            <a:ext cx="1286561" cy="22974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Auth &amp; RLS 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4031133" y="4214927"/>
            <a:ext cx="1619860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Community Moderation 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4357574" y="3011348"/>
            <a:ext cx="428625" cy="428625"/>
          </a:xfrm>
          <a:prstGeom prst="ellipse">
            <a:avLst/>
          </a:prstGeom>
          <a:noFill/>
          <a:ln w="254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500906" y="2014881"/>
            <a:ext cx="142646" cy="142646"/>
          </a:xfrm>
          <a:prstGeom prst="rect">
            <a:avLst/>
          </a:prstGeom>
        </p:spPr>
      </p:pic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>
            <a:alphaModFix amt="70000"/>
          </a:blip>
          <a:srcRect t="-180" b="-180"/>
          <a:stretch/>
        </p:blipFill>
        <p:spPr>
          <a:xfrm>
            <a:off x="4076396" y="3714979"/>
            <a:ext cx="142646" cy="114529"/>
          </a:xfrm>
          <a:prstGeom prst="rect">
            <a:avLst/>
          </a:prstGeom>
        </p:spPr>
      </p:pic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>
            <a:alphaModFix amt="70000"/>
          </a:blip>
          <a:srcRect/>
          <a:stretch/>
        </p:blipFill>
        <p:spPr>
          <a:xfrm>
            <a:off x="4178580" y="4007816"/>
            <a:ext cx="114529" cy="114529"/>
          </a:xfrm>
          <a:prstGeom prst="rect">
            <a:avLst/>
          </a:prstGeom>
        </p:spPr>
      </p:pic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>
            <a:alphaModFix amt="70000"/>
          </a:blip>
          <a:srcRect/>
          <a:stretch/>
        </p:blipFill>
        <p:spPr>
          <a:xfrm>
            <a:off x="3845281" y="4300652"/>
            <a:ext cx="114529" cy="114529"/>
          </a:xfrm>
          <a:prstGeom prst="rect">
            <a:avLst/>
          </a:prstGeom>
        </p:spPr>
      </p:pic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9"/>
          <a:srcRect l="-1923" r="-1923"/>
          <a:stretch/>
        </p:blipFill>
        <p:spPr>
          <a:xfrm>
            <a:off x="5955488" y="3153995"/>
            <a:ext cx="92583" cy="142646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6882003" y="1728902"/>
            <a:ext cx="714604" cy="714604"/>
          </a:xfrm>
          <a:prstGeom prst="ellipse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5" name="Shape 31"/>
          <p:cNvSpPr/>
          <p:nvPr/>
        </p:nvSpPr>
        <p:spPr>
          <a:xfrm>
            <a:off x="6039155" y="2657475"/>
            <a:ext cx="2400300" cy="2064258"/>
          </a:xfrm>
          <a:prstGeom prst="roundRect">
            <a:avLst>
              <a:gd name="adj" fmla="val 2759"/>
            </a:avLst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6" name="Shape 32"/>
          <p:cNvSpPr/>
          <p:nvPr/>
        </p:nvSpPr>
        <p:spPr>
          <a:xfrm>
            <a:off x="6039155" y="2657475"/>
            <a:ext cx="2400300" cy="28804"/>
          </a:xfrm>
          <a:prstGeom prst="roundRect">
            <a:avLst>
              <a:gd name="adj" fmla="val 197725"/>
            </a:avLst>
          </a:prstGeom>
          <a:solidFill>
            <a:srgbClr val="FF5E5E"/>
          </a:solidFill>
          <a:ln w="12700">
            <a:solidFill>
              <a:srgbClr val="FF5E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7" name="Shape 33"/>
          <p:cNvSpPr/>
          <p:nvPr/>
        </p:nvSpPr>
        <p:spPr>
          <a:xfrm>
            <a:off x="6966357" y="2900249"/>
            <a:ext cx="550012" cy="200254"/>
          </a:xfrm>
          <a:prstGeom prst="roundRect">
            <a:avLst>
              <a:gd name="adj" fmla="val 34246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5E5E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48" name="Text 34"/>
          <p:cNvSpPr/>
          <p:nvPr/>
        </p:nvSpPr>
        <p:spPr>
          <a:xfrm>
            <a:off x="6944411" y="2900249"/>
            <a:ext cx="59321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5725" tIns="28575" rIns="85725" bIns="28575" rtlCol="0" anchor="ctr"/>
          <a:lstStyle/>
          <a:p>
            <a:pPr algn="ctr"/>
            <a:r>
              <a:rPr lang="en-US" sz="675" kern="0" spc="68" dirty="0">
                <a:solidFill>
                  <a:srgbClr val="FF5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</a:t>
            </a:r>
            <a:endParaRPr lang="en-US" sz="675" dirty="0"/>
          </a:p>
        </p:txBody>
      </p:sp>
      <p:sp>
        <p:nvSpPr>
          <p:cNvPr id="49" name="Text 35"/>
          <p:cNvSpPr txBox="1"/>
          <p:nvPr/>
        </p:nvSpPr>
        <p:spPr>
          <a:xfrm>
            <a:off x="6404687" y="3271952"/>
            <a:ext cx="1671295" cy="30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Ecosystem</a:t>
            </a:r>
            <a:endParaRPr lang="en-US" sz="1575" dirty="0"/>
          </a:p>
        </p:txBody>
      </p:sp>
      <p:sp>
        <p:nvSpPr>
          <p:cNvPr id="50" name="Shape 36"/>
          <p:cNvSpPr/>
          <p:nvPr/>
        </p:nvSpPr>
        <p:spPr>
          <a:xfrm>
            <a:off x="6217462" y="3915233"/>
            <a:ext cx="2042999" cy="685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1" name="Text 37"/>
          <p:cNvSpPr txBox="1"/>
          <p:nvPr/>
        </p:nvSpPr>
        <p:spPr>
          <a:xfrm>
            <a:off x="7043166" y="3629254"/>
            <a:ext cx="1274903" cy="22974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Public APIs </a:t>
            </a:r>
            <a:endParaRPr lang="en-US" sz="900" dirty="0"/>
          </a:p>
        </p:txBody>
      </p:sp>
      <p:sp>
        <p:nvSpPr>
          <p:cNvPr id="52" name="Shape 38"/>
          <p:cNvSpPr/>
          <p:nvPr/>
        </p:nvSpPr>
        <p:spPr>
          <a:xfrm>
            <a:off x="6217462" y="4208069"/>
            <a:ext cx="2042999" cy="685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sp>
        <p:nvSpPr>
          <p:cNvPr id="53" name="Text 39"/>
          <p:cNvSpPr txBox="1"/>
          <p:nvPr/>
        </p:nvSpPr>
        <p:spPr>
          <a:xfrm>
            <a:off x="6747587" y="3922091"/>
            <a:ext cx="1570482" cy="22974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Open Source Contribs </a:t>
            </a:r>
            <a:endParaRPr lang="en-US" sz="900" dirty="0"/>
          </a:p>
        </p:txBody>
      </p:sp>
      <p:sp>
        <p:nvSpPr>
          <p:cNvPr id="54" name="Text 40"/>
          <p:cNvSpPr txBox="1"/>
          <p:nvPr/>
        </p:nvSpPr>
        <p:spPr>
          <a:xfrm>
            <a:off x="6833312" y="4214927"/>
            <a:ext cx="1484757" cy="2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Agents as Users </a:t>
            </a:r>
            <a:endParaRPr lang="en-US" sz="900" dirty="0"/>
          </a:p>
        </p:txBody>
      </p:sp>
      <p:sp>
        <p:nvSpPr>
          <p:cNvPr id="55" name="Shape 41"/>
          <p:cNvSpPr/>
          <p:nvPr/>
        </p:nvSpPr>
        <p:spPr>
          <a:xfrm>
            <a:off x="7024649" y="3011348"/>
            <a:ext cx="428625" cy="428625"/>
          </a:xfrm>
          <a:prstGeom prst="ellipse">
            <a:avLst/>
          </a:prstGeom>
          <a:noFill/>
          <a:ln w="25400">
            <a:solidFill>
              <a:srgbClr val="FF5E5E"/>
            </a:solidFill>
            <a:prstDash val="solid"/>
          </a:ln>
        </p:spPr>
        <p:txBody>
          <a:bodyPr/>
          <a:lstStyle/>
          <a:p>
            <a:endParaRPr lang="en-US" sz="1013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167296" y="2014881"/>
            <a:ext cx="142646" cy="142646"/>
          </a:xfrm>
          <a:prstGeom prst="rect">
            <a:avLst/>
          </a:prstGeom>
        </p:spPr>
      </p:pic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5">
            <a:alphaModFix amt="50000"/>
          </a:blip>
          <a:srcRect t="-180" b="-180"/>
          <a:stretch/>
        </p:blipFill>
        <p:spPr>
          <a:xfrm>
            <a:off x="6828511" y="3714979"/>
            <a:ext cx="142646" cy="114529"/>
          </a:xfrm>
          <a:prstGeom prst="rect">
            <a:avLst/>
          </a:prstGeom>
        </p:spPr>
      </p:pic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6">
            <a:alphaModFix amt="50000"/>
          </a:blip>
          <a:srcRect t="-180" b="-180"/>
          <a:stretch/>
        </p:blipFill>
        <p:spPr>
          <a:xfrm>
            <a:off x="6532931" y="4007816"/>
            <a:ext cx="142646" cy="114529"/>
          </a:xfrm>
          <a:prstGeom prst="rect">
            <a:avLst/>
          </a:prstGeom>
        </p:spPr>
      </p:pic>
      <p:pic>
        <p:nvPicPr>
          <p:cNvPr id="59" name="Image 15" descr="preencoded.png"/>
          <p:cNvPicPr>
            <a:picLocks noChangeAspect="1"/>
          </p:cNvPicPr>
          <p:nvPr/>
        </p:nvPicPr>
        <p:blipFill>
          <a:blip r:embed="rId17">
            <a:alphaModFix amt="50000"/>
          </a:blip>
          <a:srcRect t="-180" b="-180"/>
          <a:stretch/>
        </p:blipFill>
        <p:spPr>
          <a:xfrm>
            <a:off x="6619342" y="4300652"/>
            <a:ext cx="142646" cy="11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7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17037</TotalTime>
  <Words>3621</Words>
  <Application>Microsoft Macintosh PowerPoint</Application>
  <PresentationFormat>On-screen Show (16:9)</PresentationFormat>
  <Paragraphs>683</Paragraphs>
  <Slides>39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Aptos</vt:lpstr>
      <vt:lpstr>Aptos Display</vt:lpstr>
      <vt:lpstr>Arial</vt:lpstr>
      <vt:lpstr>Calibri</vt:lpstr>
      <vt:lpstr>Calibri Light</vt:lpstr>
      <vt:lpstr>Courier New</vt:lpstr>
      <vt:lpstr>Inter</vt:lpstr>
      <vt:lpstr>Noto Color Emoji</vt:lpstr>
      <vt:lpstr>Space Grotesk</vt:lpstr>
      <vt:lpstr>Office 2013 - 2022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Matthew Steiner</cp:lastModifiedBy>
  <cp:revision>15</cp:revision>
  <cp:lastPrinted>2026-03-10T16:01:59Z</cp:lastPrinted>
  <dcterms:created xsi:type="dcterms:W3CDTF">2026-03-04T21:14:57Z</dcterms:created>
  <dcterms:modified xsi:type="dcterms:W3CDTF">2026-03-16T17:19:35Z</dcterms:modified>
</cp:coreProperties>
</file>